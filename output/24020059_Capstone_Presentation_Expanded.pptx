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1.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2.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3.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4.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15ddce0e6284e7b" /><Relationship Type="http://schemas.openxmlformats.org/officeDocument/2006/relationships/extended-properties" Target="/docProps/app.xml" Id="R71961714cd6a49d5" /><Relationship Type="http://schemas.openxmlformats.org/officeDocument/2006/relationships/officeDocument" Target="/ppt/presentation.xml" Id="R8e2c8770281a4335" /></Relationships>
</file>

<file path=ppt/presentation.xml><?xml version="1.0" encoding="utf-8"?>
<p:presentation xmlns:p="http://schemas.openxmlformats.org/presentationml/2006/main">
  <p:sldMasterIdLst>
    <p:sldMasterId xmlns:r="http://schemas.openxmlformats.org/officeDocument/2006/relationships" id="2147483648" r:id="R8c9d7330a4f74426"/>
  </p:sldMasterIdLst>
  <p:notesMasterIdLst>
    <p:notesMasterId xmlns:r="http://schemas.openxmlformats.org/officeDocument/2006/relationships" r:id="R9da1f75fbb3c4bf4"/>
  </p:notesMasterIdLst>
  <p:sldIdLst>
    <p:sldId xmlns:r="http://schemas.openxmlformats.org/officeDocument/2006/relationships" id="256" r:id="R5fe6a82790f64df0"/>
    <p:sldId xmlns:r="http://schemas.openxmlformats.org/officeDocument/2006/relationships" id="257" r:id="R7d1ed948972d4112"/>
    <p:sldId xmlns:r="http://schemas.openxmlformats.org/officeDocument/2006/relationships" id="258" r:id="R15e167718b3b49bf"/>
    <p:sldId xmlns:r="http://schemas.openxmlformats.org/officeDocument/2006/relationships" id="259" r:id="R795ecb2c3f2347c1"/>
    <p:sldId xmlns:r="http://schemas.openxmlformats.org/officeDocument/2006/relationships" id="260" r:id="R9a644bc505924be4"/>
    <p:sldId xmlns:r="http://schemas.openxmlformats.org/officeDocument/2006/relationships" id="261" r:id="R7bd4da0e6a794fc2"/>
    <p:sldId xmlns:r="http://schemas.openxmlformats.org/officeDocument/2006/relationships" id="262" r:id="Rb4260d8eb33b4af6"/>
    <p:sldId xmlns:r="http://schemas.openxmlformats.org/officeDocument/2006/relationships" id="263" r:id="R6883122d09bb402d"/>
    <p:sldId xmlns:r="http://schemas.openxmlformats.org/officeDocument/2006/relationships" id="264" r:id="Ra0f9e139ede74696"/>
    <p:sldId xmlns:r="http://schemas.openxmlformats.org/officeDocument/2006/relationships" id="265" r:id="R8119437efc61433e"/>
    <p:sldId xmlns:r="http://schemas.openxmlformats.org/officeDocument/2006/relationships" id="266" r:id="R96eee17f137e4778"/>
    <p:sldId xmlns:r="http://schemas.openxmlformats.org/officeDocument/2006/relationships" id="267" r:id="R0e104415acb24543"/>
    <p:sldId xmlns:r="http://schemas.openxmlformats.org/officeDocument/2006/relationships" id="268" r:id="Re9f36ef7d7234d1c"/>
    <p:sldId xmlns:r="http://schemas.openxmlformats.org/officeDocument/2006/relationships" id="269" r:id="R7ef91519ef76410a"/>
    <p:sldId xmlns:r="http://schemas.openxmlformats.org/officeDocument/2006/relationships" id="270" r:id="R6af3fce7fde64677"/>
    <p:sldId xmlns:r="http://schemas.openxmlformats.org/officeDocument/2006/relationships" id="271" r:id="R61987b6ec6584425"/>
    <p:sldId xmlns:r="http://schemas.openxmlformats.org/officeDocument/2006/relationships" id="272" r:id="Rfba0a1b6659f4e13"/>
    <p:sldId xmlns:r="http://schemas.openxmlformats.org/officeDocument/2006/relationships" id="273" r:id="R4b3bf77ba4184bbb"/>
    <p:sldId xmlns:r="http://schemas.openxmlformats.org/officeDocument/2006/relationships" id="274" r:id="Rba61a407dcea47d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e6a22b053d646d0" /><Relationship Type="http://schemas.openxmlformats.org/officeDocument/2006/relationships/slideMaster" Target="/ppt/slideMasters/slideMaster1.xml" Id="R8c9d7330a4f74426" /><Relationship Type="http://schemas.openxmlformats.org/officeDocument/2006/relationships/notesMaster" Target="/ppt/notesMasters/notesMaster1.xml" Id="R9da1f75fbb3c4bf4" /><Relationship Type="http://schemas.openxmlformats.org/officeDocument/2006/relationships/presProps" Target="/ppt/presProps.xml" Id="Reabc410fb0f34509" /><Relationship Type="http://schemas.openxmlformats.org/officeDocument/2006/relationships/tableStyles" Target="/ppt/tableStyles.xml" Id="R39bb73e318ca4a2d" /><Relationship Type="http://schemas.openxmlformats.org/officeDocument/2006/relationships/slide" Target="/ppt/slides/slide1.xml" Id="R5fe6a82790f64df0" /><Relationship Type="http://schemas.openxmlformats.org/officeDocument/2006/relationships/slide" Target="/ppt/slides/slide2.xml" Id="R7d1ed948972d4112" /><Relationship Type="http://schemas.openxmlformats.org/officeDocument/2006/relationships/slide" Target="/ppt/slides/slide3.xml" Id="R15e167718b3b49bf" /><Relationship Type="http://schemas.openxmlformats.org/officeDocument/2006/relationships/slide" Target="/ppt/slides/slide4.xml" Id="R795ecb2c3f2347c1" /><Relationship Type="http://schemas.openxmlformats.org/officeDocument/2006/relationships/slide" Target="/ppt/slides/slide5.xml" Id="R9a644bc505924be4" /><Relationship Type="http://schemas.openxmlformats.org/officeDocument/2006/relationships/slide" Target="/ppt/slides/slide6.xml" Id="R7bd4da0e6a794fc2" /><Relationship Type="http://schemas.openxmlformats.org/officeDocument/2006/relationships/slide" Target="/ppt/slides/slide7.xml" Id="Rb4260d8eb33b4af6" /><Relationship Type="http://schemas.openxmlformats.org/officeDocument/2006/relationships/slide" Target="/ppt/slides/slide8.xml" Id="R6883122d09bb402d" /><Relationship Type="http://schemas.openxmlformats.org/officeDocument/2006/relationships/slide" Target="/ppt/slides/slide9.xml" Id="Ra0f9e139ede74696" /><Relationship Type="http://schemas.openxmlformats.org/officeDocument/2006/relationships/slide" Target="/ppt/slides/slide10.xml" Id="R8119437efc61433e" /><Relationship Type="http://schemas.openxmlformats.org/officeDocument/2006/relationships/slide" Target="/ppt/slides/slide11.xml" Id="R96eee17f137e4778" /><Relationship Type="http://schemas.openxmlformats.org/officeDocument/2006/relationships/slide" Target="/ppt/slides/slide12.xml" Id="R0e104415acb24543" /><Relationship Type="http://schemas.openxmlformats.org/officeDocument/2006/relationships/slide" Target="/ppt/slides/slide13.xml" Id="Re9f36ef7d7234d1c" /><Relationship Type="http://schemas.openxmlformats.org/officeDocument/2006/relationships/slide" Target="/ppt/slides/slide14.xml" Id="R7ef91519ef76410a" /><Relationship Type="http://schemas.openxmlformats.org/officeDocument/2006/relationships/slide" Target="/ppt/slides/slide15.xml" Id="R6af3fce7fde64677" /><Relationship Type="http://schemas.openxmlformats.org/officeDocument/2006/relationships/slide" Target="/ppt/slides/slide16.xml" Id="R61987b6ec6584425" /><Relationship Type="http://schemas.openxmlformats.org/officeDocument/2006/relationships/slide" Target="/ppt/slides/slide17.xml" Id="Rfba0a1b6659f4e13" /><Relationship Type="http://schemas.openxmlformats.org/officeDocument/2006/relationships/slide" Target="/ppt/slides/slide18.xml" Id="R4b3bf77ba4184bbb" /><Relationship Type="http://schemas.openxmlformats.org/officeDocument/2006/relationships/slide" Target="/ppt/slides/slide19.xml" Id="Rba61a407dcea47d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04f6dd9217f449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80f84600c274f6a" /><Relationship Type="http://schemas.openxmlformats.org/officeDocument/2006/relationships/notesMaster" Target="/ppt/notesMasters/notesMaster1.xml" Id="R070e9f3a2bc24ce6" /></Relationships>
</file>

<file path=ppt/notesSlides/_rels/notesSlide2.xml.rels>&#65279;<?xml version="1.0" encoding="utf-8"?><Relationships xmlns="http://schemas.openxmlformats.org/package/2006/relationships"><Relationship Type="http://schemas.openxmlformats.org/officeDocument/2006/relationships/slide" Target="/ppt/slides/slide2.xml" Id="Rf1c4251bf66840f9" /><Relationship Type="http://schemas.openxmlformats.org/officeDocument/2006/relationships/notesMaster" Target="/ppt/notesMasters/notesMaster1.xml" Id="Rc6a22cccfc4843b0" /></Relationships>
</file>

<file path=ppt/notesSlides/_rels/notesSlide3.xml.rels>&#65279;<?xml version="1.0" encoding="utf-8"?><Relationships xmlns="http://schemas.openxmlformats.org/package/2006/relationships"><Relationship Type="http://schemas.openxmlformats.org/officeDocument/2006/relationships/slide" Target="/ppt/slides/slide3.xml" Id="R2edc6495563d4103" /><Relationship Type="http://schemas.openxmlformats.org/officeDocument/2006/relationships/notesMaster" Target="/ppt/notesMasters/notesMaster1.xml" Id="R6a3ae5f76778453b" /></Relationships>
</file>

<file path=ppt/notesSlides/_rels/notesSlide4.xml.rels>&#65279;<?xml version="1.0" encoding="utf-8"?><Relationships xmlns="http://schemas.openxmlformats.org/package/2006/relationships"><Relationship Type="http://schemas.openxmlformats.org/officeDocument/2006/relationships/slide" Target="/ppt/slides/slide4.xml" Id="R631a154a78d54d79" /><Relationship Type="http://schemas.openxmlformats.org/officeDocument/2006/relationships/notesMaster" Target="/ppt/notesMasters/notesMaster1.xml" Id="R7ebc95d5b5aa4448" /></Relationships>
</file>

<file path=ppt/notesSlides/_rels/notesSlide5.xml.rels>&#65279;<?xml version="1.0" encoding="utf-8"?><Relationships xmlns="http://schemas.openxmlformats.org/package/2006/relationships"><Relationship Type="http://schemas.openxmlformats.org/officeDocument/2006/relationships/slide" Target="/ppt/slides/slide5.xml" Id="Rdc6b2713198b4b43" /><Relationship Type="http://schemas.openxmlformats.org/officeDocument/2006/relationships/notesMaster" Target="/ppt/notesMasters/notesMaster1.xml" Id="R356f71b2ec9a498f" /></Relationships>
</file>

<file path=ppt/notesSlides/_rels/notesSlide6.xml.rels>&#65279;<?xml version="1.0" encoding="utf-8"?><Relationships xmlns="http://schemas.openxmlformats.org/package/2006/relationships"><Relationship Type="http://schemas.openxmlformats.org/officeDocument/2006/relationships/slide" Target="/ppt/slides/slide6.xml" Id="R76aaba89ce49478c" /><Relationship Type="http://schemas.openxmlformats.org/officeDocument/2006/relationships/notesMaster" Target="/ppt/notesMasters/notesMaster1.xml" Id="Rb6c119afcc2648ae" /></Relationships>
</file>

<file path=ppt/notesSlides/_rels/notesSlide7.xml.rels>&#65279;<?xml version="1.0" encoding="utf-8"?><Relationships xmlns="http://schemas.openxmlformats.org/package/2006/relationships"><Relationship Type="http://schemas.openxmlformats.org/officeDocument/2006/relationships/slide" Target="/ppt/slides/slide7.xml" Id="R757b1e0496f7400c" /><Relationship Type="http://schemas.openxmlformats.org/officeDocument/2006/relationships/notesMaster" Target="/ppt/notesMasters/notesMaster1.xml" Id="R0947f5f169be4708" /></Relationships>
</file>

<file path=ppt/notesSlides/_rels/notesSlide8.xml.rels>&#65279;<?xml version="1.0" encoding="utf-8"?><Relationships xmlns="http://schemas.openxmlformats.org/package/2006/relationships"><Relationship Type="http://schemas.openxmlformats.org/officeDocument/2006/relationships/slide" Target="/ppt/slides/slide8.xml" Id="R5aaf90645b7f4471" /><Relationship Type="http://schemas.openxmlformats.org/officeDocument/2006/relationships/notesMaster" Target="/ppt/notesMasters/notesMaster1.xml" Id="R93039c74b2194b31" /></Relationships>
</file>

<file path=ppt/notesSlides/_rels/notesSlide9.xml.rels>&#65279;<?xml version="1.0" encoding="utf-8"?><Relationships xmlns="http://schemas.openxmlformats.org/package/2006/relationships"><Relationship Type="http://schemas.openxmlformats.org/officeDocument/2006/relationships/slide" Target="/ppt/slides/slide9.xml" Id="R6fbdaa18b192453c" /><Relationship Type="http://schemas.openxmlformats.org/officeDocument/2006/relationships/notesMaster" Target="/ppt/notesMasters/notesMaster1.xml" Id="R8ebef9d28e8c494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f82de3c3f574cd9" /><Relationship Type="http://schemas.openxmlformats.org/officeDocument/2006/relationships/notesMaster" Target="/ppt/notesMasters/notesMaster1.xml" Id="Ra1f8d5a47ad94c1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9e4018968804e7d" /><Relationship Type="http://schemas.openxmlformats.org/officeDocument/2006/relationships/notesMaster" Target="/ppt/notesMasters/notesMaster1.xml" Id="R770e7bf4a73447d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6ccaa1865004dd0" /><Relationship Type="http://schemas.openxmlformats.org/officeDocument/2006/relationships/notesMaster" Target="/ppt/notesMasters/notesMaster1.xml" Id="R354e2530fc504c0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dd2bbd05682432d" /><Relationship Type="http://schemas.openxmlformats.org/officeDocument/2006/relationships/notesMaster" Target="/ppt/notesMasters/notesMaster1.xml" Id="R66b8d95b9e914ab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cc7055e546148e4" /><Relationship Type="http://schemas.openxmlformats.org/officeDocument/2006/relationships/notesMaster" Target="/ppt/notesMasters/notesMaster1.xml" Id="R7d30db0f64134f7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f46ccb7ef304e44" /><Relationship Type="http://schemas.openxmlformats.org/officeDocument/2006/relationships/notesMaster" Target="/ppt/notesMasters/notesMaster1.xml" Id="Rf1939e7edcdf42b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be75eb06b4448bd" /><Relationship Type="http://schemas.openxmlformats.org/officeDocument/2006/relationships/notesMaster" Target="/ppt/notesMasters/notesMaster1.xml" Id="R832c907adbfd435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1089d4ec4184200" /><Relationship Type="http://schemas.openxmlformats.org/officeDocument/2006/relationships/notesMaster" Target="/ppt/notesMasters/notesMaster1.xml" Id="R549dffd1745a446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f3f3c1a58b4469c" /><Relationship Type="http://schemas.openxmlformats.org/officeDocument/2006/relationships/notesMaster" Target="/ppt/notesMasters/notesMaster1.xml" Id="Reafeaa39c34c48b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ba4adb92d7c4f90" /><Relationship Type="http://schemas.openxmlformats.org/officeDocument/2006/relationships/notesMaster" Target="/ppt/notesMasters/notesMaster1.xml" Id="Re31b2b05470444a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0:30</a:t>
            </a:r>
          </a:p>
          <a:p xmlns:a="http://schemas.openxmlformats.org/drawingml/2006/main">
            <a:r>
              <a:t/>
            </a:r>
          </a:p>
          <a:p xmlns:a="http://schemas.openxmlformats.org/drawingml/2006/main">
            <a:r>
              <a:t>Talk track:</a:t>
            </a:r>
          </a:p>
          <a:p xmlns:a="http://schemas.openxmlformats.org/drawingml/2006/main">
            <a:r>
              <a:t>Introduce the project as a controlled computing experiment, not a clinically deployable system. State the central result only as a preview: residual topology mattered more than activation choice.</a:t>
            </a:r>
          </a:p>
          <a:p xmlns:a="http://schemas.openxmlformats.org/drawingml/2006/main">
            <a:r>
              <a:t/>
            </a:r>
          </a:p>
          <a:p xmlns:a="http://schemas.openxmlformats.org/drawingml/2006/main">
            <a:r>
              <a:t>[Sources]</a:t>
            </a:r>
          </a:p>
          <a:p xmlns:a="http://schemas.openxmlformats.org/drawingml/2006/main">
            <a:r>
              <a:t>- 24020059_Capstone_2.docx, pp. 1–2; title page and abstract; Figure 33 on p. 88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1:00</a:t>
            </a:r>
          </a:p>
          <a:p xmlns:a="http://schemas.openxmlformats.org/drawingml/2006/main">
            <a:r>
              <a:t/>
            </a:r>
          </a:p>
          <a:p xmlns:a="http://schemas.openxmlformats.org/drawingml/2006/main">
            <a:r>
              <a:t>Talk track:</a:t>
            </a:r>
          </a:p>
          <a:p xmlns:a="http://schemas.openxmlformats.org/drawingml/2006/main">
            <a:r>
              <a:t>Explain why two projections do not uniquely determine a volume. Contrast the accessibility of radiography with CT’s detailed 3D evidence and resource burden. Emphasise the project’s careful adjunct framing.</a:t>
            </a:r>
          </a:p>
          <a:p xmlns:a="http://schemas.openxmlformats.org/drawingml/2006/main">
            <a:r>
              <a:t/>
            </a:r>
          </a:p>
          <a:p xmlns:a="http://schemas.openxmlformats.org/drawingml/2006/main">
            <a:r>
              <a:t>[Sources]</a:t>
            </a:r>
          </a:p>
          <a:p xmlns:a="http://schemas.openxmlformats.org/drawingml/2006/main">
            <a:r>
              <a:t>- 24020059_Capstone_2.docx, pp. 10–11, 22–23; background and domain background; Figure 33 on p. 88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1:10</a:t>
            </a:r>
          </a:p>
          <a:p xmlns:a="http://schemas.openxmlformats.org/drawingml/2006/main">
            <a:r>
              <a:t/>
            </a:r>
          </a:p>
          <a:p xmlns:a="http://schemas.openxmlformats.org/drawingml/2006/main">
            <a:r>
              <a:t>Talk track:</a:t>
            </a:r>
          </a:p>
          <a:p xmlns:a="http://schemas.openxmlformats.org/drawingml/2006/main">
            <a:r>
              <a:t>Synthesize the literature rather than listing papers. The key implication is experimental: reported model rankings cannot identify which decoder property caused an improvement. Mention that Dice and clinical/surface accuracy can diverge.</a:t>
            </a:r>
          </a:p>
          <a:p xmlns:a="http://schemas.openxmlformats.org/drawingml/2006/main">
            <a:r>
              <a:t/>
            </a:r>
          </a:p>
          <a:p xmlns:a="http://schemas.openxmlformats.org/drawingml/2006/main">
            <a:r>
              <a:t>[Sources]</a:t>
            </a:r>
          </a:p>
          <a:p xmlns:a="http://schemas.openxmlformats.org/drawingml/2006/main">
            <a:r>
              <a:t>- 24020059_Capstone_2.docx, pp. 20–21, 38–51; literature review introduction, comparative benchmarks, metrics, decoder lineages and research gap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0:55</a:t>
            </a:r>
          </a:p>
          <a:p xmlns:a="http://schemas.openxmlformats.org/drawingml/2006/main">
            <a:r>
              <a:t/>
            </a:r>
          </a:p>
          <a:p xmlns:a="http://schemas.openxmlformats.org/drawingml/2006/main">
            <a:r>
              <a:t>Talk track:</a:t>
            </a:r>
          </a:p>
          <a:p xmlns:a="http://schemas.openxmlformats.org/drawingml/2006/main">
            <a:r>
              <a:t>Read the research question, then connect each objective to a threat to validity: leakage, upstream confounding, metric blindness and unfair model comparison.</a:t>
            </a:r>
          </a:p>
          <a:p xmlns:a="http://schemas.openxmlformats.org/drawingml/2006/main">
            <a:r>
              <a:t/>
            </a:r>
          </a:p>
          <a:p xmlns:a="http://schemas.openxmlformats.org/drawingml/2006/main">
            <a:r>
              <a:t>[Sources]</a:t>
            </a:r>
          </a:p>
          <a:p xmlns:a="http://schemas.openxmlformats.org/drawingml/2006/main">
            <a:r>
              <a:t>- 24020059_Capstone_2.docx, pp. 12–15; problem statement, research question, aim, objectives and scope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1:05</a:t>
            </a:r>
          </a:p>
          <a:p xmlns:a="http://schemas.openxmlformats.org/drawingml/2006/main">
            <a:r>
              <a:t/>
            </a:r>
          </a:p>
          <a:p xmlns:a="http://schemas.openxmlformats.org/drawingml/2006/main">
            <a:r>
              <a:t>Talk track:</a:t>
            </a:r>
          </a:p>
          <a:p xmlns:a="http://schemas.openxmlformats.org/drawingml/2006/main">
            <a:r>
              <a:t>Use the report’s modelling-plan figure to walk left to right. Highlight that the encoder is trained within each fold, then frozen; all arms receive the same feature pyramid, and evaluation uses held-out subjects.</a:t>
            </a:r>
          </a:p>
          <a:p xmlns:a="http://schemas.openxmlformats.org/drawingml/2006/main">
            <a:r>
              <a:t/>
            </a:r>
          </a:p>
          <a:p xmlns:a="http://schemas.openxmlformats.org/drawingml/2006/main">
            <a:r>
              <a:t>[Sources]</a:t>
            </a:r>
          </a:p>
          <a:p xmlns:a="http://schemas.openxmlformats.org/drawingml/2006/main">
            <a:r>
              <a:t>- 24020059_Capstone_2.docx, pp. 58–60, 90–104; CRISP-DM, methodology flow and Figure 34 on p. 90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0:45</a:t>
            </a:r>
          </a:p>
          <a:p xmlns:a="http://schemas.openxmlformats.org/drawingml/2006/main">
            <a:r>
              <a:t/>
            </a:r>
          </a:p>
          <a:p xmlns:a="http://schemas.openxmlformats.org/drawingml/2006/main">
            <a:r>
              <a:t>Talk track:</a:t>
            </a:r>
          </a:p>
          <a:p xmlns:a="http://schemas.openxmlformats.org/drawingml/2006/main">
            <a:r>
              <a:t>Explain why subject grouping matters: bilateral knees are correlated and must not cross train/test boundaries. Then acknowledge the 4.5-to-1 imbalance and the dataset-domain confounding.</a:t>
            </a:r>
          </a:p>
          <a:p xmlns:a="http://schemas.openxmlformats.org/drawingml/2006/main">
            <a:r>
              <a:t/>
            </a:r>
          </a:p>
          <a:p xmlns:a="http://schemas.openxmlformats.org/drawingml/2006/main">
            <a:r>
              <a:t>[Sources]</a:t>
            </a:r>
          </a:p>
          <a:p xmlns:a="http://schemas.openxmlformats.org/drawingml/2006/main">
            <a:r>
              <a:t>- 24020059_Capstone_2.docx, pp. 14, 76–77, 110; scope, cohort construction and leakage audit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0:50</a:t>
            </a:r>
          </a:p>
          <a:p xmlns:a="http://schemas.openxmlformats.org/drawingml/2006/main">
            <a:r>
              <a:t/>
            </a:r>
          </a:p>
          <a:p xmlns:a="http://schemas.openxmlformats.org/drawingml/2006/main">
            <a:r>
              <a:t>Talk track:</a:t>
            </a:r>
          </a:p>
          <a:p xmlns:a="http://schemas.openxmlformats.org/drawingml/2006/main">
            <a:r>
              <a:t>Explain the full target lineage. CT volumes were segmented into the four bones in 3D Slicer, assisted by TotalSegmentator and surface smoothing, then exported as STL meshes. Each surface was transformed into one common LPS grid and voxelised as a separate binary channel. These masks supervise decoder training and act as the held-out reference for Dice and ASSD. State the annotation-validation limitation clearly.</a:t>
            </a:r>
          </a:p>
          <a:p xmlns:a="http://schemas.openxmlformats.org/drawingml/2006/main">
            <a:r>
              <a:t/>
            </a:r>
          </a:p>
          <a:p xmlns:a="http://schemas.openxmlformats.org/drawingml/2006/main">
            <a:r>
              <a:t>[Sources]</a:t>
            </a:r>
          </a:p>
          <a:p xmlns:a="http://schemas.openxmlformats.org/drawingml/2006/main">
            <a:r>
              <a:t>- 24020059_Capstone_2.docx, pp. 83-85, 109-110; four-bone target construction and Figure 37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0:50</a:t>
            </a:r>
          </a:p>
          <a:p xmlns:a="http://schemas.openxmlformats.org/drawingml/2006/main">
            <a:r>
              <a:t/>
            </a:r>
          </a:p>
          <a:p xmlns:a="http://schemas.openxmlformats.org/drawingml/2006/main">
            <a:r>
              <a:t>Talk track:</a:t>
            </a:r>
          </a:p>
          <a:p xmlns:a="http://schemas.openxmlformats.org/drawingml/2006/main">
            <a:r>
              <a:t>Use Figure 30 as the visual summary of the complete preprocessing pipeline. Move through the six phases quickly, stressing that the AP/LAT inputs, four-bone targets and fracture masks all share the same physical coordinate system.</a:t>
            </a:r>
          </a:p>
          <a:p xmlns:a="http://schemas.openxmlformats.org/drawingml/2006/main">
            <a:r>
              <a:t/>
            </a:r>
          </a:p>
          <a:p xmlns:a="http://schemas.openxmlformats.org/drawingml/2006/main">
            <a:r>
              <a:t>[Sources]</a:t>
            </a:r>
          </a:p>
          <a:p xmlns:a="http://schemas.openxmlformats.org/drawingml/2006/main">
            <a:r>
              <a:t>- 24020059_Capstone_2.docx, pp. 78-88; Figure 30 on p. 80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1:00</a:t>
            </a:r>
          </a:p>
          <a:p xmlns:a="http://schemas.openxmlformats.org/drawingml/2006/main">
            <a:r>
              <a:t/>
            </a:r>
          </a:p>
          <a:p xmlns:a="http://schemas.openxmlformats.org/drawingml/2006/main">
            <a:r>
              <a:t>Talk track:</a:t>
            </a:r>
          </a:p>
          <a:p xmlns:a="http://schemas.openxmlformats.org/drawingml/2006/main">
            <a:r>
              <a:t>Explain ConvNeXt from left to right. The stem and downsampling stages create four feature resolutions. Inside each block, depthwise convolution captures spatial context, one-by-one layers mix channels, GELU adds non-linearity and the residual path stabilises learning. The project extracts these feature pyramids independently from AP and lateral DRRs before fusion.</a:t>
            </a:r>
          </a:p>
          <a:p xmlns:a="http://schemas.openxmlformats.org/drawingml/2006/main">
            <a:r>
              <a:t/>
            </a:r>
          </a:p>
          <a:p xmlns:a="http://schemas.openxmlformats.org/drawingml/2006/main">
            <a:r>
              <a:t>[Sources]</a:t>
            </a:r>
          </a:p>
          <a:p xmlns:a="http://schemas.openxmlformats.org/drawingml/2006/main">
            <a:r>
              <a:t>- 24020059_Capstone_2.docx, pp. 91, 93-96; Figures 35 and 36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1:15</a:t>
            </a:r>
          </a:p>
          <a:p xmlns:a="http://schemas.openxmlformats.org/drawingml/2006/main">
            <a:r>
              <a:t/>
            </a:r>
          </a:p>
          <a:p xmlns:a="http://schemas.openxmlformats.org/drawingml/2006/main">
            <a:r>
              <a:t>Talk track:</a:t>
            </a:r>
          </a:p>
          <a:p xmlns:a="http://schemas.openxmlformats.org/drawingml/2006/main">
            <a:r>
              <a:t>P1 performs label-free adaptation to DRR appearance by reconstructing masked single views. P2 keeps that objective and adds bidirectional AP-lateral completion so the encoder must learn complementary view information. Report both loss reductions, then state the interpretation boundary: the tasks differ, no CT target enters either phase, and Fold 4 showed much weaker pairing evidence.</a:t>
            </a:r>
          </a:p>
          <a:p xmlns:a="http://schemas.openxmlformats.org/drawingml/2006/main">
            <a:r>
              <a:t/>
            </a:r>
          </a:p>
          <a:p xmlns:a="http://schemas.openxmlformats.org/drawingml/2006/main">
            <a:r>
              <a:t>[Sources]</a:t>
            </a:r>
          </a:p>
          <a:p xmlns:a="http://schemas.openxmlformats.org/drawingml/2006/main">
            <a:r>
              <a:t>- 24020059_Capstone_2.docx, pp. 91-92, 114-118; Figures 40-42 and Table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1:10</a:t>
            </a:r>
          </a:p>
          <a:p xmlns:a="http://schemas.openxmlformats.org/drawingml/2006/main">
            <a:r>
              <a:t/>
            </a:r>
          </a:p>
          <a:p xmlns:a="http://schemas.openxmlformats.org/drawingml/2006/main">
            <a:r>
              <a:t>Talk track:</a:t>
            </a:r>
          </a:p>
          <a:p xmlns:a="http://schemas.openxmlformats.org/drawingml/2006/main">
            <a:r>
              <a:t>Show how the two extra arms isolate causal factors descriptively. The residual-ReLU arm asks what happens when topology changes alone; plain-PReLU asks what happens when activation changes alone.</a:t>
            </a:r>
          </a:p>
          <a:p xmlns:a="http://schemas.openxmlformats.org/drawingml/2006/main">
            <a:r>
              <a:t/>
            </a:r>
          </a:p>
          <a:p xmlns:a="http://schemas.openxmlformats.org/drawingml/2006/main">
            <a:r>
              <a:t>[Sources]</a:t>
            </a:r>
          </a:p>
          <a:p xmlns:a="http://schemas.openxmlformats.org/drawingml/2006/main">
            <a:r>
              <a:t>- 24020059_Capstone_2.docx, pp. 59, 98–102; Tables 5, 10 and 11; controlled factorial decoder design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0:50</a:t>
            </a:r>
          </a:p>
          <a:p xmlns:a="http://schemas.openxmlformats.org/drawingml/2006/main">
            <a:r>
              <a:t/>
            </a:r>
          </a:p>
          <a:p xmlns:a="http://schemas.openxmlformats.org/drawingml/2006/main">
            <a:r>
              <a:t>Talk track:</a:t>
            </a:r>
          </a:p>
          <a:p xmlns:a="http://schemas.openxmlformats.org/drawingml/2006/main">
            <a:r>
              <a:t>Walk through the evaluation contract. Dice alone is insufficient; ASSD and explicit empty-prediction handling stop catastrophic small-bone failures from disappearing inside an average.</a:t>
            </a:r>
          </a:p>
          <a:p xmlns:a="http://schemas.openxmlformats.org/drawingml/2006/main">
            <a:r>
              <a:t/>
            </a:r>
          </a:p>
          <a:p xmlns:a="http://schemas.openxmlformats.org/drawingml/2006/main">
            <a:r>
              <a:t>[Sources]</a:t>
            </a:r>
          </a:p>
          <a:p xmlns:a="http://schemas.openxmlformats.org/drawingml/2006/main">
            <a:r>
              <a:t>- 24020059_Capstone_2.docx, pp. 102–105; decoder training protocol and controlled out-of-fold evaluation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1:10</a:t>
            </a:r>
          </a:p>
          <a:p xmlns:a="http://schemas.openxmlformats.org/drawingml/2006/main">
            <a:r>
              <a:t/>
            </a:r>
          </a:p>
          <a:p xmlns:a="http://schemas.openxmlformats.org/drawingml/2006/main">
            <a:r>
              <a:t>Talk track:</a:t>
            </a:r>
          </a:p>
          <a:p xmlns:a="http://schemas.openxmlformats.org/drawingml/2006/main">
            <a:r>
              <a:t>Explain that identical front-end checkpoints establish fairness, but do not guarantee that the representation is strong. Fold 4 had weak cross-view evidence, and small bones were already the hardest before decoder comparison.</a:t>
            </a:r>
          </a:p>
          <a:p xmlns:a="http://schemas.openxmlformats.org/drawingml/2006/main">
            <a:r>
              <a:t/>
            </a:r>
          </a:p>
          <a:p xmlns:a="http://schemas.openxmlformats.org/drawingml/2006/main">
            <a:r>
              <a:t>[Sources]</a:t>
            </a:r>
          </a:p>
          <a:p xmlns:a="http://schemas.openxmlformats.org/drawingml/2006/main">
            <a:r>
              <a:t>- 24020059_Capstone_2.docx, pp. 114–120; Figures 40–44; encoder pretraining and shared front-end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1:30</a:t>
            </a:r>
          </a:p>
          <a:p xmlns:a="http://schemas.openxmlformats.org/drawingml/2006/main">
            <a:r>
              <a:t/>
            </a:r>
          </a:p>
          <a:p xmlns:a="http://schemas.openxmlformats.org/drawingml/2006/main">
            <a:r>
              <a:t>Talk track:</a:t>
            </a:r>
          </a:p>
          <a:p xmlns:a="http://schemas.openxmlformats.org/drawingml/2006/main">
            <a:r>
              <a:t>Present the overall subject-level result. V-style beats U-style, but the factorial arms reveal why: residual topology drives the gain. PReLU alone is neutral, and slightly worsens the residual condition. Avoid claiming that full V-Net universally beats 3D U-Net.</a:t>
            </a:r>
          </a:p>
          <a:p xmlns:a="http://schemas.openxmlformats.org/drawingml/2006/main">
            <a:r>
              <a:t/>
            </a:r>
          </a:p>
          <a:p xmlns:a="http://schemas.openxmlformats.org/drawingml/2006/main">
            <a:r>
              <a:t>[Sources]</a:t>
            </a:r>
          </a:p>
          <a:p xmlns:a="http://schemas.openxmlformats.org/drawingml/2006/main">
            <a:r>
              <a:t>- 24020059_Capstone_2.docx, pp. 123–126; Figure 45 and Tables 14–15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1:25</a:t>
            </a:r>
          </a:p>
          <a:p xmlns:a="http://schemas.openxmlformats.org/drawingml/2006/main">
            <a:r>
              <a:t/>
            </a:r>
          </a:p>
          <a:p xmlns:a="http://schemas.openxmlformats.org/drawingml/2006/main">
            <a:r>
              <a:t>Talk track:</a:t>
            </a:r>
          </a:p>
          <a:p xmlns:a="http://schemas.openxmlformats.org/drawingml/2006/main">
            <a:r>
              <a:t>Fold 4 had the weakest cross-view evidence and the lowest absolute Dice for every arm, so it exposed a shared-front-end quality ceiling. The fold was not discarded. A leave-Fold-4-out sensitivity check changed the residual advantage only from about 0.044 to 0.043, preserving the descriptive conclusion. Also distinguish the Fold-2 empty-patella surface failure: it explains ASSD inconsistency and was retained under the predefined penalty.</a:t>
            </a:r>
          </a:p>
          <a:p xmlns:a="http://schemas.openxmlformats.org/drawingml/2006/main">
            <a:r>
              <a:t/>
            </a:r>
          </a:p>
          <a:p xmlns:a="http://schemas.openxmlformats.org/drawingml/2006/main">
            <a:r>
              <a:t>[Sources]</a:t>
            </a:r>
          </a:p>
          <a:p xmlns:a="http://schemas.openxmlformats.org/drawingml/2006/main">
            <a:r>
              <a:t>- 24020059_Capstone_2.docx, pp. 116-118, 127-128; Tables 12, 16 and 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1:20</a:t>
            </a:r>
          </a:p>
          <a:p xmlns:a="http://schemas.openxmlformats.org/drawingml/2006/main">
            <a:r>
              <a:t/>
            </a:r>
          </a:p>
          <a:p xmlns:a="http://schemas.openxmlformats.org/drawingml/2006/main">
            <a:r>
              <a:t>Talk track:</a:t>
            </a:r>
          </a:p>
          <a:p xmlns:a="http://schemas.openxmlformats.org/drawingml/2006/main">
            <a:r>
              <a:t>Compare large and small bones. The fibula gains are large in relative terms, but its absolute performance remains unsuitable. This distinction demonstrates critical interpretation rather than simply celebrating improvement.</a:t>
            </a:r>
          </a:p>
          <a:p xmlns:a="http://schemas.openxmlformats.org/drawingml/2006/main">
            <a:r>
              <a:t/>
            </a:r>
          </a:p>
          <a:p xmlns:a="http://schemas.openxmlformats.org/drawingml/2006/main">
            <a:r>
              <a:t>[Sources]</a:t>
            </a:r>
          </a:p>
          <a:p xmlns:a="http://schemas.openxmlformats.org/drawingml/2006/main">
            <a:r>
              <a:t>- 24020059_Capstone_2.docx, pp. 129–131; Table 18 and bone-specific discussion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1:20</a:t>
            </a:r>
          </a:p>
          <a:p xmlns:a="http://schemas.openxmlformats.org/drawingml/2006/main">
            <a:r>
              <a:t/>
            </a:r>
          </a:p>
          <a:p xmlns:a="http://schemas.openxmlformats.org/drawingml/2006/main">
            <a:r>
              <a:t>Talk track:</a:t>
            </a:r>
          </a:p>
          <a:p xmlns:a="http://schemas.openxmlformats.org/drawingml/2006/main">
            <a:r>
              <a:t>Show that residual decoding helps both cohorts, yet none closes the fractured performance gap. State the domain-confounding limitation clearly: the result cannot isolate fracture status from dataset acquisition effects.</a:t>
            </a:r>
          </a:p>
          <a:p xmlns:a="http://schemas.openxmlformats.org/drawingml/2006/main">
            <a:r>
              <a:t/>
            </a:r>
          </a:p>
          <a:p xmlns:a="http://schemas.openxmlformats.org/drawingml/2006/main">
            <a:r>
              <a:t>[Sources]</a:t>
            </a:r>
          </a:p>
          <a:p xmlns:a="http://schemas.openxmlformats.org/drawingml/2006/main">
            <a:r>
              <a:t>- 24020059_Capstone_2.docx, pp. 132–134; Table 19 and healthy/fractured discussion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1:05</a:t>
            </a:r>
          </a:p>
          <a:p xmlns:a="http://schemas.openxmlformats.org/drawingml/2006/main">
            <a:r>
              <a:t/>
            </a:r>
          </a:p>
          <a:p xmlns:a="http://schemas.openxmlformats.org/drawingml/2006/main">
            <a:r>
              <a:t>Talk track:</a:t>
            </a:r>
          </a:p>
          <a:p xmlns:a="http://schemas.openxmlformats.org/drawingml/2006/main">
            <a:r>
              <a:t>Explain the mismatch between finite-source projection geometry and Cartesian feature broadcasting. Be precise that this is a plausible bottleneck, not a causal finding. The proposed experiment changes only the lift.</a:t>
            </a:r>
          </a:p>
          <a:p xmlns:a="http://schemas.openxmlformats.org/drawingml/2006/main">
            <a:r>
              <a:t/>
            </a:r>
          </a:p>
          <a:p xmlns:a="http://schemas.openxmlformats.org/drawingml/2006/main">
            <a:r>
              <a:t>[Sources]</a:t>
            </a:r>
          </a:p>
          <a:p xmlns:a="http://schemas.openxmlformats.org/drawingml/2006/main">
            <a:r>
              <a:t>- 24020059_Capstone_2.docx, pp. 139–143; integrated limitations and projection-aware lifting future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0:35</a:t>
            </a:r>
          </a:p>
          <a:p xmlns:a="http://schemas.openxmlformats.org/drawingml/2006/main">
            <a:r>
              <a:t/>
            </a:r>
          </a:p>
          <a:p xmlns:a="http://schemas.openxmlformats.org/drawingml/2006/main">
            <a:r>
              <a:t>Talk track:</a:t>
            </a:r>
          </a:p>
          <a:p xmlns:a="http://schemas.openxmlformats.org/drawingml/2006/main">
            <a:r>
              <a:t>Close by answering the research question directly. Reiterate the boundary between a controlled architecture result and a clinically valid reconstruction system. Invite questions on the experiment, failure analysis or proposed ablations.</a:t>
            </a:r>
          </a:p>
          <a:p xmlns:a="http://schemas.openxmlformats.org/drawingml/2006/main">
            <a:r>
              <a:t/>
            </a:r>
          </a:p>
          <a:p xmlns:a="http://schemas.openxmlformats.org/drawingml/2006/main">
            <a:r>
              <a:t>[Sources]</a:t>
            </a:r>
          </a:p>
          <a:p xmlns:a="http://schemas.openxmlformats.org/drawingml/2006/main">
            <a:r>
              <a:t>- 24020059_Capstone_2.docx, pp. 143–147; future work and conclusion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0e8aba18e0a4f3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4b440a861af48ce" /><Relationship Type="http://schemas.openxmlformats.org/officeDocument/2006/relationships/slideLayout" Target="/ppt/slideLayouts/slideLayout1.xml" Id="R13444cc686f24d3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3444cc686f24d3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9e90bddceff4546" /><Relationship Type="http://schemas.openxmlformats.org/officeDocument/2006/relationships/image" Target="/ppt/media/image.png" Id="R500ec9451e26462a" /><Relationship Type="http://schemas.openxmlformats.org/officeDocument/2006/relationships/notesSlide" Target="/ppt/notesSlides/notesSlide1.xml" Id="R47d07aa3b02f47b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6002da8038f4fe1" /><Relationship Type="http://schemas.openxmlformats.org/officeDocument/2006/relationships/image" Target="/ppt/media/image2.png" Id="Re739a06639754e3f" /><Relationship Type="http://schemas.openxmlformats.org/officeDocument/2006/relationships/notesSlide" Target="/ppt/notesSlides/notesSlide2.xml" Id="R96bc613a3d06463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bc2776cb9d24ed7" /><Relationship Type="http://schemas.openxmlformats.org/officeDocument/2006/relationships/notesSlide" Target="/ppt/notesSlides/notesSlide3.xml" Id="R68d104804e1d46b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a7b694531b741a5" /><Relationship Type="http://schemas.openxmlformats.org/officeDocument/2006/relationships/notesSlide" Target="/ppt/notesSlides/notesSlide4.xml" Id="Rfa803dad5b334b6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ec501c0cd174341" /><Relationship Type="http://schemas.openxmlformats.org/officeDocument/2006/relationships/image" Target="/ppt/media/image3.png" Id="R768e3c98717b43b3" /><Relationship Type="http://schemas.openxmlformats.org/officeDocument/2006/relationships/notesSlide" Target="/ppt/notesSlides/notesSlide5.xml" Id="R897b9d8bfa7848f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068f506f20a42ec" /><Relationship Type="http://schemas.openxmlformats.org/officeDocument/2006/relationships/notesSlide" Target="/ppt/notesSlides/notesSlide6.xml" Id="Re21ca5e3c0454ad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2c99407240c47f0" /><Relationship Type="http://schemas.openxmlformats.org/officeDocument/2006/relationships/image" Target="/ppt/media/image4.png" Id="R1170a10a02ab494d" /><Relationship Type="http://schemas.openxmlformats.org/officeDocument/2006/relationships/notesSlide" Target="/ppt/notesSlides/notesSlide7.xml" Id="R196e42a27b9f4ad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e4d88d7bf1b44bb" /><Relationship Type="http://schemas.openxmlformats.org/officeDocument/2006/relationships/image" Target="/ppt/media/image5.png" Id="R52d70d796fde4bf0" /><Relationship Type="http://schemas.openxmlformats.org/officeDocument/2006/relationships/notesSlide" Target="/ppt/notesSlides/notesSlide8.xml" Id="R864b703447104d4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84c6dfb90504f32" /><Relationship Type="http://schemas.openxmlformats.org/officeDocument/2006/relationships/image" Target="/ppt/media/image6.png" Id="Rbec2345627a14ea7" /><Relationship Type="http://schemas.openxmlformats.org/officeDocument/2006/relationships/image" Target="/ppt/media/image7.png" Id="R21154863118a4246" /><Relationship Type="http://schemas.openxmlformats.org/officeDocument/2006/relationships/notesSlide" Target="/ppt/notesSlides/notesSlide9.xml" Id="Rac76d8a74ed148e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0bd66a693104665" /><Relationship Type="http://schemas.openxmlformats.org/officeDocument/2006/relationships/notesSlide" Target="/ppt/notesSlides/notesSlide10.xml" Id="Re9c7eb048547423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3b1fd9476d1e4c2d" /><Relationship Type="http://schemas.openxmlformats.org/officeDocument/2006/relationships/notesSlide" Target="/ppt/notesSlides/notesSlide11.xml" Id="R6aa34a09117f4bc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98f8428b3114d51" /><Relationship Type="http://schemas.openxmlformats.org/officeDocument/2006/relationships/notesSlide" Target="/ppt/notesSlides/notesSlide12.xml" Id="R9850a7598691428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49e2b89d39fc41d7" /><Relationship Type="http://schemas.openxmlformats.org/officeDocument/2006/relationships/image" Target="/ppt/media/image8.png" Id="R696140a27113452f" /><Relationship Type="http://schemas.openxmlformats.org/officeDocument/2006/relationships/notesSlide" Target="/ppt/notesSlides/notesSlide13.xml" Id="Re2a3d3fd0d0e459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63caa23a0c94fd4" /><Relationship Type="http://schemas.openxmlformats.org/officeDocument/2006/relationships/chart" Target="/ppt/slides/charts/chart1.xml" Id="Rbb74c8a3499e4320" /><Relationship Type="http://schemas.openxmlformats.org/officeDocument/2006/relationships/notesSlide" Target="/ppt/notesSlides/notesSlide14.xml" Id="Raf9062af2ef7459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bde6bbebae854813" /><Relationship Type="http://schemas.openxmlformats.org/officeDocument/2006/relationships/chart" Target="/ppt/slides/charts/chart2.xml" Id="Rdd352cfd1d824968" /><Relationship Type="http://schemas.openxmlformats.org/officeDocument/2006/relationships/notesSlide" Target="/ppt/notesSlides/notesSlide15.xml" Id="R161424d4bc61436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0845bd2988954417" /><Relationship Type="http://schemas.openxmlformats.org/officeDocument/2006/relationships/chart" Target="/ppt/slides/charts/chart3.xml" Id="R3f4ed5b946454b83" /><Relationship Type="http://schemas.openxmlformats.org/officeDocument/2006/relationships/notesSlide" Target="/ppt/notesSlides/notesSlide16.xml" Id="Rb3c0d5a26fcb44f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2ba297fdb9c041f4" /><Relationship Type="http://schemas.openxmlformats.org/officeDocument/2006/relationships/chart" Target="/ppt/slides/charts/chart4.xml" Id="Re0072acdde0a4182" /><Relationship Type="http://schemas.openxmlformats.org/officeDocument/2006/relationships/notesSlide" Target="/ppt/notesSlides/notesSlide17.xml" Id="Rf5897a0bb0124ec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28de9847e7ed4903" /><Relationship Type="http://schemas.openxmlformats.org/officeDocument/2006/relationships/notesSlide" Target="/ppt/notesSlides/notesSlide18.xml" Id="R8fe389240d6c46f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f87a034b16124b49" /><Relationship Type="http://schemas.openxmlformats.org/officeDocument/2006/relationships/notesSlide" Target="/ppt/notesSlides/notesSlide19.xml" Id="R26263e581fba42fb" /></Relationships>
</file>

<file path=ppt/slides/charts/chart1.xml><?xml version="1.0" encoding="utf-8"?>
<c:chartSpace xmlns:c="http://schemas.openxmlformats.org/drawingml/2006/chart">
  <c:lang val="en-US"/>
  <c:chart>
    <c:plotArea>
      <c:barChart>
        <c:barDir val="col"/>
        <c:grouping val="clustered"/>
        <c:varyColors val="0"/>
        <c:ser>
          <c:idx val="0"/>
          <c:order val="0"/>
          <c:tx>
            <c:v>Mean macro-Dice (%)</c:v>
          </c:tx>
          <c:spPr>
            <a:solidFill xmlns:a="http://schemas.openxmlformats.org/drawingml/2006/main">
              <a:srgbClr val="2563EB"/>
            </a:solidFill>
          </c:spPr>
          <c:cat>
            <c:strLit>
              <c:ptCount val="4"/>
              <c:pt idx="0">
                <c:v>U-style</c:v>
              </c:pt>
              <c:pt idx="1">
                <c:v>V-style</c:v>
              </c:pt>
              <c:pt idx="2">
                <c:v>Residual-ReLU</c:v>
              </c:pt>
              <c:pt idx="3">
                <c:v>Plain-PReLU</c:v>
              </c:pt>
            </c:strLit>
          </c:cat>
          <c:val>
            <c:numLit>
              <c:formatCode>General</c:formatCode>
              <c:ptCount val="4"/>
              <c:pt idx="0">
                <c:v>40.6</c:v>
              </c:pt>
              <c:pt idx="1">
                <c:v>44.6</c:v>
              </c:pt>
              <c:pt idx="2">
                <c:v>45.5</c:v>
              </c:pt>
              <c:pt idx="3">
                <c:v>40.6</c:v>
              </c:pt>
            </c:numLit>
          </c:val>
        </c:ser>
        <c:dLbls>
          <c:dLblPos val="outEnd"/>
          <c:showLegendKey val="0"/>
          <c:showVal val="1"/>
          <c:showCatName val="0"/>
          <c:showSerName val="0"/>
          <c:showPercent val="0"/>
          <c:showBubbleSize val="0"/>
          <c:showLeaderLines val="0"/>
        </c:dLbls>
        <c:gapWidth val="6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9DEE7"/>
            </a:solidFill>
            <a:prstDash val="solid"/>
          </a:ln>
        </c:spPr>
        <c:txPr>
          <a:bodyPr xmlns:a="http://schemas.openxmlformats.org/drawingml/2006/main" anchorCtr="1"/>
          <a:lstStyle xmlns:a="http://schemas.openxmlformats.org/drawingml/2006/main"/>
          <a:p xmlns:a="http://schemas.openxmlformats.org/drawingml/2006/main">
            <a:pPr>
              <a:defRPr sz="1350">
                <a:solidFill>
                  <a:srgbClr val="111827"/>
                </a:solidFill>
                <a:latin typeface="Arial"/>
                <a:ea typeface="Arial"/>
                <a:cs typeface="Arial"/>
              </a:defRPr>
            </a:pPr>
          </a:p>
        </c:txPr>
        <c:crossAx val="48672768"/>
        <c:lblAlgn val="ctr"/>
        <c:lblOffset val="100"/>
        <c:noMultiLvlLbl val="0"/>
      </c:catAx>
      <c:valAx>
        <c:axId val="48672768"/>
        <c:scaling>
          <c:orientation val="minMax"/>
          <c:max val="48"/>
          <c:min val="35"/>
        </c:scaling>
        <c:delete val="0"/>
        <c:axPos val="l"/>
        <c:majorGridlines>
          <c:spPr>
            <a:ln xmlns:a="http://schemas.openxmlformats.org/drawingml/2006/main" w="9525">
              <a:solidFill>
                <a:srgbClr val="D9DEE7"/>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B6472"/>
                </a:solidFill>
                <a:latin typeface="Arial"/>
                <a:ea typeface="Arial"/>
                <a:cs typeface="Arial"/>
              </a:defRPr>
            </a:pPr>
          </a:p>
        </c:txPr>
        <c:crossAx val="48650112"/>
        <c:crossBetween val="between"/>
        <c:majorUnit val="5"/>
      </c:valAx>
      <c:spPr>
        <a:noFill xmlns:a="http://schemas.openxmlformats.org/drawingml/2006/main"/>
      </c:spPr>
    </c:plotArea>
    <c:legend>
      <c:legendPos val="b"/>
      <c:overlay val="0"/>
    </c:legend>
    <c:plotVisOnly val="1"/>
  </c:chart>
  <c:spPr>
    <a:solidFill xmlns:a="http://schemas.openxmlformats.org/drawingml/2006/main">
      <a:srgbClr val="FBFBFA"/>
    </a:solidFill>
    <a:ln xmlns:a="http://schemas.openxmlformats.org/drawingml/2006/main" w="0">
      <a:solidFill>
        <a:srgbClr val="FBFBFA"/>
      </a:solidFill>
      <a:prstDash val="solid"/>
    </a:ln>
  </c:spPr>
</c:chartSpace>
</file>

<file path=ppt/slides/charts/chart2.xml><?xml version="1.0" encoding="utf-8"?>
<c:chartSpace xmlns:c="http://schemas.openxmlformats.org/drawingml/2006/chart">
  <c:lang val="en-US"/>
  <c:chart>
    <c:plotArea>
      <c:lineChart>
        <c:grouping val="standard"/>
        <c:ser>
          <c:idx val="0"/>
          <c:order val="0"/>
          <c:tx>
            <c:v>U-style</c:v>
          </c:tx>
          <c:spPr>
            <a:ln xmlns:a="http://schemas.openxmlformats.org/drawingml/2006/main" w="28575">
              <a:solidFill>
                <a:srgbClr val="94A3B8"/>
              </a:solidFill>
            </a:ln>
          </c:spPr>
          <c:marker>
            <c:symbol val="none"/>
          </c:marker>
          <c:cat>
            <c:strLit>
              <c:ptCount val="5"/>
              <c:pt idx="0">
                <c:v>Fold 0</c:v>
              </c:pt>
              <c:pt idx="1">
                <c:v>Fold 1</c:v>
              </c:pt>
              <c:pt idx="2">
                <c:v>Fold 2</c:v>
              </c:pt>
              <c:pt idx="3">
                <c:v>Fold 3</c:v>
              </c:pt>
              <c:pt idx="4">
                <c:v>Fold 4</c:v>
              </c:pt>
            </c:strLit>
          </c:cat>
          <c:val>
            <c:numLit>
              <c:formatCode>General</c:formatCode>
              <c:ptCount val="5"/>
              <c:pt idx="0">
                <c:v>45</c:v>
              </c:pt>
              <c:pt idx="1">
                <c:v>40.9</c:v>
              </c:pt>
              <c:pt idx="2">
                <c:v>40.8</c:v>
              </c:pt>
              <c:pt idx="3">
                <c:v>39.5</c:v>
              </c:pt>
              <c:pt idx="4">
                <c:v>36.9</c:v>
              </c:pt>
            </c:numLit>
          </c:val>
        </c:ser>
        <c:ser>
          <c:idx val="1"/>
          <c:order val="1"/>
          <c:tx>
            <c:v>V-style</c:v>
          </c:tx>
          <c:spPr>
            <a:ln xmlns:a="http://schemas.openxmlformats.org/drawingml/2006/main" w="28575">
              <a:solidFill>
                <a:srgbClr val="60A5FA"/>
              </a:solidFill>
            </a:ln>
          </c:spPr>
          <c:marker>
            <c:symbol val="none"/>
          </c:marker>
          <c:cat>
            <c:strLit>
              <c:ptCount val="5"/>
              <c:pt idx="0">
                <c:v>Fold 0</c:v>
              </c:pt>
              <c:pt idx="1">
                <c:v>Fold 1</c:v>
              </c:pt>
              <c:pt idx="2">
                <c:v>Fold 2</c:v>
              </c:pt>
              <c:pt idx="3">
                <c:v>Fold 3</c:v>
              </c:pt>
              <c:pt idx="4">
                <c:v>Fold 4</c:v>
              </c:pt>
            </c:strLit>
          </c:cat>
          <c:val>
            <c:numLit>
              <c:formatCode>General</c:formatCode>
              <c:ptCount val="5"/>
              <c:pt idx="0">
                <c:v>48.1</c:v>
              </c:pt>
              <c:pt idx="1">
                <c:v>43.1</c:v>
              </c:pt>
              <c:pt idx="2">
                <c:v>45.9</c:v>
              </c:pt>
              <c:pt idx="3">
                <c:v>43.6</c:v>
              </c:pt>
              <c:pt idx="4">
                <c:v>41.9</c:v>
              </c:pt>
            </c:numLit>
          </c:val>
        </c:ser>
        <c:ser>
          <c:idx val="2"/>
          <c:order val="2"/>
          <c:tx>
            <c:v>Residual-ReLU</c:v>
          </c:tx>
          <c:spPr>
            <a:ln xmlns:a="http://schemas.openxmlformats.org/drawingml/2006/main" w="38100">
              <a:solidFill>
                <a:srgbClr val="0F766E"/>
              </a:solidFill>
            </a:ln>
          </c:spPr>
          <c:marker>
            <c:symbol val="none"/>
          </c:marker>
          <c:cat>
            <c:strLit>
              <c:ptCount val="5"/>
              <c:pt idx="0">
                <c:v>Fold 0</c:v>
              </c:pt>
              <c:pt idx="1">
                <c:v>Fold 1</c:v>
              </c:pt>
              <c:pt idx="2">
                <c:v>Fold 2</c:v>
              </c:pt>
              <c:pt idx="3">
                <c:v>Fold 3</c:v>
              </c:pt>
              <c:pt idx="4">
                <c:v>Fold 4</c:v>
              </c:pt>
            </c:strLit>
          </c:cat>
          <c:val>
            <c:numLit>
              <c:formatCode>General</c:formatCode>
              <c:ptCount val="5"/>
              <c:pt idx="0">
                <c:v>49.5</c:v>
              </c:pt>
              <c:pt idx="1">
                <c:v>43</c:v>
              </c:pt>
              <c:pt idx="2">
                <c:v>46.9</c:v>
              </c:pt>
              <c:pt idx="3">
                <c:v>45.6</c:v>
              </c:pt>
              <c:pt idx="4">
                <c:v>42.3</c:v>
              </c:pt>
            </c:numLit>
          </c:val>
        </c:ser>
        <c:ser>
          <c:idx val="3"/>
          <c:order val="3"/>
          <c:tx>
            <c:v>Plain-PReLU</c:v>
          </c:tx>
          <c:spPr>
            <a:ln xmlns:a="http://schemas.openxmlformats.org/drawingml/2006/main" w="28575">
              <a:solidFill>
                <a:srgbClr val="D97706"/>
              </a:solidFill>
            </a:ln>
          </c:spPr>
          <c:marker>
            <c:symbol val="none"/>
          </c:marker>
          <c:cat>
            <c:strLit>
              <c:ptCount val="5"/>
              <c:pt idx="0">
                <c:v>Fold 0</c:v>
              </c:pt>
              <c:pt idx="1">
                <c:v>Fold 1</c:v>
              </c:pt>
              <c:pt idx="2">
                <c:v>Fold 2</c:v>
              </c:pt>
              <c:pt idx="3">
                <c:v>Fold 3</c:v>
              </c:pt>
              <c:pt idx="4">
                <c:v>Fold 4</c:v>
              </c:pt>
            </c:strLit>
          </c:cat>
          <c:val>
            <c:numLit>
              <c:formatCode>General</c:formatCode>
              <c:ptCount val="5"/>
              <c:pt idx="0">
                <c:v>44.1</c:v>
              </c:pt>
              <c:pt idx="1">
                <c:v>40.5</c:v>
              </c:pt>
              <c:pt idx="2">
                <c:v>40.8</c:v>
              </c:pt>
              <c:pt idx="3">
                <c:v>39.5</c:v>
              </c:pt>
              <c:pt idx="4">
                <c:v>38.1</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9DEE7"/>
            </a:solidFill>
            <a:prstDash val="solid"/>
          </a:ln>
        </c:spPr>
        <c:txPr>
          <a:bodyPr xmlns:a="http://schemas.openxmlformats.org/drawingml/2006/main" anchorCtr="1"/>
          <a:lstStyle xmlns:a="http://schemas.openxmlformats.org/drawingml/2006/main"/>
          <a:p xmlns:a="http://schemas.openxmlformats.org/drawingml/2006/main">
            <a:pPr>
              <a:defRPr sz="1200">
                <a:solidFill>
                  <a:srgbClr val="111827"/>
                </a:solidFill>
                <a:latin typeface="Arial"/>
                <a:ea typeface="Arial"/>
                <a:cs typeface="Arial"/>
              </a:defRPr>
            </a:pPr>
          </a:p>
        </c:txPr>
        <c:crossAx val="48672768"/>
        <c:lblAlgn val="ctr"/>
        <c:lblOffset val="100"/>
        <c:noMultiLvlLbl val="0"/>
      </c:catAx>
      <c:valAx>
        <c:axId val="48672768"/>
        <c:scaling>
          <c:orientation val="minMax"/>
          <c:max val="52"/>
          <c:min val="34"/>
        </c:scaling>
        <c:delete val="0"/>
        <c:axPos val="l"/>
        <c:majorGridlines>
          <c:spPr>
            <a:ln xmlns:a="http://schemas.openxmlformats.org/drawingml/2006/main" w="9525">
              <a:solidFill>
                <a:srgbClr val="D9DEE7"/>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5B6472"/>
                </a:solidFill>
                <a:latin typeface="Arial"/>
                <a:ea typeface="Arial"/>
                <a:cs typeface="Arial"/>
              </a:defRPr>
            </a:pPr>
          </a:p>
        </c:txPr>
        <c:crossAx val="48650112"/>
        <c:crossBetween val="between"/>
        <c:majorUnit val="4"/>
      </c:valAx>
      <c:spPr>
        <a:noFill xmlns:a="http://schemas.openxmlformats.org/drawingml/2006/main"/>
      </c:spPr>
    </c:plotArea>
    <c:legend>
      <c:legendPos val="b"/>
      <c:overlay val="0"/>
    </c:legend>
    <c:plotVisOnly val="1"/>
  </c:chart>
  <c:spPr>
    <a:solidFill xmlns:a="http://schemas.openxmlformats.org/drawingml/2006/main">
      <a:srgbClr val="FBFBFA"/>
    </a:solidFill>
    <a:ln xmlns:a="http://schemas.openxmlformats.org/drawingml/2006/main" w="0">
      <a:solidFill>
        <a:srgbClr val="FBFBFA"/>
      </a:solidFill>
      <a:prstDash val="solid"/>
    </a:ln>
  </c:spPr>
</c:chartSpace>
</file>

<file path=ppt/slides/charts/chart3.xml><?xml version="1.0" encoding="utf-8"?>
<c:chartSpace xmlns:c="http://schemas.openxmlformats.org/drawingml/2006/chart">
  <c:lang val="en-US"/>
  <c:chart>
    <c:plotArea>
      <c:barChart>
        <c:barDir val="col"/>
        <c:grouping val="clustered"/>
        <c:varyColors val="0"/>
        <c:ser>
          <c:idx val="0"/>
          <c:order val="0"/>
          <c:tx>
            <c:v>U-style</c:v>
          </c:tx>
          <c:spPr>
            <a:solidFill xmlns:a="http://schemas.openxmlformats.org/drawingml/2006/main">
              <a:srgbClr val="94A3B8"/>
            </a:solidFill>
          </c:spPr>
          <c:cat>
            <c:strLit>
              <c:ptCount val="4"/>
              <c:pt idx="0">
                <c:v>Femur</c:v>
              </c:pt>
              <c:pt idx="1">
                <c:v>Tibia</c:v>
              </c:pt>
              <c:pt idx="2">
                <c:v>Patella</c:v>
              </c:pt>
              <c:pt idx="3">
                <c:v>Fibula</c:v>
              </c:pt>
            </c:strLit>
          </c:cat>
          <c:val>
            <c:numLit>
              <c:formatCode>General</c:formatCode>
              <c:ptCount val="4"/>
              <c:pt idx="0">
                <c:v>59.6</c:v>
              </c:pt>
              <c:pt idx="1">
                <c:v>59.5</c:v>
              </c:pt>
              <c:pt idx="2">
                <c:v>32.8</c:v>
              </c:pt>
              <c:pt idx="3">
                <c:v>10.6</c:v>
              </c:pt>
            </c:numLit>
          </c:val>
        </c:ser>
        <c:ser>
          <c:idx val="1"/>
          <c:order val="1"/>
          <c:tx>
            <c:v>V-style</c:v>
          </c:tx>
          <c:spPr>
            <a:solidFill xmlns:a="http://schemas.openxmlformats.org/drawingml/2006/main">
              <a:srgbClr val="60A5FA"/>
            </a:solidFill>
          </c:spPr>
          <c:cat>
            <c:strLit>
              <c:ptCount val="4"/>
              <c:pt idx="0">
                <c:v>Femur</c:v>
              </c:pt>
              <c:pt idx="1">
                <c:v>Tibia</c:v>
              </c:pt>
              <c:pt idx="2">
                <c:v>Patella</c:v>
              </c:pt>
              <c:pt idx="3">
                <c:v>Fibula</c:v>
              </c:pt>
            </c:strLit>
          </c:cat>
          <c:val>
            <c:numLit>
              <c:formatCode>General</c:formatCode>
              <c:ptCount val="4"/>
              <c:pt idx="0">
                <c:v>62</c:v>
              </c:pt>
              <c:pt idx="1">
                <c:v>61.6</c:v>
              </c:pt>
              <c:pt idx="2">
                <c:v>36.7</c:v>
              </c:pt>
              <c:pt idx="3">
                <c:v>17.8</c:v>
              </c:pt>
            </c:numLit>
          </c:val>
        </c:ser>
        <c:ser>
          <c:idx val="2"/>
          <c:order val="2"/>
          <c:tx>
            <c:v>Residual-ReLU</c:v>
          </c:tx>
          <c:spPr>
            <a:solidFill xmlns:a="http://schemas.openxmlformats.org/drawingml/2006/main">
              <a:srgbClr val="0F766E"/>
            </a:solidFill>
          </c:spPr>
          <c:cat>
            <c:strLit>
              <c:ptCount val="4"/>
              <c:pt idx="0">
                <c:v>Femur</c:v>
              </c:pt>
              <c:pt idx="1">
                <c:v>Tibia</c:v>
              </c:pt>
              <c:pt idx="2">
                <c:v>Patella</c:v>
              </c:pt>
              <c:pt idx="3">
                <c:v>Fibula</c:v>
              </c:pt>
            </c:strLit>
          </c:cat>
          <c:val>
            <c:numLit>
              <c:formatCode>General</c:formatCode>
              <c:ptCount val="4"/>
              <c:pt idx="0">
                <c:v>63.1</c:v>
              </c:pt>
              <c:pt idx="1">
                <c:v>62.7</c:v>
              </c:pt>
              <c:pt idx="2">
                <c:v>38</c:v>
              </c:pt>
              <c:pt idx="3">
                <c:v>18.3</c:v>
              </c:pt>
            </c:numLit>
          </c:val>
        </c:ser>
        <c:dLbls>
          <c:dLblPos val="outEnd"/>
          <c:showLegendKey val="0"/>
          <c:showVal val="1"/>
          <c:showCatName val="0"/>
          <c:showSerName val="0"/>
          <c:showPercent val="0"/>
          <c:showBubbleSize val="0"/>
          <c:showLeaderLines val="0"/>
        </c:dLbls>
        <c:gapWidth val="4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9DEE7"/>
            </a:solidFill>
            <a:prstDash val="solid"/>
          </a:ln>
        </c:spPr>
        <c:txPr>
          <a:bodyPr xmlns:a="http://schemas.openxmlformats.org/drawingml/2006/main" anchorCtr="1"/>
          <a:lstStyle xmlns:a="http://schemas.openxmlformats.org/drawingml/2006/main"/>
          <a:p xmlns:a="http://schemas.openxmlformats.org/drawingml/2006/main">
            <a:pPr>
              <a:defRPr sz="1350">
                <a:solidFill>
                  <a:srgbClr val="111827"/>
                </a:solidFill>
                <a:latin typeface="Arial"/>
                <a:ea typeface="Arial"/>
                <a:cs typeface="Arial"/>
              </a:defRPr>
            </a:pPr>
          </a:p>
        </c:txPr>
        <c:crossAx val="48672768"/>
        <c:lblAlgn val="ctr"/>
        <c:lblOffset val="100"/>
        <c:noMultiLvlLbl val="0"/>
      </c:catAx>
      <c:valAx>
        <c:axId val="48672768"/>
        <c:scaling>
          <c:orientation val="minMax"/>
          <c:max val="70"/>
          <c:min val="0"/>
        </c:scaling>
        <c:delete val="0"/>
        <c:axPos val="l"/>
        <c:majorGridlines>
          <c:spPr>
            <a:ln xmlns:a="http://schemas.openxmlformats.org/drawingml/2006/main" w="9525">
              <a:solidFill>
                <a:srgbClr val="D9DEE7"/>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5B6472"/>
                </a:solidFill>
                <a:latin typeface="Arial"/>
                <a:ea typeface="Arial"/>
                <a:cs typeface="Arial"/>
              </a:defRPr>
            </a:pPr>
          </a:p>
        </c:txPr>
        <c:crossAx val="48650112"/>
        <c:crossBetween val="between"/>
        <c:majorUnit val="10"/>
      </c:valAx>
      <c:spPr>
        <a:noFill xmlns:a="http://schemas.openxmlformats.org/drawingml/2006/main"/>
      </c:spPr>
    </c:plotArea>
    <c:legend>
      <c:legendPos val="b"/>
      <c:overlay val="0"/>
    </c:legend>
    <c:plotVisOnly val="1"/>
  </c:chart>
  <c:spPr>
    <a:solidFill xmlns:a="http://schemas.openxmlformats.org/drawingml/2006/main">
      <a:srgbClr val="FBFBFA"/>
    </a:solidFill>
    <a:ln xmlns:a="http://schemas.openxmlformats.org/drawingml/2006/main" w="0">
      <a:solidFill>
        <a:srgbClr val="FBFBFA"/>
      </a:solidFill>
      <a:prstDash val="solid"/>
    </a:ln>
  </c:spPr>
</c:chartSpace>
</file>

<file path=ppt/slides/charts/chart4.xml><?xml version="1.0" encoding="utf-8"?>
<c:chartSpace xmlns:c="http://schemas.openxmlformats.org/drawingml/2006/chart">
  <c:lang val="en-US"/>
  <c:chart>
    <c:plotArea>
      <c:barChart>
        <c:barDir val="col"/>
        <c:grouping val="clustered"/>
        <c:varyColors val="0"/>
        <c:ser>
          <c:idx val="0"/>
          <c:order val="0"/>
          <c:tx>
            <c:v>Healthy Dice (%)</c:v>
          </c:tx>
          <c:spPr>
            <a:solidFill xmlns:a="http://schemas.openxmlformats.org/drawingml/2006/main">
              <a:srgbClr val="2563EB"/>
            </a:solidFill>
          </c:spPr>
          <c:cat>
            <c:strLit>
              <c:ptCount val="4"/>
              <c:pt idx="0">
                <c:v>U-style</c:v>
              </c:pt>
              <c:pt idx="1">
                <c:v>V-style</c:v>
              </c:pt>
              <c:pt idx="2">
                <c:v>Residual-
ReLU</c:v>
              </c:pt>
              <c:pt idx="3">
                <c:v>Plain-
PReLU</c:v>
              </c:pt>
            </c:strLit>
          </c:cat>
          <c:val>
            <c:numLit>
              <c:formatCode>General</c:formatCode>
              <c:ptCount val="4"/>
              <c:pt idx="0">
                <c:v>43.7</c:v>
              </c:pt>
              <c:pt idx="1">
                <c:v>48</c:v>
              </c:pt>
              <c:pt idx="2">
                <c:v>48.9</c:v>
              </c:pt>
              <c:pt idx="3">
                <c:v>43.9</c:v>
              </c:pt>
            </c:numLit>
          </c:val>
        </c:ser>
        <c:ser>
          <c:idx val="1"/>
          <c:order val="1"/>
          <c:tx>
            <c:v>Fractured Dice (%)</c:v>
          </c:tx>
          <c:spPr>
            <a:solidFill xmlns:a="http://schemas.openxmlformats.org/drawingml/2006/main">
              <a:srgbClr val="D97706"/>
            </a:solidFill>
          </c:spPr>
          <c:cat>
            <c:strLit>
              <c:ptCount val="4"/>
              <c:pt idx="0">
                <c:v>U-style</c:v>
              </c:pt>
              <c:pt idx="1">
                <c:v>V-style</c:v>
              </c:pt>
              <c:pt idx="2">
                <c:v>Residual-
ReLU</c:v>
              </c:pt>
              <c:pt idx="3">
                <c:v>Plain-
PReLU</c:v>
              </c:pt>
            </c:strLit>
          </c:cat>
          <c:val>
            <c:numLit>
              <c:formatCode>General</c:formatCode>
              <c:ptCount val="4"/>
              <c:pt idx="0">
                <c:v>33.6</c:v>
              </c:pt>
              <c:pt idx="1">
                <c:v>36.5</c:v>
              </c:pt>
              <c:pt idx="2">
                <c:v>37.7</c:v>
              </c:pt>
              <c:pt idx="3">
                <c:v>33</c:v>
              </c:pt>
            </c:numLit>
          </c:val>
        </c:ser>
        <c:dLbls>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9DEE7"/>
            </a:solidFill>
            <a:prstDash val="solid"/>
          </a:ln>
        </c:spPr>
        <c:txPr>
          <a:bodyPr xmlns:a="http://schemas.openxmlformats.org/drawingml/2006/main" anchorCtr="1"/>
          <a:lstStyle xmlns:a="http://schemas.openxmlformats.org/drawingml/2006/main"/>
          <a:p xmlns:a="http://schemas.openxmlformats.org/drawingml/2006/main">
            <a:pPr>
              <a:defRPr sz="1275">
                <a:solidFill>
                  <a:srgbClr val="111827"/>
                </a:solidFill>
                <a:latin typeface="Arial"/>
                <a:ea typeface="Arial"/>
                <a:cs typeface="Arial"/>
              </a:defRPr>
            </a:pPr>
          </a:p>
        </c:txPr>
        <c:crossAx val="48672768"/>
        <c:lblAlgn val="ctr"/>
        <c:lblOffset val="100"/>
        <c:noMultiLvlLbl val="0"/>
      </c:catAx>
      <c:valAx>
        <c:axId val="48672768"/>
        <c:scaling>
          <c:orientation val="minMax"/>
          <c:max val="55"/>
          <c:min val="25"/>
        </c:scaling>
        <c:delete val="0"/>
        <c:axPos val="l"/>
        <c:majorGridlines>
          <c:spPr>
            <a:ln xmlns:a="http://schemas.openxmlformats.org/drawingml/2006/main" w="9525">
              <a:solidFill>
                <a:srgbClr val="D9DEE7"/>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5B6472"/>
                </a:solidFill>
                <a:latin typeface="Arial"/>
                <a:ea typeface="Arial"/>
                <a:cs typeface="Arial"/>
              </a:defRPr>
            </a:pPr>
          </a:p>
        </c:txPr>
        <c:crossAx val="48650112"/>
        <c:crossBetween val="between"/>
        <c:majorUnit val="10"/>
      </c:valAx>
      <c:spPr>
        <a:noFill xmlns:a="http://schemas.openxmlformats.org/drawingml/2006/main"/>
      </c:spPr>
    </c:plotArea>
    <c:legend>
      <c:legendPos val="b"/>
      <c:overlay val="0"/>
    </c:legend>
    <c:plotVisOnly val="1"/>
  </c:chart>
  <c:spPr>
    <a:solidFill xmlns:a="http://schemas.openxmlformats.org/drawingml/2006/main">
      <a:srgbClr val="FBFBFA"/>
    </a:solidFill>
    <a:ln xmlns:a="http://schemas.openxmlformats.org/drawingml/2006/main" w="0">
      <a:solidFill>
        <a:srgbClr val="FBFBFA"/>
      </a:solidFill>
      <a:prstDash val="solid"/>
    </a:ln>
  </c:spPr>
</c:chartSpace>
</file>

<file path=ppt/slides/slide1.xml><?xml version="1.0" encoding="utf-8"?>
<p:sld xmlns:p="http://schemas.openxmlformats.org/presentationml/2006/main">
  <p:cSld>
    <p:bg>
      <p:bgPr>
        <a:solidFill xmlns:a="http://schemas.openxmlformats.org/drawingml/2006/main">
          <a:srgbClr val="FBFBFA"/>
        </a:solidFill>
      </p:bgPr>
    </p:bg>
    <p:spTree>
      <p:nvGrpSpPr>
        <p:cNvPr id="1" name=""/>
        <p:cNvGrpSpPr/>
        <p:nvPr/>
      </p:nvGrpSpPr>
      <p:grpSpPr>
        <a:xfrm xmlns:a="http://schemas.openxmlformats.org/drawingml/2006/main"/>
      </p:grpSpPr>
      <p:sp>
        <p:nvSpPr>
          <p:cNvPr id="9" name="title-kicker">
            <a:extLst xmlns:a="http://schemas.openxmlformats.org/drawingml/2006/main">
              <a:ext uri="{FF2B5EF4-FFF2-40B4-BE49-F238E27FC236}">
                <a16:creationId xmlns:a16="http://schemas.microsoft.com/office/drawing/2014/main" id="{101FA307-91CA-412B-BD62-1DEE4C01B66F}"/>
              </a:ext>
            </a:extLst>
          </p:cNvPr>
          <p:cNvSpPr>
            <a:spLocks xmlns:a="http://schemas.openxmlformats.org/drawingml/2006/main" noGrp="1"/>
          </p:cNvSpPr>
          <p:nvPr/>
        </p:nvSpPr>
        <p:spPr>
          <a:xfrm xmlns:a="http://schemas.openxmlformats.org/drawingml/2006/main">
            <a:off x="400050" y="323850"/>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2563EB"/>
                </a:solidFill>
                <a:latin typeface="Arial"/>
                <a:ea typeface="Arial"/>
                <a:cs typeface="Arial"/>
              </a:defRPr>
            </a:pPr>
            <a:r>
              <a:rPr sz="1275" b="1">
                <a:solidFill>
                  <a:srgbClr val="2563EB"/>
                </a:solidFill>
                <a:latin typeface="Arial"/>
                <a:ea typeface="Arial"/>
                <a:cs typeface="Arial"/>
              </a:rPr>
              <a:t>CAPSTONE PROJECT 2</a:t>
            </a:r>
          </a:p>
        </p:txBody>
      </p:sp>
      <p:sp>
        <p:nvSpPr>
          <p:cNvPr id="2" name="title-main">
            <a:extLst xmlns:a="http://schemas.openxmlformats.org/drawingml/2006/main">
              <a:ext uri="{FF2B5EF4-FFF2-40B4-BE49-F238E27FC236}">
                <a16:creationId xmlns:a16="http://schemas.microsoft.com/office/drawing/2014/main" id="{6F3B876C-F8AE-434A-A3B3-5F21FF1AF657}"/>
              </a:ext>
            </a:extLst>
          </p:cNvPr>
          <p:cNvSpPr>
            <a:spLocks xmlns:a="http://schemas.openxmlformats.org/drawingml/2006/main" noGrp="1"/>
          </p:cNvSpPr>
          <p:nvPr/>
        </p:nvSpPr>
        <p:spPr>
          <a:xfrm xmlns:a="http://schemas.openxmlformats.org/drawingml/2006/main">
            <a:off x="400050" y="1066800"/>
            <a:ext cx="5429250" cy="2047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750" b="1">
                <a:solidFill>
                  <a:srgbClr val="111827"/>
                </a:solidFill>
                <a:latin typeface="Arial"/>
                <a:ea typeface="Arial"/>
                <a:cs typeface="Arial"/>
              </a:defRPr>
            </a:pPr>
            <a:r>
              <a:rPr sz="3750" b="1">
                <a:solidFill>
                  <a:srgbClr val="111827"/>
                </a:solidFill>
                <a:latin typeface="Arial"/>
                <a:ea typeface="Arial"/>
                <a:cs typeface="Arial"/>
              </a:rPr>
              <a:t>Fracture-Preserving</a:t>
            </a:r>
          </a:p>
          <a:p xmlns:a="http://schemas.openxmlformats.org/drawingml/2006/main">
            <a:pPr algn="l">
              <a:defRPr sz="3750" b="1">
                <a:solidFill>
                  <a:srgbClr val="111827"/>
                </a:solidFill>
                <a:latin typeface="Arial"/>
                <a:ea typeface="Arial"/>
                <a:cs typeface="Arial"/>
              </a:defRPr>
            </a:pPr>
            <a:r>
              <a:rPr sz="3750" b="1">
                <a:solidFill>
                  <a:srgbClr val="111827"/>
                </a:solidFill>
                <a:latin typeface="Arial"/>
                <a:ea typeface="Arial"/>
                <a:cs typeface="Arial"/>
              </a:rPr>
              <a:t>3D Knee Reconstruction</a:t>
            </a:r>
          </a:p>
        </p:txBody>
      </p:sp>
      <p:sp>
        <p:nvSpPr>
          <p:cNvPr id="3" name="title-sub">
            <a:extLst xmlns:a="http://schemas.openxmlformats.org/drawingml/2006/main">
              <a:ext uri="{FF2B5EF4-FFF2-40B4-BE49-F238E27FC236}">
                <a16:creationId xmlns:a16="http://schemas.microsoft.com/office/drawing/2014/main" id="{0B774B04-2C57-41C8-BB6E-A2383AAE66DA}"/>
              </a:ext>
            </a:extLst>
          </p:cNvPr>
          <p:cNvSpPr>
            <a:spLocks xmlns:a="http://schemas.openxmlformats.org/drawingml/2006/main" noGrp="1"/>
          </p:cNvSpPr>
          <p:nvPr/>
        </p:nvSpPr>
        <p:spPr>
          <a:xfrm xmlns:a="http://schemas.openxmlformats.org/drawingml/2006/main">
            <a:off x="400050" y="3390900"/>
            <a:ext cx="5286375"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950" b="0">
                <a:solidFill>
                  <a:srgbClr val="5B6472"/>
                </a:solidFill>
                <a:latin typeface="Arial"/>
                <a:ea typeface="Arial"/>
                <a:cs typeface="Arial"/>
              </a:defRPr>
            </a:pPr>
            <a:r>
              <a:rPr sz="1950" b="0">
                <a:solidFill>
                  <a:srgbClr val="5B6472"/>
                </a:solidFill>
                <a:latin typeface="Arial"/>
                <a:ea typeface="Arial"/>
                <a:cs typeface="Arial"/>
              </a:rPr>
              <a:t>A controlled comparison of U-Net-style and V-Net-style decoder blocks</a:t>
            </a:r>
          </a:p>
        </p:txBody>
      </p:sp>
      <p:sp>
        <p:nvSpPr>
          <p:cNvPr id="4" name="title-meta">
            <a:extLst xmlns:a="http://schemas.openxmlformats.org/drawingml/2006/main">
              <a:ext uri="{FF2B5EF4-FFF2-40B4-BE49-F238E27FC236}">
                <a16:creationId xmlns:a16="http://schemas.microsoft.com/office/drawing/2014/main" id="{B78AAB8E-61B7-4A27-B998-00D9C8E2CE8A}"/>
              </a:ext>
            </a:extLst>
          </p:cNvPr>
          <p:cNvSpPr>
            <a:spLocks xmlns:a="http://schemas.openxmlformats.org/drawingml/2006/main" noGrp="1"/>
          </p:cNvSpPr>
          <p:nvPr/>
        </p:nvSpPr>
        <p:spPr>
          <a:xfrm xmlns:a="http://schemas.openxmlformats.org/drawingml/2006/main">
            <a:off x="400050" y="5314950"/>
            <a:ext cx="4953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111827"/>
                </a:solidFill>
                <a:latin typeface="Arial"/>
                <a:ea typeface="Arial"/>
                <a:cs typeface="Arial"/>
              </a:defRPr>
            </a:pPr>
            <a:r>
              <a:rPr sz="1425" b="0">
                <a:solidFill>
                  <a:srgbClr val="111827"/>
                </a:solidFill>
                <a:latin typeface="Arial"/>
                <a:ea typeface="Arial"/>
                <a:cs typeface="Arial"/>
              </a:rPr>
              <a:t>CHAN ZHENG SHAO  ·  24020059</a:t>
            </a:r>
          </a:p>
          <a:p xmlns:a="http://schemas.openxmlformats.org/drawingml/2006/main">
            <a:pPr algn="l">
              <a:defRPr sz="1425" b="0">
                <a:solidFill>
                  <a:srgbClr val="111827"/>
                </a:solidFill>
                <a:latin typeface="Arial"/>
                <a:ea typeface="Arial"/>
                <a:cs typeface="Arial"/>
              </a:defRPr>
            </a:pPr>
            <a:r>
              <a:rPr sz="1425" b="0">
                <a:solidFill>
                  <a:srgbClr val="111827"/>
                </a:solidFill>
                <a:latin typeface="Arial"/>
                <a:ea typeface="Arial"/>
                <a:cs typeface="Arial"/>
              </a:rPr>
              <a:t>Supervisor: Prof. Ts. Dr Lee Yun Li</a:t>
            </a:r>
          </a:p>
        </p:txBody>
      </p:sp>
      <p:sp>
        <p:nvSpPr>
          <p:cNvPr id="5" name="hero-back">
            <a:extLst xmlns:a="http://schemas.openxmlformats.org/drawingml/2006/main">
              <a:ext uri="{FF2B5EF4-FFF2-40B4-BE49-F238E27FC236}">
                <a16:creationId xmlns:a16="http://schemas.microsoft.com/office/drawing/2014/main" id="{6D11265D-BEEB-4C95-984E-E5758BF24E99}"/>
              </a:ext>
            </a:extLst>
          </p:cNvPr>
          <p:cNvSpPr>
            <a:spLocks xmlns:a="http://schemas.openxmlformats.org/drawingml/2006/main" noGrp="1"/>
          </p:cNvSpPr>
          <p:nvPr/>
        </p:nvSpPr>
        <p:spPr>
          <a:xfrm xmlns:a="http://schemas.openxmlformats.org/drawingml/2006/main">
            <a:off x="6238875" y="400050"/>
            <a:ext cx="5562600" cy="5619750"/>
          </a:xfrm>
          <a:prstGeom xmlns:a="http://schemas.openxmlformats.org/drawingml/2006/main" prst="roundRect">
            <a:avLst>
              <a:gd name="adj" fmla="val 2055"/>
            </a:avLst>
          </a:prstGeom>
          <a:solidFill xmlns:a="http://schemas.openxmlformats.org/drawingml/2006/main">
            <a:srgbClr val="EAF5FB"/>
          </a:solidFill>
          <a:ln xmlns:a="http://schemas.openxmlformats.org/drawingml/2006/main" w="9525">
            <a:solidFill>
              <a:srgbClr val="D9DEE7"/>
            </a:solidFill>
            <a:prstDash val="solid"/>
          </a:ln>
        </p:spPr>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500ec9451e26462a"/>
          <a:stretch xmlns:a="http://schemas.openxmlformats.org/drawingml/2006/main"/>
        </p:blipFill>
        <p:spPr>
          <a:xfrm xmlns:a="http://schemas.openxmlformats.org/drawingml/2006/main">
            <a:off x="6457950" y="1535727"/>
            <a:ext cx="5124450" cy="2929296"/>
          </a:xfrm>
          <a:prstGeom xmlns:a="http://schemas.openxmlformats.org/drawingml/2006/main" prst="roundRect">
            <a:avLst>
              <a:gd name="adj" fmla="val 3061"/>
            </a:avLst>
          </a:prstGeom>
        </p:spPr>
      </p:pic>
      <p:sp>
        <p:nvSpPr>
          <p:cNvPr id="7" name="hero-caption">
            <a:extLst xmlns:a="http://schemas.openxmlformats.org/drawingml/2006/main">
              <a:ext uri="{FF2B5EF4-FFF2-40B4-BE49-F238E27FC236}">
                <a16:creationId xmlns:a16="http://schemas.microsoft.com/office/drawing/2014/main" id="{CB6F9179-FF5B-4F70-A9B0-501699DE2CAE}"/>
              </a:ext>
            </a:extLst>
          </p:cNvPr>
          <p:cNvSpPr>
            <a:spLocks xmlns:a="http://schemas.openxmlformats.org/drawingml/2006/main" noGrp="1"/>
          </p:cNvSpPr>
          <p:nvPr/>
        </p:nvSpPr>
        <p:spPr>
          <a:xfrm xmlns:a="http://schemas.openxmlformats.org/drawingml/2006/main">
            <a:off x="6572250" y="5048250"/>
            <a:ext cx="4762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725" b="1">
                <a:solidFill>
                  <a:srgbClr val="0F766E"/>
                </a:solidFill>
                <a:latin typeface="Arial"/>
                <a:ea typeface="Arial"/>
                <a:cs typeface="Arial"/>
              </a:defRPr>
            </a:pPr>
            <a:r>
              <a:rPr sz="1725" b="1">
                <a:solidFill>
                  <a:srgbClr val="0F766E"/>
                </a:solidFill>
                <a:latin typeface="Arial"/>
                <a:ea typeface="Arial"/>
                <a:cs typeface="Arial"/>
              </a:rPr>
              <a:t>Paired AP + lateral projections</a:t>
            </a:r>
          </a:p>
          <a:p xmlns:a="http://schemas.openxmlformats.org/drawingml/2006/main">
            <a:pPr algn="ctr">
              <a:defRPr sz="1725" b="1">
                <a:solidFill>
                  <a:srgbClr val="0F766E"/>
                </a:solidFill>
                <a:latin typeface="Arial"/>
                <a:ea typeface="Arial"/>
                <a:cs typeface="Arial"/>
              </a:defRPr>
            </a:pPr>
            <a:r>
              <a:rPr sz="1725" b="1">
                <a:solidFill>
                  <a:srgbClr val="0F766E"/>
                </a:solidFill>
                <a:latin typeface="Arial"/>
                <a:ea typeface="Arial"/>
                <a:cs typeface="Arial"/>
              </a:rPr>
              <a:t>→ four-bone 3D occupancy</a:t>
            </a:r>
          </a:p>
        </p:txBody>
      </p:sp>
      <p:sp>
        <p:nvSpPr>
          <p:cNvPr id="8" name="page-1">
            <a:extLst xmlns:a="http://schemas.openxmlformats.org/drawingml/2006/main">
              <a:ext uri="{FF2B5EF4-FFF2-40B4-BE49-F238E27FC236}">
                <a16:creationId xmlns:a16="http://schemas.microsoft.com/office/drawing/2014/main" id="{F6B9ACA3-5A9C-4163-809E-0B1B1FB0955A}"/>
              </a:ext>
            </a:extLst>
          </p:cNvPr>
          <p:cNvSpPr>
            <a:spLocks xmlns:a="http://schemas.openxmlformats.org/drawingml/2006/main" noGrp="1"/>
          </p:cNvSpPr>
          <p:nvPr/>
        </p:nvSpPr>
        <p:spPr>
          <a:xfrm xmlns:a="http://schemas.openxmlformats.org/drawingml/2006/main">
            <a:off x="11239500" y="6400800"/>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050" b="0">
                <a:solidFill>
                  <a:srgbClr val="5B6472"/>
                </a:solidFill>
                <a:latin typeface="Arial"/>
                <a:ea typeface="Arial"/>
                <a:cs typeface="Arial"/>
              </a:defRPr>
            </a:pPr>
            <a:r>
              <a:rPr sz="1050" b="0">
                <a:solidFill>
                  <a:srgbClr val="5B6472"/>
                </a:solidFill>
                <a:latin typeface="Arial"/>
                <a:ea typeface="Arial"/>
                <a:cs typeface="Arial"/>
              </a:rPr>
              <a:t>01</a:t>
            </a:r>
          </a:p>
        </p:txBody>
      </p:sp>
    </p:spTree>
    <p:extLst>
      <p:ext uri="{BB962C8B-B14F-4D97-AF65-F5344CB8AC3E}">
        <p14:creationId xmlns:p14="http://schemas.microsoft.com/office/powerpoint/2010/main" val="927466706"/>
      </p:ext>
    </p:extLst>
  </p:cSld>
</p:sld>
</file>

<file path=ppt/slides/slide2.xml><?xml version="1.0" encoding="utf-8"?>
<p:sld xmlns:p="http://schemas.openxmlformats.org/presentationml/2006/main">
  <p:cSld>
    <p:bg>
      <p:bgPr>
        <a:solidFill xmlns:a="http://schemas.openxmlformats.org/drawingml/2006/main">
          <a:srgbClr val="FBFBFA"/>
        </a:solidFill>
      </p:bgPr>
    </p:bg>
    <p:spTree>
      <p:nvGrpSpPr>
        <p:cNvPr id="1" name=""/>
        <p:cNvGrpSpPr/>
        <p:nvPr/>
      </p:nvGrpSpPr>
      <p:grpSpPr>
        <a:xfrm xmlns:a="http://schemas.openxmlformats.org/drawingml/2006/main"/>
      </p:grpSpPr>
      <p:sp>
        <p:nvSpPr>
          <p:cNvPr id="14" name="section-2">
            <a:extLst xmlns:a="http://schemas.openxmlformats.org/drawingml/2006/main">
              <a:ext uri="{FF2B5EF4-FFF2-40B4-BE49-F238E27FC236}">
                <a16:creationId xmlns:a16="http://schemas.microsoft.com/office/drawing/2014/main" id="{5F7CB7DE-2D76-4760-B31A-FDADEBC65731}"/>
              </a:ext>
            </a:extLst>
          </p:cNvPr>
          <p:cNvSpPr>
            <a:spLocks xmlns:a="http://schemas.openxmlformats.org/drawingml/2006/main" noGrp="1"/>
          </p:cNvSpPr>
          <p:nvPr/>
        </p:nvSpPr>
        <p:spPr>
          <a:xfrm xmlns:a="http://schemas.openxmlformats.org/drawingml/2006/main">
            <a:off x="400050" y="238125"/>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563EB"/>
                </a:solidFill>
                <a:latin typeface="Arial"/>
                <a:ea typeface="Arial"/>
                <a:cs typeface="Arial"/>
              </a:defRPr>
            </a:pPr>
            <a:r>
              <a:rPr sz="1125" b="1">
                <a:solidFill>
                  <a:srgbClr val="2563EB"/>
                </a:solidFill>
                <a:latin typeface="Arial"/>
                <a:ea typeface="Arial"/>
                <a:cs typeface="Arial"/>
              </a:rPr>
              <a:t>TOPIC KNOWLEDGE</a:t>
            </a:r>
          </a:p>
        </p:txBody>
      </p:sp>
      <p:sp>
        <p:nvSpPr>
          <p:cNvPr id="2" name="title-2">
            <a:extLst xmlns:a="http://schemas.openxmlformats.org/drawingml/2006/main">
              <a:ext uri="{FF2B5EF4-FFF2-40B4-BE49-F238E27FC236}">
                <a16:creationId xmlns:a16="http://schemas.microsoft.com/office/drawing/2014/main" id="{120C978E-A1C3-4E03-B472-4E655F6EBF78}"/>
              </a:ext>
            </a:extLst>
          </p:cNvPr>
          <p:cNvSpPr>
            <a:spLocks xmlns:a="http://schemas.openxmlformats.org/drawingml/2006/main" noGrp="1"/>
          </p:cNvSpPr>
          <p:nvPr/>
        </p:nvSpPr>
        <p:spPr>
          <a:xfrm xmlns:a="http://schemas.openxmlformats.org/drawingml/2006/main">
            <a:off x="400050" y="552450"/>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525" b="1">
                <a:solidFill>
                  <a:srgbClr val="111827"/>
                </a:solidFill>
                <a:latin typeface="Arial"/>
                <a:ea typeface="Arial"/>
                <a:cs typeface="Arial"/>
              </a:defRPr>
            </a:pPr>
            <a:r>
              <a:rPr sz="3525" b="1">
                <a:solidFill>
                  <a:srgbClr val="111827"/>
                </a:solidFill>
                <a:latin typeface="Arial"/>
                <a:ea typeface="Arial"/>
                <a:cs typeface="Arial"/>
              </a:rPr>
              <a:t>Two X-rays are accessible—but 3D fracture morphology remains ambiguous</a:t>
            </a:r>
          </a:p>
        </p:txBody>
      </p:sp>
      <p:cxnSp>
        <p:nvCxnSpPr>
          <p:cNvPr id="16" name="rule-2"/>
          <p:cNvCxnSpPr/>
          <p:nvPr/>
        </p:nvCxnSpPr>
        <p:spPr>
          <a:xfrm xmlns:a="http://schemas.openxmlformats.org/drawingml/2006/main">
            <a:off x="400050" y="1285875"/>
            <a:ext cx="11391900" cy="0"/>
          </a:xfrm>
          <a:prstGeom xmlns:a="http://schemas.openxmlformats.org/drawingml/2006/main" prst="straightConnector1">
            <a:avLst/>
          </a:prstGeom>
          <a:ln xmlns:a="http://schemas.openxmlformats.org/drawingml/2006/main" w="9525">
            <a:solidFill>
              <a:srgbClr val="D9DEE7"/>
            </a:solidFill>
            <a:prstDash val="solid"/>
          </a:ln>
        </p:spPr>
      </p:cxnSp>
      <p:sp>
        <p:nvSpPr>
          <p:cNvPr id="4" name="source-2">
            <a:extLst xmlns:a="http://schemas.openxmlformats.org/drawingml/2006/main">
              <a:ext uri="{FF2B5EF4-FFF2-40B4-BE49-F238E27FC236}">
                <a16:creationId xmlns:a16="http://schemas.microsoft.com/office/drawing/2014/main" id="{BC04CA4B-6AF2-42C3-A5A5-AA6F993ABE63}"/>
              </a:ext>
            </a:extLst>
          </p:cNvPr>
          <p:cNvSpPr>
            <a:spLocks xmlns:a="http://schemas.openxmlformats.org/drawingml/2006/main" noGrp="1"/>
          </p:cNvSpPr>
          <p:nvPr/>
        </p:nvSpPr>
        <p:spPr>
          <a:xfrm xmlns:a="http://schemas.openxmlformats.org/drawingml/2006/main">
            <a:off x="400050" y="6429375"/>
            <a:ext cx="381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5B6472"/>
                </a:solidFill>
                <a:latin typeface="Arial"/>
                <a:ea typeface="Arial"/>
                <a:cs typeface="Arial"/>
              </a:defRPr>
            </a:pPr>
            <a:r>
              <a:rPr sz="900" b="0">
                <a:solidFill>
                  <a:srgbClr val="5B6472"/>
                </a:solidFill>
                <a:latin typeface="Arial"/>
                <a:ea typeface="Arial"/>
                <a:cs typeface="Arial"/>
              </a:rPr>
              <a:t>Report pp. 10–11, 22–23</a:t>
            </a:r>
          </a:p>
        </p:txBody>
      </p:sp>
      <p:sp>
        <p:nvSpPr>
          <p:cNvPr id="5" name="page-2">
            <a:extLst xmlns:a="http://schemas.openxmlformats.org/drawingml/2006/main">
              <a:ext uri="{FF2B5EF4-FFF2-40B4-BE49-F238E27FC236}">
                <a16:creationId xmlns:a16="http://schemas.microsoft.com/office/drawing/2014/main" id="{375BDA75-F709-46C1-9F79-E54AB71A7D7F}"/>
              </a:ext>
            </a:extLst>
          </p:cNvPr>
          <p:cNvSpPr>
            <a:spLocks xmlns:a="http://schemas.openxmlformats.org/drawingml/2006/main" noGrp="1"/>
          </p:cNvSpPr>
          <p:nvPr/>
        </p:nvSpPr>
        <p:spPr>
          <a:xfrm xmlns:a="http://schemas.openxmlformats.org/drawingml/2006/main">
            <a:off x="11239500" y="6400800"/>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050" b="0">
                <a:solidFill>
                  <a:srgbClr val="5B6472"/>
                </a:solidFill>
                <a:latin typeface="Arial"/>
                <a:ea typeface="Arial"/>
                <a:cs typeface="Arial"/>
              </a:defRPr>
            </a:pPr>
            <a:r>
              <a:rPr sz="1050" b="0">
                <a:solidFill>
                  <a:srgbClr val="5B6472"/>
                </a:solidFill>
                <a:latin typeface="Arial"/>
                <a:ea typeface="Arial"/>
                <a:cs typeface="Arial"/>
              </a:rPr>
              <a:t>02</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e739a06639754e3f"/>
          <a:stretch xmlns:a="http://schemas.openxmlformats.org/drawingml/2006/main"/>
        </p:blipFill>
        <p:spPr>
          <a:xfrm xmlns:a="http://schemas.openxmlformats.org/drawingml/2006/main">
            <a:off x="406963" y="1695450"/>
            <a:ext cx="5415423" cy="3095625"/>
          </a:xfrm>
          <a:prstGeom xmlns:a="http://schemas.openxmlformats.org/drawingml/2006/main" prst="roundRect">
            <a:avLst>
              <a:gd name="adj" fmla="val 3692"/>
            </a:avLst>
          </a:prstGeom>
        </p:spPr>
      </p:pic>
      <p:sp>
        <p:nvSpPr>
          <p:cNvPr id="7" name="projection-caption">
            <a:extLst xmlns:a="http://schemas.openxmlformats.org/drawingml/2006/main">
              <a:ext uri="{FF2B5EF4-FFF2-40B4-BE49-F238E27FC236}">
                <a16:creationId xmlns:a16="http://schemas.microsoft.com/office/drawing/2014/main" id="{072962CE-E1DF-4BF0-B218-9DCCF5489DFB}"/>
              </a:ext>
            </a:extLst>
          </p:cNvPr>
          <p:cNvSpPr>
            <a:spLocks xmlns:a="http://schemas.openxmlformats.org/drawingml/2006/main" noGrp="1"/>
          </p:cNvSpPr>
          <p:nvPr/>
        </p:nvSpPr>
        <p:spPr>
          <a:xfrm xmlns:a="http://schemas.openxmlformats.org/drawingml/2006/main">
            <a:off x="523875" y="4953000"/>
            <a:ext cx="5191125"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0">
                <a:solidFill>
                  <a:srgbClr val="5B6472"/>
                </a:solidFill>
                <a:latin typeface="Arial"/>
                <a:ea typeface="Arial"/>
                <a:cs typeface="Arial"/>
              </a:defRPr>
            </a:pPr>
            <a:r>
              <a:rPr sz="1800" b="0">
                <a:solidFill>
                  <a:srgbClr val="5B6472"/>
                </a:solidFill>
                <a:latin typeface="Arial"/>
                <a:ea typeface="Arial"/>
                <a:cs typeface="Arial"/>
              </a:rPr>
              <a:t>Each view loses depth; overlap means several 3D anatomies can produce similar projections.</a:t>
            </a:r>
          </a:p>
        </p:txBody>
      </p:sp>
      <p:sp>
        <p:nvSpPr>
          <p:cNvPr id="8" name="gap-1-dot">
            <a:extLst xmlns:a="http://schemas.openxmlformats.org/drawingml/2006/main">
              <a:ext uri="{FF2B5EF4-FFF2-40B4-BE49-F238E27FC236}">
                <a16:creationId xmlns:a16="http://schemas.microsoft.com/office/drawing/2014/main" id="{EB009076-D1B0-4E16-B972-8371121E4921}"/>
              </a:ext>
            </a:extLst>
          </p:cNvPr>
          <p:cNvSpPr>
            <a:spLocks xmlns:a="http://schemas.openxmlformats.org/drawingml/2006/main" noGrp="1"/>
          </p:cNvSpPr>
          <p:nvPr/>
        </p:nvSpPr>
        <p:spPr>
          <a:xfrm xmlns:a="http://schemas.openxmlformats.org/drawingml/2006/main">
            <a:off x="6267450" y="1828800"/>
            <a:ext cx="95250" cy="9525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9" name="gap-1-text">
            <a:extLst xmlns:a="http://schemas.openxmlformats.org/drawingml/2006/main">
              <a:ext uri="{FF2B5EF4-FFF2-40B4-BE49-F238E27FC236}">
                <a16:creationId xmlns:a16="http://schemas.microsoft.com/office/drawing/2014/main" id="{5B5495F8-34FA-4972-B589-1074B6A3713E}"/>
              </a:ext>
            </a:extLst>
          </p:cNvPr>
          <p:cNvSpPr>
            <a:spLocks xmlns:a="http://schemas.openxmlformats.org/drawingml/2006/main" noGrp="1"/>
          </p:cNvSpPr>
          <p:nvPr/>
        </p:nvSpPr>
        <p:spPr>
          <a:xfrm xmlns:a="http://schemas.openxmlformats.org/drawingml/2006/main">
            <a:off x="6477000" y="1743075"/>
            <a:ext cx="51244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0">
                <a:solidFill>
                  <a:srgbClr val="111827"/>
                </a:solidFill>
                <a:latin typeface="Arial"/>
                <a:ea typeface="Arial"/>
                <a:cs typeface="Arial"/>
              </a:defRPr>
            </a:pPr>
            <a:r>
              <a:rPr sz="1725" b="0">
                <a:solidFill>
                  <a:srgbClr val="111827"/>
                </a:solidFill>
                <a:latin typeface="Arial"/>
                <a:ea typeface="Arial"/>
                <a:cs typeface="Arial"/>
              </a:rPr>
              <a:t>AP and lateral views are complementary, but the inverse problem remains underdetermined.</a:t>
            </a:r>
          </a:p>
        </p:txBody>
      </p:sp>
      <p:sp>
        <p:nvSpPr>
          <p:cNvPr id="10" name="gap-2-dot">
            <a:extLst xmlns:a="http://schemas.openxmlformats.org/drawingml/2006/main">
              <a:ext uri="{FF2B5EF4-FFF2-40B4-BE49-F238E27FC236}">
                <a16:creationId xmlns:a16="http://schemas.microsoft.com/office/drawing/2014/main" id="{FD4E7786-A9B5-44B7-8DC1-B74654FB847F}"/>
              </a:ext>
            </a:extLst>
          </p:cNvPr>
          <p:cNvSpPr>
            <a:spLocks xmlns:a="http://schemas.openxmlformats.org/drawingml/2006/main" noGrp="1"/>
          </p:cNvSpPr>
          <p:nvPr/>
        </p:nvSpPr>
        <p:spPr>
          <a:xfrm xmlns:a="http://schemas.openxmlformats.org/drawingml/2006/main">
            <a:off x="6267450" y="2847975"/>
            <a:ext cx="95250" cy="95250"/>
          </a:xfrm>
          <a:prstGeom xmlns:a="http://schemas.openxmlformats.org/drawingml/2006/main" prst="ellipse">
            <a:avLst/>
          </a:prstGeom>
          <a:solidFill xmlns:a="http://schemas.openxmlformats.org/drawingml/2006/main">
            <a:srgbClr val="0F766E"/>
          </a:solidFill>
          <a:ln xmlns:a="http://schemas.openxmlformats.org/drawingml/2006/main" w="0">
            <a:solidFill>
              <a:srgbClr val="0F766E"/>
            </a:solidFill>
            <a:prstDash val="solid"/>
          </a:ln>
        </p:spPr>
      </p:sp>
      <p:sp>
        <p:nvSpPr>
          <p:cNvPr id="11" name="gap-2-text">
            <a:extLst xmlns:a="http://schemas.openxmlformats.org/drawingml/2006/main">
              <a:ext uri="{FF2B5EF4-FFF2-40B4-BE49-F238E27FC236}">
                <a16:creationId xmlns:a16="http://schemas.microsoft.com/office/drawing/2014/main" id="{6D5A3DA3-88F4-44E2-AE9B-E67F2A5167B8}"/>
              </a:ext>
            </a:extLst>
          </p:cNvPr>
          <p:cNvSpPr>
            <a:spLocks xmlns:a="http://schemas.openxmlformats.org/drawingml/2006/main" noGrp="1"/>
          </p:cNvSpPr>
          <p:nvPr/>
        </p:nvSpPr>
        <p:spPr>
          <a:xfrm xmlns:a="http://schemas.openxmlformats.org/drawingml/2006/main">
            <a:off x="6477000" y="2762250"/>
            <a:ext cx="51244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0">
                <a:solidFill>
                  <a:srgbClr val="111827"/>
                </a:solidFill>
                <a:latin typeface="Arial"/>
                <a:ea typeface="Arial"/>
                <a:cs typeface="Arial"/>
              </a:defRPr>
            </a:pPr>
            <a:r>
              <a:rPr sz="1725" b="0">
                <a:solidFill>
                  <a:srgbClr val="111827"/>
                </a:solidFill>
                <a:latin typeface="Arial"/>
                <a:ea typeface="Arial"/>
                <a:cs typeface="Arial"/>
              </a:rPr>
              <a:t>CT reveals fragments and articular geometry, but adds radiation, cost, infrastructure and segmentation work.</a:t>
            </a:r>
          </a:p>
        </p:txBody>
      </p:sp>
      <p:sp>
        <p:nvSpPr>
          <p:cNvPr id="12" name="gap-3-dot">
            <a:extLst xmlns:a="http://schemas.openxmlformats.org/drawingml/2006/main">
              <a:ext uri="{FF2B5EF4-FFF2-40B4-BE49-F238E27FC236}">
                <a16:creationId xmlns:a16="http://schemas.microsoft.com/office/drawing/2014/main" id="{504A12BF-2E8E-4CEE-8C54-53D752CB15A4}"/>
              </a:ext>
            </a:extLst>
          </p:cNvPr>
          <p:cNvSpPr>
            <a:spLocks xmlns:a="http://schemas.openxmlformats.org/drawingml/2006/main" noGrp="1"/>
          </p:cNvSpPr>
          <p:nvPr/>
        </p:nvSpPr>
        <p:spPr>
          <a:xfrm xmlns:a="http://schemas.openxmlformats.org/drawingml/2006/main">
            <a:off x="6267450" y="4095750"/>
            <a:ext cx="95250" cy="95250"/>
          </a:xfrm>
          <a:prstGeom xmlns:a="http://schemas.openxmlformats.org/drawingml/2006/main" prst="ellipse">
            <a:avLst/>
          </a:prstGeom>
          <a:solidFill xmlns:a="http://schemas.openxmlformats.org/drawingml/2006/main">
            <a:srgbClr val="D97706"/>
          </a:solidFill>
          <a:ln xmlns:a="http://schemas.openxmlformats.org/drawingml/2006/main" w="0">
            <a:solidFill>
              <a:srgbClr val="D97706"/>
            </a:solidFill>
            <a:prstDash val="solid"/>
          </a:ln>
        </p:spPr>
      </p:sp>
      <p:sp>
        <p:nvSpPr>
          <p:cNvPr id="13" name="gap-3-text">
            <a:extLst xmlns:a="http://schemas.openxmlformats.org/drawingml/2006/main">
              <a:ext uri="{FF2B5EF4-FFF2-40B4-BE49-F238E27FC236}">
                <a16:creationId xmlns:a16="http://schemas.microsoft.com/office/drawing/2014/main" id="{C39ABCAE-9E08-4C9F-80BD-71E4E060675F}"/>
              </a:ext>
            </a:extLst>
          </p:cNvPr>
          <p:cNvSpPr>
            <a:spLocks xmlns:a="http://schemas.openxmlformats.org/drawingml/2006/main" noGrp="1"/>
          </p:cNvSpPr>
          <p:nvPr/>
        </p:nvSpPr>
        <p:spPr>
          <a:xfrm xmlns:a="http://schemas.openxmlformats.org/drawingml/2006/main">
            <a:off x="6477000" y="4010025"/>
            <a:ext cx="51244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0">
                <a:solidFill>
                  <a:srgbClr val="111827"/>
                </a:solidFill>
                <a:latin typeface="Arial"/>
                <a:ea typeface="Arial"/>
                <a:cs typeface="Arial"/>
              </a:defRPr>
            </a:pPr>
            <a:r>
              <a:rPr sz="1725" b="0">
                <a:solidFill>
                  <a:srgbClr val="111827"/>
                </a:solidFill>
                <a:latin typeface="Arial"/>
                <a:ea typeface="Arial"/>
                <a:cs typeface="Arial"/>
              </a:rPr>
              <a:t>The intended role is an adjunct: more 3D information from common radiographs—not a replacement for CT in complex trauma.</a:t>
            </a:r>
          </a:p>
        </p:txBody>
      </p:sp>
    </p:spTree>
    <p:extLst>
      <p:ext uri="{BB962C8B-B14F-4D97-AF65-F5344CB8AC3E}">
        <p14:creationId xmlns:p14="http://schemas.microsoft.com/office/powerpoint/2010/main" val="474132317"/>
      </p:ext>
    </p:extLst>
  </p:cSld>
</p:sld>
</file>

<file path=ppt/slides/slide3.xml><?xml version="1.0" encoding="utf-8"?>
<p:sld xmlns:p="http://schemas.openxmlformats.org/presentationml/2006/main">
  <p:cSld>
    <p:bg>
      <p:bgPr>
        <a:solidFill xmlns:a="http://schemas.openxmlformats.org/drawingml/2006/main">
          <a:srgbClr val="FBFBFA"/>
        </a:solidFill>
      </p:bgPr>
    </p:bg>
    <p:spTree>
      <p:nvGrpSpPr>
        <p:cNvPr id="1" name=""/>
        <p:cNvGrpSpPr/>
        <p:nvPr/>
      </p:nvGrpSpPr>
      <p:grpSpPr>
        <a:xfrm xmlns:a="http://schemas.openxmlformats.org/drawingml/2006/main"/>
      </p:grpSpPr>
      <p:sp>
        <p:nvSpPr>
          <p:cNvPr id="14" name="section-3">
            <a:extLst xmlns:a="http://schemas.openxmlformats.org/drawingml/2006/main">
              <a:ext uri="{FF2B5EF4-FFF2-40B4-BE49-F238E27FC236}">
                <a16:creationId xmlns:a16="http://schemas.microsoft.com/office/drawing/2014/main" id="{E214BA45-DBC5-4104-9C14-3057012F1534}"/>
              </a:ext>
            </a:extLst>
          </p:cNvPr>
          <p:cNvSpPr>
            <a:spLocks xmlns:a="http://schemas.openxmlformats.org/drawingml/2006/main" noGrp="1"/>
          </p:cNvSpPr>
          <p:nvPr/>
        </p:nvSpPr>
        <p:spPr>
          <a:xfrm xmlns:a="http://schemas.openxmlformats.org/drawingml/2006/main">
            <a:off x="400050" y="238125"/>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563EB"/>
                </a:solidFill>
                <a:latin typeface="Arial"/>
                <a:ea typeface="Arial"/>
                <a:cs typeface="Arial"/>
              </a:defRPr>
            </a:pPr>
            <a:r>
              <a:rPr sz="1125" b="1">
                <a:solidFill>
                  <a:srgbClr val="2563EB"/>
                </a:solidFill>
                <a:latin typeface="Arial"/>
                <a:ea typeface="Arial"/>
                <a:cs typeface="Arial"/>
              </a:rPr>
              <a:t>TOPIC KNOWLEDGE</a:t>
            </a:r>
          </a:p>
        </p:txBody>
      </p:sp>
      <p:sp>
        <p:nvSpPr>
          <p:cNvPr id="2" name="title-3">
            <a:extLst xmlns:a="http://schemas.openxmlformats.org/drawingml/2006/main">
              <a:ext uri="{FF2B5EF4-FFF2-40B4-BE49-F238E27FC236}">
                <a16:creationId xmlns:a16="http://schemas.microsoft.com/office/drawing/2014/main" id="{92B8F393-CC72-4185-840A-77AFC99FB5BC}"/>
              </a:ext>
            </a:extLst>
          </p:cNvPr>
          <p:cNvSpPr>
            <a:spLocks xmlns:a="http://schemas.openxmlformats.org/drawingml/2006/main" noGrp="1"/>
          </p:cNvSpPr>
          <p:nvPr/>
        </p:nvSpPr>
        <p:spPr>
          <a:xfrm xmlns:a="http://schemas.openxmlformats.org/drawingml/2006/main">
            <a:off x="400050" y="552450"/>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525" b="1">
                <a:solidFill>
                  <a:srgbClr val="111827"/>
                </a:solidFill>
                <a:latin typeface="Arial"/>
                <a:ea typeface="Arial"/>
                <a:cs typeface="Arial"/>
              </a:defRPr>
            </a:pPr>
            <a:r>
              <a:rPr sz="3525" b="1">
                <a:solidFill>
                  <a:srgbClr val="111827"/>
                </a:solidFill>
                <a:latin typeface="Arial"/>
                <a:ea typeface="Arial"/>
                <a:cs typeface="Arial"/>
              </a:rPr>
              <a:t>Literature proves feasibility, not a fair decoder comparison</a:t>
            </a:r>
          </a:p>
        </p:txBody>
      </p:sp>
      <p:cxnSp>
        <p:nvCxnSpPr>
          <p:cNvPr id="16" name="rule-3"/>
          <p:cNvCxnSpPr/>
          <p:nvPr/>
        </p:nvCxnSpPr>
        <p:spPr>
          <a:xfrm xmlns:a="http://schemas.openxmlformats.org/drawingml/2006/main">
            <a:off x="400050" y="1285875"/>
            <a:ext cx="11391900" cy="0"/>
          </a:xfrm>
          <a:prstGeom xmlns:a="http://schemas.openxmlformats.org/drawingml/2006/main" prst="straightConnector1">
            <a:avLst/>
          </a:prstGeom>
          <a:ln xmlns:a="http://schemas.openxmlformats.org/drawingml/2006/main" w="9525">
            <a:solidFill>
              <a:srgbClr val="D9DEE7"/>
            </a:solidFill>
            <a:prstDash val="solid"/>
          </a:ln>
        </p:spPr>
      </p:cxnSp>
      <p:sp>
        <p:nvSpPr>
          <p:cNvPr id="4" name="source-3">
            <a:extLst xmlns:a="http://schemas.openxmlformats.org/drawingml/2006/main">
              <a:ext uri="{FF2B5EF4-FFF2-40B4-BE49-F238E27FC236}">
                <a16:creationId xmlns:a16="http://schemas.microsoft.com/office/drawing/2014/main" id="{BA9B1075-A33D-4F0E-91E2-0D631FF38A4F}"/>
              </a:ext>
            </a:extLst>
          </p:cNvPr>
          <p:cNvSpPr>
            <a:spLocks xmlns:a="http://schemas.openxmlformats.org/drawingml/2006/main" noGrp="1"/>
          </p:cNvSpPr>
          <p:nvPr/>
        </p:nvSpPr>
        <p:spPr>
          <a:xfrm xmlns:a="http://schemas.openxmlformats.org/drawingml/2006/main">
            <a:off x="400050" y="6429375"/>
            <a:ext cx="381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5B6472"/>
                </a:solidFill>
                <a:latin typeface="Arial"/>
                <a:ea typeface="Arial"/>
                <a:cs typeface="Arial"/>
              </a:defRPr>
            </a:pPr>
            <a:r>
              <a:rPr sz="900" b="0">
                <a:solidFill>
                  <a:srgbClr val="5B6472"/>
                </a:solidFill>
                <a:latin typeface="Arial"/>
                <a:ea typeface="Arial"/>
                <a:cs typeface="Arial"/>
              </a:rPr>
              <a:t>Report pp. 20–21, 38–51</a:t>
            </a:r>
          </a:p>
        </p:txBody>
      </p:sp>
      <p:sp>
        <p:nvSpPr>
          <p:cNvPr id="5" name="page-3">
            <a:extLst xmlns:a="http://schemas.openxmlformats.org/drawingml/2006/main">
              <a:ext uri="{FF2B5EF4-FFF2-40B4-BE49-F238E27FC236}">
                <a16:creationId xmlns:a16="http://schemas.microsoft.com/office/drawing/2014/main" id="{B6A28A10-C67B-428B-BA25-66EDEF97151A}"/>
              </a:ext>
            </a:extLst>
          </p:cNvPr>
          <p:cNvSpPr>
            <a:spLocks xmlns:a="http://schemas.openxmlformats.org/drawingml/2006/main" noGrp="1"/>
          </p:cNvSpPr>
          <p:nvPr/>
        </p:nvSpPr>
        <p:spPr>
          <a:xfrm xmlns:a="http://schemas.openxmlformats.org/drawingml/2006/main">
            <a:off x="11239500" y="6400800"/>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050" b="0">
                <a:solidFill>
                  <a:srgbClr val="5B6472"/>
                </a:solidFill>
                <a:latin typeface="Arial"/>
                <a:ea typeface="Arial"/>
                <a:cs typeface="Arial"/>
              </a:defRPr>
            </a:pPr>
            <a:r>
              <a:rPr sz="1050" b="0">
                <a:solidFill>
                  <a:srgbClr val="5B6472"/>
                </a:solidFill>
                <a:latin typeface="Arial"/>
                <a:ea typeface="Arial"/>
                <a:cs typeface="Arial"/>
              </a:rPr>
              <a:t>03</a:t>
            </a:r>
          </a:p>
        </p:txBody>
      </p:sp>
      <p:sp>
        <p:nvSpPr>
          <p:cNvPr id="6" name="lit-h-0">
            <a:extLst xmlns:a="http://schemas.openxmlformats.org/drawingml/2006/main">
              <a:ext uri="{FF2B5EF4-FFF2-40B4-BE49-F238E27FC236}">
                <a16:creationId xmlns:a16="http://schemas.microsoft.com/office/drawing/2014/main" id="{1FF50D8A-6F11-48F7-8425-9F7E1A76EC91}"/>
              </a:ext>
            </a:extLst>
          </p:cNvPr>
          <p:cNvSpPr>
            <a:spLocks xmlns:a="http://schemas.openxmlformats.org/drawingml/2006/main" noGrp="1"/>
          </p:cNvSpPr>
          <p:nvPr/>
        </p:nvSpPr>
        <p:spPr>
          <a:xfrm xmlns:a="http://schemas.openxmlformats.org/drawingml/2006/main">
            <a:off x="400050" y="1733550"/>
            <a:ext cx="5334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025" b="1">
                <a:solidFill>
                  <a:srgbClr val="111827"/>
                </a:solidFill>
                <a:latin typeface="Arial"/>
                <a:ea typeface="Arial"/>
                <a:cs typeface="Arial"/>
              </a:defRPr>
            </a:pPr>
            <a:r>
              <a:rPr sz="2025" b="1">
                <a:solidFill>
                  <a:srgbClr val="111827"/>
                </a:solidFill>
                <a:latin typeface="Arial"/>
                <a:ea typeface="Arial"/>
                <a:cs typeface="Arial"/>
              </a:rPr>
              <a:t>Feasible</a:t>
            </a:r>
          </a:p>
        </p:txBody>
      </p:sp>
      <p:sp>
        <p:nvSpPr>
          <p:cNvPr id="7" name="lit-b-0">
            <a:extLst xmlns:a="http://schemas.openxmlformats.org/drawingml/2006/main">
              <a:ext uri="{FF2B5EF4-FFF2-40B4-BE49-F238E27FC236}">
                <a16:creationId xmlns:a16="http://schemas.microsoft.com/office/drawing/2014/main" id="{7414C5D5-4D6D-4F52-9BB1-F895A4C0EE0E}"/>
              </a:ext>
            </a:extLst>
          </p:cNvPr>
          <p:cNvSpPr>
            <a:spLocks xmlns:a="http://schemas.openxmlformats.org/drawingml/2006/main" noGrp="1"/>
          </p:cNvSpPr>
          <p:nvPr/>
        </p:nvSpPr>
        <p:spPr>
          <a:xfrm xmlns:a="http://schemas.openxmlformats.org/drawingml/2006/main">
            <a:off x="400050" y="2219325"/>
            <a:ext cx="538162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5B6472"/>
                </a:solidFill>
                <a:latin typeface="Arial"/>
                <a:ea typeface="Arial"/>
                <a:cs typeface="Arial"/>
              </a:defRPr>
            </a:pPr>
            <a:r>
              <a:rPr sz="1650" b="0">
                <a:solidFill>
                  <a:srgbClr val="5B6472"/>
                </a:solidFill>
                <a:latin typeface="Arial"/>
                <a:ea typeface="Arial"/>
                <a:cs typeface="Arial"/>
              </a:rPr>
              <a:t>Prior systems reconstruct bone from one or two radiographs using voxel, registration, transformer and implicit methods.</a:t>
            </a:r>
          </a:p>
        </p:txBody>
      </p:sp>
      <p:sp>
        <p:nvSpPr>
          <p:cNvPr id="8" name="lit-h-1">
            <a:extLst xmlns:a="http://schemas.openxmlformats.org/drawingml/2006/main">
              <a:ext uri="{FF2B5EF4-FFF2-40B4-BE49-F238E27FC236}">
                <a16:creationId xmlns:a16="http://schemas.microsoft.com/office/drawing/2014/main" id="{F51E02AC-C171-4579-9D84-B61AAECAAE93}"/>
              </a:ext>
            </a:extLst>
          </p:cNvPr>
          <p:cNvSpPr>
            <a:spLocks xmlns:a="http://schemas.openxmlformats.org/drawingml/2006/main" noGrp="1"/>
          </p:cNvSpPr>
          <p:nvPr/>
        </p:nvSpPr>
        <p:spPr>
          <a:xfrm xmlns:a="http://schemas.openxmlformats.org/drawingml/2006/main">
            <a:off x="6248400" y="1733550"/>
            <a:ext cx="5334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025" b="1">
                <a:solidFill>
                  <a:srgbClr val="111827"/>
                </a:solidFill>
                <a:latin typeface="Arial"/>
                <a:ea typeface="Arial"/>
                <a:cs typeface="Arial"/>
              </a:defRPr>
            </a:pPr>
            <a:r>
              <a:rPr sz="2025" b="1">
                <a:solidFill>
                  <a:srgbClr val="111827"/>
                </a:solidFill>
                <a:latin typeface="Arial"/>
                <a:ea typeface="Arial"/>
                <a:cs typeface="Arial"/>
              </a:rPr>
              <a:t>Incomparable</a:t>
            </a:r>
          </a:p>
        </p:txBody>
      </p:sp>
      <p:sp>
        <p:nvSpPr>
          <p:cNvPr id="9" name="lit-b-1">
            <a:extLst xmlns:a="http://schemas.openxmlformats.org/drawingml/2006/main">
              <a:ext uri="{FF2B5EF4-FFF2-40B4-BE49-F238E27FC236}">
                <a16:creationId xmlns:a16="http://schemas.microsoft.com/office/drawing/2014/main" id="{F6FA0BA7-FA83-4111-B3EB-CB068A2B0086}"/>
              </a:ext>
            </a:extLst>
          </p:cNvPr>
          <p:cNvSpPr>
            <a:spLocks xmlns:a="http://schemas.openxmlformats.org/drawingml/2006/main" noGrp="1"/>
          </p:cNvSpPr>
          <p:nvPr/>
        </p:nvSpPr>
        <p:spPr>
          <a:xfrm xmlns:a="http://schemas.openxmlformats.org/drawingml/2006/main">
            <a:off x="6248400" y="2219325"/>
            <a:ext cx="538162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5B6472"/>
                </a:solidFill>
                <a:latin typeface="Arial"/>
                <a:ea typeface="Arial"/>
                <a:cs typeface="Arial"/>
              </a:defRPr>
            </a:pPr>
            <a:r>
              <a:rPr sz="1650" b="0">
                <a:solidFill>
                  <a:srgbClr val="5B6472"/>
                </a:solidFill>
                <a:latin typeface="Arial"/>
                <a:ea typeface="Arial"/>
                <a:cs typeface="Arial"/>
              </a:rPr>
              <a:t>Anatomy, datasets, geometry, capacity, preprocessing and evaluation protocols differ across studies.</a:t>
            </a:r>
          </a:p>
        </p:txBody>
      </p:sp>
      <p:sp>
        <p:nvSpPr>
          <p:cNvPr id="10" name="lit-h-2">
            <a:extLst xmlns:a="http://schemas.openxmlformats.org/drawingml/2006/main">
              <a:ext uri="{FF2B5EF4-FFF2-40B4-BE49-F238E27FC236}">
                <a16:creationId xmlns:a16="http://schemas.microsoft.com/office/drawing/2014/main" id="{EBDBF665-3AC8-46FB-8EEA-1101204F9090}"/>
              </a:ext>
            </a:extLst>
          </p:cNvPr>
          <p:cNvSpPr>
            <a:spLocks xmlns:a="http://schemas.openxmlformats.org/drawingml/2006/main" noGrp="1"/>
          </p:cNvSpPr>
          <p:nvPr/>
        </p:nvSpPr>
        <p:spPr>
          <a:xfrm xmlns:a="http://schemas.openxmlformats.org/drawingml/2006/main">
            <a:off x="400050" y="4010025"/>
            <a:ext cx="5334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025" b="1">
                <a:solidFill>
                  <a:srgbClr val="111827"/>
                </a:solidFill>
                <a:latin typeface="Arial"/>
                <a:ea typeface="Arial"/>
                <a:cs typeface="Arial"/>
              </a:defRPr>
            </a:pPr>
            <a:r>
              <a:rPr sz="2025" b="1">
                <a:solidFill>
                  <a:srgbClr val="111827"/>
                </a:solidFill>
                <a:latin typeface="Arial"/>
                <a:ea typeface="Arial"/>
                <a:cs typeface="Arial"/>
              </a:rPr>
              <a:t>Metrics diverge</a:t>
            </a:r>
          </a:p>
        </p:txBody>
      </p:sp>
      <p:sp>
        <p:nvSpPr>
          <p:cNvPr id="11" name="lit-b-2">
            <a:extLst xmlns:a="http://schemas.openxmlformats.org/drawingml/2006/main">
              <a:ext uri="{FF2B5EF4-FFF2-40B4-BE49-F238E27FC236}">
                <a16:creationId xmlns:a16="http://schemas.microsoft.com/office/drawing/2014/main" id="{4141B2EC-F67E-4D88-8100-8F070839D428}"/>
              </a:ext>
            </a:extLst>
          </p:cNvPr>
          <p:cNvSpPr>
            <a:spLocks xmlns:a="http://schemas.openxmlformats.org/drawingml/2006/main" noGrp="1"/>
          </p:cNvSpPr>
          <p:nvPr/>
        </p:nvSpPr>
        <p:spPr>
          <a:xfrm xmlns:a="http://schemas.openxmlformats.org/drawingml/2006/main">
            <a:off x="400050" y="4495800"/>
            <a:ext cx="538162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5B6472"/>
                </a:solidFill>
                <a:latin typeface="Arial"/>
                <a:ea typeface="Arial"/>
                <a:cs typeface="Arial"/>
              </a:defRPr>
            </a:pPr>
            <a:r>
              <a:rPr sz="1650" b="0">
                <a:solidFill>
                  <a:srgbClr val="5B6472"/>
                </a:solidFill>
                <a:latin typeface="Arial"/>
                <a:ea typeface="Arial"/>
                <a:cs typeface="Arial"/>
              </a:rPr>
              <a:t>High Dice can coexist with clinically important landmark or surface error; subgroup averages can hide failure.</a:t>
            </a:r>
          </a:p>
        </p:txBody>
      </p:sp>
      <p:sp>
        <p:nvSpPr>
          <p:cNvPr id="12" name="lit-h-3">
            <a:extLst xmlns:a="http://schemas.openxmlformats.org/drawingml/2006/main">
              <a:ext uri="{FF2B5EF4-FFF2-40B4-BE49-F238E27FC236}">
                <a16:creationId xmlns:a16="http://schemas.microsoft.com/office/drawing/2014/main" id="{0527EDE8-7D69-46A9-8979-D89E08282AA6}"/>
              </a:ext>
            </a:extLst>
          </p:cNvPr>
          <p:cNvSpPr>
            <a:spLocks xmlns:a="http://schemas.openxmlformats.org/drawingml/2006/main" noGrp="1"/>
          </p:cNvSpPr>
          <p:nvPr/>
        </p:nvSpPr>
        <p:spPr>
          <a:xfrm xmlns:a="http://schemas.openxmlformats.org/drawingml/2006/main">
            <a:off x="6248400" y="4010025"/>
            <a:ext cx="5334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025" b="1">
                <a:solidFill>
                  <a:srgbClr val="2563EB"/>
                </a:solidFill>
                <a:latin typeface="Arial"/>
                <a:ea typeface="Arial"/>
                <a:cs typeface="Arial"/>
              </a:defRPr>
            </a:pPr>
            <a:r>
              <a:rPr sz="2025" b="1">
                <a:solidFill>
                  <a:srgbClr val="2563EB"/>
                </a:solidFill>
                <a:latin typeface="Arial"/>
                <a:ea typeface="Arial"/>
                <a:cs typeface="Arial"/>
              </a:rPr>
              <a:t>Research gap</a:t>
            </a:r>
          </a:p>
        </p:txBody>
      </p:sp>
      <p:sp>
        <p:nvSpPr>
          <p:cNvPr id="13" name="lit-b-3">
            <a:extLst xmlns:a="http://schemas.openxmlformats.org/drawingml/2006/main">
              <a:ext uri="{FF2B5EF4-FFF2-40B4-BE49-F238E27FC236}">
                <a16:creationId xmlns:a16="http://schemas.microsoft.com/office/drawing/2014/main" id="{F1D4B8D1-6323-4741-AEF8-C1BE759DB283}"/>
              </a:ext>
            </a:extLst>
          </p:cNvPr>
          <p:cNvSpPr>
            <a:spLocks xmlns:a="http://schemas.openxmlformats.org/drawingml/2006/main" noGrp="1"/>
          </p:cNvSpPr>
          <p:nvPr/>
        </p:nvSpPr>
        <p:spPr>
          <a:xfrm xmlns:a="http://schemas.openxmlformats.org/drawingml/2006/main">
            <a:off x="6248400" y="4495800"/>
            <a:ext cx="538162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5B6472"/>
                </a:solidFill>
                <a:latin typeface="Arial"/>
                <a:ea typeface="Arial"/>
                <a:cs typeface="Arial"/>
              </a:defRPr>
            </a:pPr>
            <a:r>
              <a:rPr sz="1650" b="0">
                <a:solidFill>
                  <a:srgbClr val="5B6472"/>
                </a:solidFill>
                <a:latin typeface="Arial"/>
                <a:ea typeface="Arial"/>
                <a:cs typeface="Arial"/>
              </a:rPr>
              <a:t>No matched 2×2 decoder study isolates residual topology and activation while holding the full upstream pathway fixed.</a:t>
            </a:r>
          </a:p>
        </p:txBody>
      </p:sp>
    </p:spTree>
    <p:extLst>
      <p:ext uri="{BB962C8B-B14F-4D97-AF65-F5344CB8AC3E}">
        <p14:creationId xmlns:p14="http://schemas.microsoft.com/office/powerpoint/2010/main" val="511459946"/>
      </p:ext>
    </p:extLst>
  </p:cSld>
</p:sld>
</file>

<file path=ppt/slides/slide4.xml><?xml version="1.0" encoding="utf-8"?>
<p:sld xmlns:p="http://schemas.openxmlformats.org/presentationml/2006/main">
  <p:cSld>
    <p:bg>
      <p:bgPr>
        <a:solidFill xmlns:a="http://schemas.openxmlformats.org/drawingml/2006/main">
          <a:srgbClr val="FBFBFA"/>
        </a:solidFill>
      </p:bgPr>
    </p:bg>
    <p:spTree>
      <p:nvGrpSpPr>
        <p:cNvPr id="1" name=""/>
        <p:cNvGrpSpPr/>
        <p:nvPr/>
      </p:nvGrpSpPr>
      <p:grpSpPr>
        <a:xfrm xmlns:a="http://schemas.openxmlformats.org/drawingml/2006/main"/>
      </p:grpSpPr>
      <p:sp>
        <p:nvSpPr>
          <p:cNvPr id="20" name="section-4">
            <a:extLst xmlns:a="http://schemas.openxmlformats.org/drawingml/2006/main">
              <a:ext uri="{FF2B5EF4-FFF2-40B4-BE49-F238E27FC236}">
                <a16:creationId xmlns:a16="http://schemas.microsoft.com/office/drawing/2014/main" id="{B57EBEEC-0B8D-4537-BEC3-0E6F8A55D889}"/>
              </a:ext>
            </a:extLst>
          </p:cNvPr>
          <p:cNvSpPr>
            <a:spLocks xmlns:a="http://schemas.openxmlformats.org/drawingml/2006/main" noGrp="1"/>
          </p:cNvSpPr>
          <p:nvPr/>
        </p:nvSpPr>
        <p:spPr>
          <a:xfrm xmlns:a="http://schemas.openxmlformats.org/drawingml/2006/main">
            <a:off x="400050" y="238125"/>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563EB"/>
                </a:solidFill>
                <a:latin typeface="Arial"/>
                <a:ea typeface="Arial"/>
                <a:cs typeface="Arial"/>
              </a:defRPr>
            </a:pPr>
            <a:r>
              <a:rPr sz="1125" b="1">
                <a:solidFill>
                  <a:srgbClr val="2563EB"/>
                </a:solidFill>
                <a:latin typeface="Arial"/>
                <a:ea typeface="Arial"/>
                <a:cs typeface="Arial"/>
              </a:rPr>
              <a:t>TECHNICAL APPROACH</a:t>
            </a:r>
          </a:p>
        </p:txBody>
      </p:sp>
      <p:sp>
        <p:nvSpPr>
          <p:cNvPr id="2" name="title-4">
            <a:extLst xmlns:a="http://schemas.openxmlformats.org/drawingml/2006/main">
              <a:ext uri="{FF2B5EF4-FFF2-40B4-BE49-F238E27FC236}">
                <a16:creationId xmlns:a16="http://schemas.microsoft.com/office/drawing/2014/main" id="{08D32B75-D89F-48D1-8B51-160B353CE084}"/>
              </a:ext>
            </a:extLst>
          </p:cNvPr>
          <p:cNvSpPr>
            <a:spLocks xmlns:a="http://schemas.openxmlformats.org/drawingml/2006/main" noGrp="1"/>
          </p:cNvSpPr>
          <p:nvPr/>
        </p:nvSpPr>
        <p:spPr>
          <a:xfrm xmlns:a="http://schemas.openxmlformats.org/drawingml/2006/main">
            <a:off x="400050" y="552450"/>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525" b="1">
                <a:solidFill>
                  <a:srgbClr val="111827"/>
                </a:solidFill>
                <a:latin typeface="Arial"/>
                <a:ea typeface="Arial"/>
                <a:cs typeface="Arial"/>
              </a:defRPr>
            </a:pPr>
            <a:r>
              <a:rPr sz="3525" b="1">
                <a:solidFill>
                  <a:srgbClr val="111827"/>
                </a:solidFill>
                <a:latin typeface="Arial"/>
                <a:ea typeface="Arial"/>
                <a:cs typeface="Arial"/>
              </a:rPr>
              <a:t>The research question isolates topology and activation</a:t>
            </a:r>
          </a:p>
        </p:txBody>
      </p:sp>
      <p:cxnSp>
        <p:nvCxnSpPr>
          <p:cNvPr id="22" name="rule-4"/>
          <p:cNvCxnSpPr/>
          <p:nvPr/>
        </p:nvCxnSpPr>
        <p:spPr>
          <a:xfrm xmlns:a="http://schemas.openxmlformats.org/drawingml/2006/main">
            <a:off x="400050" y="1285875"/>
            <a:ext cx="11391900" cy="0"/>
          </a:xfrm>
          <a:prstGeom xmlns:a="http://schemas.openxmlformats.org/drawingml/2006/main" prst="straightConnector1">
            <a:avLst/>
          </a:prstGeom>
          <a:ln xmlns:a="http://schemas.openxmlformats.org/drawingml/2006/main" w="9525">
            <a:solidFill>
              <a:srgbClr val="D9DEE7"/>
            </a:solidFill>
            <a:prstDash val="solid"/>
          </a:ln>
        </p:spPr>
      </p:cxnSp>
      <p:sp>
        <p:nvSpPr>
          <p:cNvPr id="4" name="source-4">
            <a:extLst xmlns:a="http://schemas.openxmlformats.org/drawingml/2006/main">
              <a:ext uri="{FF2B5EF4-FFF2-40B4-BE49-F238E27FC236}">
                <a16:creationId xmlns:a16="http://schemas.microsoft.com/office/drawing/2014/main" id="{1B6B0884-4C5A-4A26-9FEB-74D6952E5161}"/>
              </a:ext>
            </a:extLst>
          </p:cNvPr>
          <p:cNvSpPr>
            <a:spLocks xmlns:a="http://schemas.openxmlformats.org/drawingml/2006/main" noGrp="1"/>
          </p:cNvSpPr>
          <p:nvPr/>
        </p:nvSpPr>
        <p:spPr>
          <a:xfrm xmlns:a="http://schemas.openxmlformats.org/drawingml/2006/main">
            <a:off x="400050" y="6429375"/>
            <a:ext cx="381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5B6472"/>
                </a:solidFill>
                <a:latin typeface="Arial"/>
                <a:ea typeface="Arial"/>
                <a:cs typeface="Arial"/>
              </a:defRPr>
            </a:pPr>
            <a:r>
              <a:rPr sz="900" b="0">
                <a:solidFill>
                  <a:srgbClr val="5B6472"/>
                </a:solidFill>
                <a:latin typeface="Arial"/>
                <a:ea typeface="Arial"/>
                <a:cs typeface="Arial"/>
              </a:rPr>
              <a:t>Report pp. 12–15</a:t>
            </a:r>
          </a:p>
        </p:txBody>
      </p:sp>
      <p:sp>
        <p:nvSpPr>
          <p:cNvPr id="5" name="page-4">
            <a:extLst xmlns:a="http://schemas.openxmlformats.org/drawingml/2006/main">
              <a:ext uri="{FF2B5EF4-FFF2-40B4-BE49-F238E27FC236}">
                <a16:creationId xmlns:a16="http://schemas.microsoft.com/office/drawing/2014/main" id="{B60A5325-6E03-4F94-8E6A-038EBF0353BE}"/>
              </a:ext>
            </a:extLst>
          </p:cNvPr>
          <p:cNvSpPr>
            <a:spLocks xmlns:a="http://schemas.openxmlformats.org/drawingml/2006/main" noGrp="1"/>
          </p:cNvSpPr>
          <p:nvPr/>
        </p:nvSpPr>
        <p:spPr>
          <a:xfrm xmlns:a="http://schemas.openxmlformats.org/drawingml/2006/main">
            <a:off x="11239500" y="6400800"/>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050" b="0">
                <a:solidFill>
                  <a:srgbClr val="5B6472"/>
                </a:solidFill>
                <a:latin typeface="Arial"/>
                <a:ea typeface="Arial"/>
                <a:cs typeface="Arial"/>
              </a:defRPr>
            </a:pPr>
            <a:r>
              <a:rPr sz="1050" b="0">
                <a:solidFill>
                  <a:srgbClr val="5B6472"/>
                </a:solidFill>
                <a:latin typeface="Arial"/>
                <a:ea typeface="Arial"/>
                <a:cs typeface="Arial"/>
              </a:rPr>
              <a:t>04</a:t>
            </a:r>
          </a:p>
        </p:txBody>
      </p:sp>
      <p:sp>
        <p:nvSpPr>
          <p:cNvPr id="6" name="rq-panel">
            <a:extLst xmlns:a="http://schemas.openxmlformats.org/drawingml/2006/main">
              <a:ext uri="{FF2B5EF4-FFF2-40B4-BE49-F238E27FC236}">
                <a16:creationId xmlns:a16="http://schemas.microsoft.com/office/drawing/2014/main" id="{68F5B8BF-4485-4CAC-97DB-1163CD8640D2}"/>
              </a:ext>
            </a:extLst>
          </p:cNvPr>
          <p:cNvSpPr>
            <a:spLocks xmlns:a="http://schemas.openxmlformats.org/drawingml/2006/main" noGrp="1"/>
          </p:cNvSpPr>
          <p:nvPr/>
        </p:nvSpPr>
        <p:spPr>
          <a:xfrm xmlns:a="http://schemas.openxmlformats.org/drawingml/2006/main">
            <a:off x="400050" y="1628775"/>
            <a:ext cx="11391900" cy="142875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0">
            <a:noFill/>
            <a:prstDash val="solid"/>
          </a:ln>
        </p:spPr>
      </p:sp>
      <p:sp>
        <p:nvSpPr>
          <p:cNvPr id="7" name="rq">
            <a:extLst xmlns:a="http://schemas.openxmlformats.org/drawingml/2006/main">
              <a:ext uri="{FF2B5EF4-FFF2-40B4-BE49-F238E27FC236}">
                <a16:creationId xmlns:a16="http://schemas.microsoft.com/office/drawing/2014/main" id="{88E358E9-BFD7-4054-90BB-4814929EBDFC}"/>
              </a:ext>
            </a:extLst>
          </p:cNvPr>
          <p:cNvSpPr>
            <a:spLocks xmlns:a="http://schemas.openxmlformats.org/drawingml/2006/main" noGrp="1"/>
          </p:cNvSpPr>
          <p:nvPr/>
        </p:nvSpPr>
        <p:spPr>
          <a:xfrm xmlns:a="http://schemas.openxmlformats.org/drawingml/2006/main">
            <a:off x="685800" y="1866900"/>
            <a:ext cx="1082040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175" b="1">
                <a:solidFill>
                  <a:srgbClr val="2563EB"/>
                </a:solidFill>
                <a:latin typeface="Arial"/>
                <a:ea typeface="Arial"/>
                <a:cs typeface="Arial"/>
              </a:defRPr>
            </a:pPr>
            <a:r>
              <a:rPr sz="2175" b="1">
                <a:solidFill>
                  <a:srgbClr val="2563EB"/>
                </a:solidFill>
                <a:latin typeface="Arial"/>
                <a:ea typeface="Arial"/>
                <a:cs typeface="Arial"/>
              </a:rPr>
              <a:t>How do decoder-block topology and activation influence overlap, surface accuracy and robustness—under one shared, leakage-controlled bi-planar front end?</a:t>
            </a:r>
          </a:p>
        </p:txBody>
      </p:sp>
      <p:sp>
        <p:nvSpPr>
          <p:cNvPr id="8" name="obj-no-0">
            <a:extLst xmlns:a="http://schemas.openxmlformats.org/drawingml/2006/main">
              <a:ext uri="{FF2B5EF4-FFF2-40B4-BE49-F238E27FC236}">
                <a16:creationId xmlns:a16="http://schemas.microsoft.com/office/drawing/2014/main" id="{5B7C72A1-503B-478B-87A9-CA2AA95CD7D7}"/>
              </a:ext>
            </a:extLst>
          </p:cNvPr>
          <p:cNvSpPr>
            <a:spLocks xmlns:a="http://schemas.openxmlformats.org/drawingml/2006/main" noGrp="1"/>
          </p:cNvSpPr>
          <p:nvPr/>
        </p:nvSpPr>
        <p:spPr>
          <a:xfrm xmlns:a="http://schemas.openxmlformats.org/drawingml/2006/main">
            <a:off x="400050" y="3486150"/>
            <a:ext cx="5905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2563EB"/>
                </a:solidFill>
                <a:latin typeface="Arial"/>
                <a:ea typeface="Arial"/>
                <a:cs typeface="Arial"/>
              </a:defRPr>
            </a:pPr>
            <a:r>
              <a:rPr sz="1650" b="1">
                <a:solidFill>
                  <a:srgbClr val="2563EB"/>
                </a:solidFill>
                <a:latin typeface="Arial"/>
                <a:ea typeface="Arial"/>
                <a:cs typeface="Arial"/>
              </a:rPr>
              <a:t>01</a:t>
            </a:r>
          </a:p>
        </p:txBody>
      </p:sp>
      <p:sp>
        <p:nvSpPr>
          <p:cNvPr id="9" name="obj-h-0">
            <a:extLst xmlns:a="http://schemas.openxmlformats.org/drawingml/2006/main">
              <a:ext uri="{FF2B5EF4-FFF2-40B4-BE49-F238E27FC236}">
                <a16:creationId xmlns:a16="http://schemas.microsoft.com/office/drawing/2014/main" id="{87C93C10-B74D-4D17-A2E2-4300DEF122D0}"/>
              </a:ext>
            </a:extLst>
          </p:cNvPr>
          <p:cNvSpPr>
            <a:spLocks xmlns:a="http://schemas.openxmlformats.org/drawingml/2006/main" noGrp="1"/>
          </p:cNvSpPr>
          <p:nvPr/>
        </p:nvSpPr>
        <p:spPr>
          <a:xfrm xmlns:a="http://schemas.openxmlformats.org/drawingml/2006/main">
            <a:off x="400050" y="3943350"/>
            <a:ext cx="2476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111827"/>
                </a:solidFill>
                <a:latin typeface="Arial"/>
                <a:ea typeface="Arial"/>
                <a:cs typeface="Arial"/>
              </a:defRPr>
            </a:pPr>
            <a:r>
              <a:rPr sz="1725" b="1">
                <a:solidFill>
                  <a:srgbClr val="111827"/>
                </a:solidFill>
                <a:latin typeface="Arial"/>
                <a:ea typeface="Arial"/>
                <a:cs typeface="Arial"/>
              </a:rPr>
              <a:t>Cohort</a:t>
            </a:r>
          </a:p>
        </p:txBody>
      </p:sp>
      <p:sp>
        <p:nvSpPr>
          <p:cNvPr id="10" name="obj-b-0">
            <a:extLst xmlns:a="http://schemas.openxmlformats.org/drawingml/2006/main">
              <a:ext uri="{FF2B5EF4-FFF2-40B4-BE49-F238E27FC236}">
                <a16:creationId xmlns:a16="http://schemas.microsoft.com/office/drawing/2014/main" id="{1F08E607-B2BB-41A4-8921-B43EC277C8C8}"/>
              </a:ext>
            </a:extLst>
          </p:cNvPr>
          <p:cNvSpPr>
            <a:spLocks xmlns:a="http://schemas.openxmlformats.org/drawingml/2006/main" noGrp="1"/>
          </p:cNvSpPr>
          <p:nvPr/>
        </p:nvSpPr>
        <p:spPr>
          <a:xfrm xmlns:a="http://schemas.openxmlformats.org/drawingml/2006/main">
            <a:off x="400050" y="4667250"/>
            <a:ext cx="2476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5B6472"/>
                </a:solidFill>
                <a:latin typeface="Arial"/>
                <a:ea typeface="Arial"/>
                <a:cs typeface="Arial"/>
              </a:defRPr>
            </a:pPr>
            <a:r>
              <a:rPr sz="1500" b="0">
                <a:solidFill>
                  <a:srgbClr val="5B6472"/>
                </a:solidFill>
                <a:latin typeface="Arial"/>
                <a:ea typeface="Arial"/>
                <a:cs typeface="Arial"/>
              </a:rPr>
              <a:t>Verify geometry, laterality and subject-level separation.</a:t>
            </a:r>
          </a:p>
        </p:txBody>
      </p:sp>
      <p:sp>
        <p:nvSpPr>
          <p:cNvPr id="11" name="obj-no-1">
            <a:extLst xmlns:a="http://schemas.openxmlformats.org/drawingml/2006/main">
              <a:ext uri="{FF2B5EF4-FFF2-40B4-BE49-F238E27FC236}">
                <a16:creationId xmlns:a16="http://schemas.microsoft.com/office/drawing/2014/main" id="{309703AA-6285-40C0-9A20-11E7AB6B5B21}"/>
              </a:ext>
            </a:extLst>
          </p:cNvPr>
          <p:cNvSpPr>
            <a:spLocks xmlns:a="http://schemas.openxmlformats.org/drawingml/2006/main" noGrp="1"/>
          </p:cNvSpPr>
          <p:nvPr/>
        </p:nvSpPr>
        <p:spPr>
          <a:xfrm xmlns:a="http://schemas.openxmlformats.org/drawingml/2006/main">
            <a:off x="3248025" y="3486150"/>
            <a:ext cx="5905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2563EB"/>
                </a:solidFill>
                <a:latin typeface="Arial"/>
                <a:ea typeface="Arial"/>
                <a:cs typeface="Arial"/>
              </a:defRPr>
            </a:pPr>
            <a:r>
              <a:rPr sz="1650" b="1">
                <a:solidFill>
                  <a:srgbClr val="2563EB"/>
                </a:solidFill>
                <a:latin typeface="Arial"/>
                <a:ea typeface="Arial"/>
                <a:cs typeface="Arial"/>
              </a:rPr>
              <a:t>02</a:t>
            </a:r>
          </a:p>
        </p:txBody>
      </p:sp>
      <p:sp>
        <p:nvSpPr>
          <p:cNvPr id="12" name="obj-h-1">
            <a:extLst xmlns:a="http://schemas.openxmlformats.org/drawingml/2006/main">
              <a:ext uri="{FF2B5EF4-FFF2-40B4-BE49-F238E27FC236}">
                <a16:creationId xmlns:a16="http://schemas.microsoft.com/office/drawing/2014/main" id="{19EDAC63-EA8A-489B-8D10-5211253B49AF}"/>
              </a:ext>
            </a:extLst>
          </p:cNvPr>
          <p:cNvSpPr>
            <a:spLocks xmlns:a="http://schemas.openxmlformats.org/drawingml/2006/main" noGrp="1"/>
          </p:cNvSpPr>
          <p:nvPr/>
        </p:nvSpPr>
        <p:spPr>
          <a:xfrm xmlns:a="http://schemas.openxmlformats.org/drawingml/2006/main">
            <a:off x="3248025" y="3943350"/>
            <a:ext cx="2476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111827"/>
                </a:solidFill>
                <a:latin typeface="Arial"/>
                <a:ea typeface="Arial"/>
                <a:cs typeface="Arial"/>
              </a:defRPr>
            </a:pPr>
            <a:r>
              <a:rPr sz="1725" b="1">
                <a:solidFill>
                  <a:srgbClr val="111827"/>
                </a:solidFill>
                <a:latin typeface="Arial"/>
                <a:ea typeface="Arial"/>
                <a:cs typeface="Arial"/>
              </a:rPr>
              <a:t>Fair front end</a:t>
            </a:r>
          </a:p>
        </p:txBody>
      </p:sp>
      <p:sp>
        <p:nvSpPr>
          <p:cNvPr id="13" name="obj-b-1">
            <a:extLst xmlns:a="http://schemas.openxmlformats.org/drawingml/2006/main">
              <a:ext uri="{FF2B5EF4-FFF2-40B4-BE49-F238E27FC236}">
                <a16:creationId xmlns:a16="http://schemas.microsoft.com/office/drawing/2014/main" id="{7D5597A5-2D01-4EC7-A04B-00E64739FF2A}"/>
              </a:ext>
            </a:extLst>
          </p:cNvPr>
          <p:cNvSpPr>
            <a:spLocks xmlns:a="http://schemas.openxmlformats.org/drawingml/2006/main" noGrp="1"/>
          </p:cNvSpPr>
          <p:nvPr/>
        </p:nvSpPr>
        <p:spPr>
          <a:xfrm xmlns:a="http://schemas.openxmlformats.org/drawingml/2006/main">
            <a:off x="3248025" y="4667250"/>
            <a:ext cx="2476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5B6472"/>
                </a:solidFill>
                <a:latin typeface="Arial"/>
                <a:ea typeface="Arial"/>
                <a:cs typeface="Arial"/>
              </a:defRPr>
            </a:pPr>
            <a:r>
              <a:rPr sz="1500" b="0">
                <a:solidFill>
                  <a:srgbClr val="5B6472"/>
                </a:solidFill>
                <a:latin typeface="Arial"/>
                <a:ea typeface="Arial"/>
                <a:cs typeface="Arial"/>
              </a:rPr>
              <a:t>Hold encoder, fusion and 2D→3D lifting constant.</a:t>
            </a:r>
          </a:p>
        </p:txBody>
      </p:sp>
      <p:sp>
        <p:nvSpPr>
          <p:cNvPr id="14" name="obj-no-2">
            <a:extLst xmlns:a="http://schemas.openxmlformats.org/drawingml/2006/main">
              <a:ext uri="{FF2B5EF4-FFF2-40B4-BE49-F238E27FC236}">
                <a16:creationId xmlns:a16="http://schemas.microsoft.com/office/drawing/2014/main" id="{8C1EEB56-862A-4BDE-ADAD-66112924CAD5}"/>
              </a:ext>
            </a:extLst>
          </p:cNvPr>
          <p:cNvSpPr>
            <a:spLocks xmlns:a="http://schemas.openxmlformats.org/drawingml/2006/main" noGrp="1"/>
          </p:cNvSpPr>
          <p:nvPr/>
        </p:nvSpPr>
        <p:spPr>
          <a:xfrm xmlns:a="http://schemas.openxmlformats.org/drawingml/2006/main">
            <a:off x="6096000" y="3486150"/>
            <a:ext cx="5905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2563EB"/>
                </a:solidFill>
                <a:latin typeface="Arial"/>
                <a:ea typeface="Arial"/>
                <a:cs typeface="Arial"/>
              </a:defRPr>
            </a:pPr>
            <a:r>
              <a:rPr sz="1650" b="1">
                <a:solidFill>
                  <a:srgbClr val="2563EB"/>
                </a:solidFill>
                <a:latin typeface="Arial"/>
                <a:ea typeface="Arial"/>
                <a:cs typeface="Arial"/>
              </a:rPr>
              <a:t>03</a:t>
            </a:r>
          </a:p>
        </p:txBody>
      </p:sp>
      <p:sp>
        <p:nvSpPr>
          <p:cNvPr id="15" name="obj-h-2">
            <a:extLst xmlns:a="http://schemas.openxmlformats.org/drawingml/2006/main">
              <a:ext uri="{FF2B5EF4-FFF2-40B4-BE49-F238E27FC236}">
                <a16:creationId xmlns:a16="http://schemas.microsoft.com/office/drawing/2014/main" id="{4953ED6A-5AB1-464B-A9D5-12010014E4F4}"/>
              </a:ext>
            </a:extLst>
          </p:cNvPr>
          <p:cNvSpPr>
            <a:spLocks xmlns:a="http://schemas.openxmlformats.org/drawingml/2006/main" noGrp="1"/>
          </p:cNvSpPr>
          <p:nvPr/>
        </p:nvSpPr>
        <p:spPr>
          <a:xfrm xmlns:a="http://schemas.openxmlformats.org/drawingml/2006/main">
            <a:off x="6096000" y="3943350"/>
            <a:ext cx="2476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111827"/>
                </a:solidFill>
                <a:latin typeface="Arial"/>
                <a:ea typeface="Arial"/>
                <a:cs typeface="Arial"/>
              </a:defRPr>
            </a:pPr>
            <a:r>
              <a:rPr sz="1725" b="1">
                <a:solidFill>
                  <a:srgbClr val="111827"/>
                </a:solidFill>
                <a:latin typeface="Arial"/>
                <a:ea typeface="Arial"/>
                <a:cs typeface="Arial"/>
              </a:rPr>
              <a:t>Complementary metrics</a:t>
            </a:r>
          </a:p>
        </p:txBody>
      </p:sp>
      <p:sp>
        <p:nvSpPr>
          <p:cNvPr id="16" name="obj-b-2">
            <a:extLst xmlns:a="http://schemas.openxmlformats.org/drawingml/2006/main">
              <a:ext uri="{FF2B5EF4-FFF2-40B4-BE49-F238E27FC236}">
                <a16:creationId xmlns:a16="http://schemas.microsoft.com/office/drawing/2014/main" id="{72276EB2-9E88-4607-83D3-046DF40B80BB}"/>
              </a:ext>
            </a:extLst>
          </p:cNvPr>
          <p:cNvSpPr>
            <a:spLocks xmlns:a="http://schemas.openxmlformats.org/drawingml/2006/main" noGrp="1"/>
          </p:cNvSpPr>
          <p:nvPr/>
        </p:nvSpPr>
        <p:spPr>
          <a:xfrm xmlns:a="http://schemas.openxmlformats.org/drawingml/2006/main">
            <a:off x="6096000" y="4667250"/>
            <a:ext cx="2476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5B6472"/>
                </a:solidFill>
                <a:latin typeface="Arial"/>
                <a:ea typeface="Arial"/>
                <a:cs typeface="Arial"/>
              </a:defRPr>
            </a:pPr>
            <a:r>
              <a:rPr sz="1500" b="0">
                <a:solidFill>
                  <a:srgbClr val="5B6472"/>
                </a:solidFill>
                <a:latin typeface="Arial"/>
                <a:ea typeface="Arial"/>
                <a:cs typeface="Arial"/>
              </a:rPr>
              <a:t>Use Dice + ASSD with bone and cohort analysis.</a:t>
            </a:r>
          </a:p>
        </p:txBody>
      </p:sp>
      <p:sp>
        <p:nvSpPr>
          <p:cNvPr id="17" name="obj-no-3">
            <a:extLst xmlns:a="http://schemas.openxmlformats.org/drawingml/2006/main">
              <a:ext uri="{FF2B5EF4-FFF2-40B4-BE49-F238E27FC236}">
                <a16:creationId xmlns:a16="http://schemas.microsoft.com/office/drawing/2014/main" id="{CC318388-F62F-4D8B-BDA3-A3E5DF3A6EB3}"/>
              </a:ext>
            </a:extLst>
          </p:cNvPr>
          <p:cNvSpPr>
            <a:spLocks xmlns:a="http://schemas.openxmlformats.org/drawingml/2006/main" noGrp="1"/>
          </p:cNvSpPr>
          <p:nvPr/>
        </p:nvSpPr>
        <p:spPr>
          <a:xfrm xmlns:a="http://schemas.openxmlformats.org/drawingml/2006/main">
            <a:off x="8943975" y="3486150"/>
            <a:ext cx="5905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2563EB"/>
                </a:solidFill>
                <a:latin typeface="Arial"/>
                <a:ea typeface="Arial"/>
                <a:cs typeface="Arial"/>
              </a:defRPr>
            </a:pPr>
            <a:r>
              <a:rPr sz="1650" b="1">
                <a:solidFill>
                  <a:srgbClr val="2563EB"/>
                </a:solidFill>
                <a:latin typeface="Arial"/>
                <a:ea typeface="Arial"/>
                <a:cs typeface="Arial"/>
              </a:rPr>
              <a:t>04</a:t>
            </a:r>
          </a:p>
        </p:txBody>
      </p:sp>
      <p:sp>
        <p:nvSpPr>
          <p:cNvPr id="18" name="obj-h-3">
            <a:extLst xmlns:a="http://schemas.openxmlformats.org/drawingml/2006/main">
              <a:ext uri="{FF2B5EF4-FFF2-40B4-BE49-F238E27FC236}">
                <a16:creationId xmlns:a16="http://schemas.microsoft.com/office/drawing/2014/main" id="{CE55771B-AEF8-48F3-AD73-766A159EB4EC}"/>
              </a:ext>
            </a:extLst>
          </p:cNvPr>
          <p:cNvSpPr>
            <a:spLocks xmlns:a="http://schemas.openxmlformats.org/drawingml/2006/main" noGrp="1"/>
          </p:cNvSpPr>
          <p:nvPr/>
        </p:nvSpPr>
        <p:spPr>
          <a:xfrm xmlns:a="http://schemas.openxmlformats.org/drawingml/2006/main">
            <a:off x="8943975" y="3943350"/>
            <a:ext cx="2476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111827"/>
                </a:solidFill>
                <a:latin typeface="Arial"/>
                <a:ea typeface="Arial"/>
                <a:cs typeface="Arial"/>
              </a:defRPr>
            </a:pPr>
            <a:r>
              <a:rPr sz="1725" b="1">
                <a:solidFill>
                  <a:srgbClr val="111827"/>
                </a:solidFill>
                <a:latin typeface="Arial"/>
                <a:ea typeface="Arial"/>
                <a:cs typeface="Arial"/>
              </a:rPr>
              <a:t>Controlled comparison</a:t>
            </a:r>
          </a:p>
        </p:txBody>
      </p:sp>
      <p:sp>
        <p:nvSpPr>
          <p:cNvPr id="19" name="obj-b-3">
            <a:extLst xmlns:a="http://schemas.openxmlformats.org/drawingml/2006/main">
              <a:ext uri="{FF2B5EF4-FFF2-40B4-BE49-F238E27FC236}">
                <a16:creationId xmlns:a16="http://schemas.microsoft.com/office/drawing/2014/main" id="{C571307F-C4E0-4C9D-BAEF-A0887F6E1646}"/>
              </a:ext>
            </a:extLst>
          </p:cNvPr>
          <p:cNvSpPr>
            <a:spLocks xmlns:a="http://schemas.openxmlformats.org/drawingml/2006/main" noGrp="1"/>
          </p:cNvSpPr>
          <p:nvPr/>
        </p:nvSpPr>
        <p:spPr>
          <a:xfrm xmlns:a="http://schemas.openxmlformats.org/drawingml/2006/main">
            <a:off x="8943975" y="4667250"/>
            <a:ext cx="2476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5B6472"/>
                </a:solidFill>
                <a:latin typeface="Arial"/>
                <a:ea typeface="Arial"/>
                <a:cs typeface="Arial"/>
              </a:defRPr>
            </a:pPr>
            <a:r>
              <a:rPr sz="1500" b="0">
                <a:solidFill>
                  <a:srgbClr val="5B6472"/>
                </a:solidFill>
                <a:latin typeface="Arial"/>
                <a:ea typeface="Arial"/>
                <a:cs typeface="Arial"/>
              </a:rPr>
              <a:t>Evaluate four decoder arms over five grouped folds.</a:t>
            </a:r>
          </a:p>
        </p:txBody>
      </p:sp>
    </p:spTree>
    <p:extLst>
      <p:ext uri="{BB962C8B-B14F-4D97-AF65-F5344CB8AC3E}">
        <p14:creationId xmlns:p14="http://schemas.microsoft.com/office/powerpoint/2010/main" val="631302222"/>
      </p:ext>
    </p:extLst>
  </p:cSld>
</p:sld>
</file>

<file path=ppt/slides/slide5.xml><?xml version="1.0" encoding="utf-8"?>
<p:sld xmlns:p="http://schemas.openxmlformats.org/presentationml/2006/main">
  <p:cSld>
    <p:bg>
      <p:bgPr>
        <a:solidFill xmlns:a="http://schemas.openxmlformats.org/drawingml/2006/main">
          <a:srgbClr val="FBFBFA"/>
        </a:solidFill>
      </p:bgPr>
    </p:bg>
    <p:spTree>
      <p:nvGrpSpPr>
        <p:cNvPr id="1" name=""/>
        <p:cNvGrpSpPr/>
        <p:nvPr/>
      </p:nvGrpSpPr>
      <p:grpSpPr>
        <a:xfrm xmlns:a="http://schemas.openxmlformats.org/drawingml/2006/main"/>
      </p:grpSpPr>
      <p:sp>
        <p:nvSpPr>
          <p:cNvPr id="8" name="section-5">
            <a:extLst xmlns:a="http://schemas.openxmlformats.org/drawingml/2006/main">
              <a:ext uri="{FF2B5EF4-FFF2-40B4-BE49-F238E27FC236}">
                <a16:creationId xmlns:a16="http://schemas.microsoft.com/office/drawing/2014/main" id="{20FF1A72-3B49-40BF-96C9-17A997E817E3}"/>
              </a:ext>
            </a:extLst>
          </p:cNvPr>
          <p:cNvSpPr>
            <a:spLocks xmlns:a="http://schemas.openxmlformats.org/drawingml/2006/main" noGrp="1"/>
          </p:cNvSpPr>
          <p:nvPr/>
        </p:nvSpPr>
        <p:spPr>
          <a:xfrm xmlns:a="http://schemas.openxmlformats.org/drawingml/2006/main">
            <a:off x="400050" y="238125"/>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563EB"/>
                </a:solidFill>
                <a:latin typeface="Arial"/>
                <a:ea typeface="Arial"/>
                <a:cs typeface="Arial"/>
              </a:defRPr>
            </a:pPr>
            <a:r>
              <a:rPr sz="1125" b="1">
                <a:solidFill>
                  <a:srgbClr val="2563EB"/>
                </a:solidFill>
                <a:latin typeface="Arial"/>
                <a:ea typeface="Arial"/>
                <a:cs typeface="Arial"/>
              </a:rPr>
              <a:t>TECHNICAL APPROACH</a:t>
            </a:r>
          </a:p>
        </p:txBody>
      </p:sp>
      <p:sp>
        <p:nvSpPr>
          <p:cNvPr id="2" name="title-5">
            <a:extLst xmlns:a="http://schemas.openxmlformats.org/drawingml/2006/main">
              <a:ext uri="{FF2B5EF4-FFF2-40B4-BE49-F238E27FC236}">
                <a16:creationId xmlns:a16="http://schemas.microsoft.com/office/drawing/2014/main" id="{F3384533-E1E5-4447-877D-B6B7D355C4E3}"/>
              </a:ext>
            </a:extLst>
          </p:cNvPr>
          <p:cNvSpPr>
            <a:spLocks xmlns:a="http://schemas.openxmlformats.org/drawingml/2006/main" noGrp="1"/>
          </p:cNvSpPr>
          <p:nvPr/>
        </p:nvSpPr>
        <p:spPr>
          <a:xfrm xmlns:a="http://schemas.openxmlformats.org/drawingml/2006/main">
            <a:off x="400050" y="552450"/>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525" b="1">
                <a:solidFill>
                  <a:srgbClr val="111827"/>
                </a:solidFill>
                <a:latin typeface="Arial"/>
                <a:ea typeface="Arial"/>
                <a:cs typeface="Arial"/>
              </a:defRPr>
            </a:pPr>
            <a:r>
              <a:rPr sz="3525" b="1">
                <a:solidFill>
                  <a:srgbClr val="111827"/>
                </a:solidFill>
                <a:latin typeface="Arial"/>
                <a:ea typeface="Arial"/>
                <a:cs typeface="Arial"/>
              </a:rPr>
              <a:t>A geometrically controlled pipeline makes the experiment auditable</a:t>
            </a:r>
          </a:p>
        </p:txBody>
      </p:sp>
      <p:cxnSp>
        <p:nvCxnSpPr>
          <p:cNvPr id="10" name="rule-5"/>
          <p:cNvCxnSpPr/>
          <p:nvPr/>
        </p:nvCxnSpPr>
        <p:spPr>
          <a:xfrm xmlns:a="http://schemas.openxmlformats.org/drawingml/2006/main">
            <a:off x="400050" y="1285875"/>
            <a:ext cx="11391900" cy="0"/>
          </a:xfrm>
          <a:prstGeom xmlns:a="http://schemas.openxmlformats.org/drawingml/2006/main" prst="straightConnector1">
            <a:avLst/>
          </a:prstGeom>
          <a:ln xmlns:a="http://schemas.openxmlformats.org/drawingml/2006/main" w="9525">
            <a:solidFill>
              <a:srgbClr val="D9DEE7"/>
            </a:solidFill>
            <a:prstDash val="solid"/>
          </a:ln>
        </p:spPr>
      </p:cxnSp>
      <p:sp>
        <p:nvSpPr>
          <p:cNvPr id="4" name="source-5">
            <a:extLst xmlns:a="http://schemas.openxmlformats.org/drawingml/2006/main">
              <a:ext uri="{FF2B5EF4-FFF2-40B4-BE49-F238E27FC236}">
                <a16:creationId xmlns:a16="http://schemas.microsoft.com/office/drawing/2014/main" id="{7141906E-9EAE-4A88-BD8F-548097812DA1}"/>
              </a:ext>
            </a:extLst>
          </p:cNvPr>
          <p:cNvSpPr>
            <a:spLocks xmlns:a="http://schemas.openxmlformats.org/drawingml/2006/main" noGrp="1"/>
          </p:cNvSpPr>
          <p:nvPr/>
        </p:nvSpPr>
        <p:spPr>
          <a:xfrm xmlns:a="http://schemas.openxmlformats.org/drawingml/2006/main">
            <a:off x="400050" y="6429375"/>
            <a:ext cx="381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5B6472"/>
                </a:solidFill>
                <a:latin typeface="Arial"/>
                <a:ea typeface="Arial"/>
                <a:cs typeface="Arial"/>
              </a:defRPr>
            </a:pPr>
            <a:r>
              <a:rPr sz="900" b="0">
                <a:solidFill>
                  <a:srgbClr val="5B6472"/>
                </a:solidFill>
                <a:latin typeface="Arial"/>
                <a:ea typeface="Arial"/>
                <a:cs typeface="Arial"/>
              </a:rPr>
              <a:t>Report pp. 58–60, 90–104</a:t>
            </a:r>
          </a:p>
        </p:txBody>
      </p:sp>
      <p:sp>
        <p:nvSpPr>
          <p:cNvPr id="5" name="page-5">
            <a:extLst xmlns:a="http://schemas.openxmlformats.org/drawingml/2006/main">
              <a:ext uri="{FF2B5EF4-FFF2-40B4-BE49-F238E27FC236}">
                <a16:creationId xmlns:a16="http://schemas.microsoft.com/office/drawing/2014/main" id="{65DE9509-8D1F-4E7D-8CFD-810397E34D1C}"/>
              </a:ext>
            </a:extLst>
          </p:cNvPr>
          <p:cNvSpPr>
            <a:spLocks xmlns:a="http://schemas.openxmlformats.org/drawingml/2006/main" noGrp="1"/>
          </p:cNvSpPr>
          <p:nvPr/>
        </p:nvSpPr>
        <p:spPr>
          <a:xfrm xmlns:a="http://schemas.openxmlformats.org/drawingml/2006/main">
            <a:off x="11239500" y="6400800"/>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050" b="0">
                <a:solidFill>
                  <a:srgbClr val="5B6472"/>
                </a:solidFill>
                <a:latin typeface="Arial"/>
                <a:ea typeface="Arial"/>
                <a:cs typeface="Arial"/>
              </a:defRPr>
            </a:pPr>
            <a:r>
              <a:rPr sz="1050" b="0">
                <a:solidFill>
                  <a:srgbClr val="5B6472"/>
                </a:solidFill>
                <a:latin typeface="Arial"/>
                <a:ea typeface="Arial"/>
                <a:cs typeface="Arial"/>
              </a:rPr>
              <a:t>05</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768e3c98717b43b3"/>
          <a:stretch xmlns:a="http://schemas.openxmlformats.org/drawingml/2006/main"/>
        </p:blipFill>
        <p:spPr>
          <a:xfrm xmlns:a="http://schemas.openxmlformats.org/drawingml/2006/main">
            <a:off x="407753" y="1562100"/>
            <a:ext cx="11376495" cy="4362450"/>
          </a:xfrm>
          <a:prstGeom xmlns:a="http://schemas.openxmlformats.org/drawingml/2006/main" prst="roundRect">
            <a:avLst>
              <a:gd name="adj" fmla="val 2620"/>
            </a:avLst>
          </a:prstGeom>
        </p:spPr>
      </p:pic>
      <p:sp>
        <p:nvSpPr>
          <p:cNvPr id="7" name="method-caption">
            <a:extLst xmlns:a="http://schemas.openxmlformats.org/drawingml/2006/main">
              <a:ext uri="{FF2B5EF4-FFF2-40B4-BE49-F238E27FC236}">
                <a16:creationId xmlns:a16="http://schemas.microsoft.com/office/drawing/2014/main" id="{14F7AA94-EB94-44BC-A88A-FA1D0D730899}"/>
              </a:ext>
            </a:extLst>
          </p:cNvPr>
          <p:cNvSpPr>
            <a:spLocks xmlns:a="http://schemas.openxmlformats.org/drawingml/2006/main" noGrp="1"/>
          </p:cNvSpPr>
          <p:nvPr/>
        </p:nvSpPr>
        <p:spPr>
          <a:xfrm xmlns:a="http://schemas.openxmlformats.org/drawingml/2006/main">
            <a:off x="1047750" y="5915025"/>
            <a:ext cx="1009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a:solidFill>
                  <a:srgbClr val="0F766E"/>
                </a:solidFill>
                <a:latin typeface="Arial"/>
                <a:ea typeface="Arial"/>
                <a:cs typeface="Arial"/>
              </a:defRPr>
            </a:pPr>
            <a:r>
              <a:rPr sz="1500" b="1">
                <a:solidFill>
                  <a:srgbClr val="0F766E"/>
                </a:solidFill>
                <a:latin typeface="Arial"/>
                <a:ea typeface="Arial"/>
                <a:cs typeface="Arial"/>
              </a:rPr>
              <a:t>Fold-specific representation learning → shared fusion/lifting → controlled decoder comparison → subject-level evaluation</a:t>
            </a:r>
          </a:p>
        </p:txBody>
      </p:sp>
    </p:spTree>
    <p:extLst>
      <p:ext uri="{BB962C8B-B14F-4D97-AF65-F5344CB8AC3E}">
        <p14:creationId xmlns:p14="http://schemas.microsoft.com/office/powerpoint/2010/main" val="26616436"/>
      </p:ext>
    </p:extLst>
  </p:cSld>
</p:sld>
</file>

<file path=ppt/slides/slide6.xml><?xml version="1.0" encoding="utf-8"?>
<p:sld xmlns:p="http://schemas.openxmlformats.org/presentationml/2006/main">
  <p:cSld>
    <p:bg>
      <p:bgPr>
        <a:solidFill xmlns:a="http://schemas.openxmlformats.org/drawingml/2006/main">
          <a:srgbClr val="FBFBFA"/>
        </a:solidFill>
      </p:bgPr>
    </p:bg>
    <p:spTree>
      <p:nvGrpSpPr>
        <p:cNvPr id="1" name=""/>
        <p:cNvGrpSpPr/>
        <p:nvPr/>
      </p:nvGrpSpPr>
      <p:grpSpPr>
        <a:xfrm xmlns:a="http://schemas.openxmlformats.org/drawingml/2006/main"/>
      </p:grpSpPr>
      <p:sp>
        <p:nvSpPr>
          <p:cNvPr id="21" name="section-6">
            <a:extLst xmlns:a="http://schemas.openxmlformats.org/drawingml/2006/main">
              <a:ext uri="{FF2B5EF4-FFF2-40B4-BE49-F238E27FC236}">
                <a16:creationId xmlns:a16="http://schemas.microsoft.com/office/drawing/2014/main" id="{FBEBE556-458F-444A-85F3-EFD2C5F1D24C}"/>
              </a:ext>
            </a:extLst>
          </p:cNvPr>
          <p:cNvSpPr>
            <a:spLocks xmlns:a="http://schemas.openxmlformats.org/drawingml/2006/main" noGrp="1"/>
          </p:cNvSpPr>
          <p:nvPr/>
        </p:nvSpPr>
        <p:spPr>
          <a:xfrm xmlns:a="http://schemas.openxmlformats.org/drawingml/2006/main">
            <a:off x="400050" y="238125"/>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563EB"/>
                </a:solidFill>
                <a:latin typeface="Arial"/>
                <a:ea typeface="Arial"/>
                <a:cs typeface="Arial"/>
              </a:defRPr>
            </a:pPr>
            <a:r>
              <a:rPr sz="1125" b="1">
                <a:solidFill>
                  <a:srgbClr val="2563EB"/>
                </a:solidFill>
                <a:latin typeface="Arial"/>
                <a:ea typeface="Arial"/>
                <a:cs typeface="Arial"/>
              </a:rPr>
              <a:t>TECHNICAL APPROACH</a:t>
            </a:r>
          </a:p>
        </p:txBody>
      </p:sp>
      <p:sp>
        <p:nvSpPr>
          <p:cNvPr id="2" name="title-6">
            <a:extLst xmlns:a="http://schemas.openxmlformats.org/drawingml/2006/main">
              <a:ext uri="{FF2B5EF4-FFF2-40B4-BE49-F238E27FC236}">
                <a16:creationId xmlns:a16="http://schemas.microsoft.com/office/drawing/2014/main" id="{A9D8B947-8717-46A9-A92C-E2F49AB573A1}"/>
              </a:ext>
            </a:extLst>
          </p:cNvPr>
          <p:cNvSpPr>
            <a:spLocks xmlns:a="http://schemas.openxmlformats.org/drawingml/2006/main" noGrp="1"/>
          </p:cNvSpPr>
          <p:nvPr/>
        </p:nvSpPr>
        <p:spPr>
          <a:xfrm xmlns:a="http://schemas.openxmlformats.org/drawingml/2006/main">
            <a:off x="400050" y="552450"/>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525" b="1">
                <a:solidFill>
                  <a:srgbClr val="111827"/>
                </a:solidFill>
                <a:latin typeface="Arial"/>
                <a:ea typeface="Arial"/>
                <a:cs typeface="Arial"/>
              </a:defRPr>
            </a:pPr>
            <a:r>
              <a:rPr sz="3525" b="1">
                <a:solidFill>
                  <a:srgbClr val="111827"/>
                </a:solidFill>
                <a:latin typeface="Arial"/>
                <a:ea typeface="Arial"/>
                <a:cs typeface="Arial"/>
              </a:rPr>
              <a:t>The cohort is small, mixed and leakage-controlled</a:t>
            </a:r>
          </a:p>
        </p:txBody>
      </p:sp>
      <p:cxnSp>
        <p:nvCxnSpPr>
          <p:cNvPr id="23" name="rule-6"/>
          <p:cNvCxnSpPr/>
          <p:nvPr/>
        </p:nvCxnSpPr>
        <p:spPr>
          <a:xfrm xmlns:a="http://schemas.openxmlformats.org/drawingml/2006/main">
            <a:off x="400050" y="1285875"/>
            <a:ext cx="11391900" cy="0"/>
          </a:xfrm>
          <a:prstGeom xmlns:a="http://schemas.openxmlformats.org/drawingml/2006/main" prst="straightConnector1">
            <a:avLst/>
          </a:prstGeom>
          <a:ln xmlns:a="http://schemas.openxmlformats.org/drawingml/2006/main" w="9525">
            <a:solidFill>
              <a:srgbClr val="D9DEE7"/>
            </a:solidFill>
            <a:prstDash val="solid"/>
          </a:ln>
        </p:spPr>
      </p:cxnSp>
      <p:sp>
        <p:nvSpPr>
          <p:cNvPr id="4" name="source-6">
            <a:extLst xmlns:a="http://schemas.openxmlformats.org/drawingml/2006/main">
              <a:ext uri="{FF2B5EF4-FFF2-40B4-BE49-F238E27FC236}">
                <a16:creationId xmlns:a16="http://schemas.microsoft.com/office/drawing/2014/main" id="{2F49B5BD-281A-4EE2-9C35-075D48738F50}"/>
              </a:ext>
            </a:extLst>
          </p:cNvPr>
          <p:cNvSpPr>
            <a:spLocks xmlns:a="http://schemas.openxmlformats.org/drawingml/2006/main" noGrp="1"/>
          </p:cNvSpPr>
          <p:nvPr/>
        </p:nvSpPr>
        <p:spPr>
          <a:xfrm xmlns:a="http://schemas.openxmlformats.org/drawingml/2006/main">
            <a:off x="400050" y="6429375"/>
            <a:ext cx="381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5B6472"/>
                </a:solidFill>
                <a:latin typeface="Arial"/>
                <a:ea typeface="Arial"/>
                <a:cs typeface="Arial"/>
              </a:defRPr>
            </a:pPr>
            <a:r>
              <a:rPr sz="900" b="0">
                <a:solidFill>
                  <a:srgbClr val="5B6472"/>
                </a:solidFill>
                <a:latin typeface="Arial"/>
                <a:ea typeface="Arial"/>
                <a:cs typeface="Arial"/>
              </a:rPr>
              <a:t>Report pp. 14, 76–77, 110</a:t>
            </a:r>
          </a:p>
        </p:txBody>
      </p:sp>
      <p:sp>
        <p:nvSpPr>
          <p:cNvPr id="5" name="page-6">
            <a:extLst xmlns:a="http://schemas.openxmlformats.org/drawingml/2006/main">
              <a:ext uri="{FF2B5EF4-FFF2-40B4-BE49-F238E27FC236}">
                <a16:creationId xmlns:a16="http://schemas.microsoft.com/office/drawing/2014/main" id="{3DD81021-4CEC-47B4-8028-396027FDF33C}"/>
              </a:ext>
            </a:extLst>
          </p:cNvPr>
          <p:cNvSpPr>
            <a:spLocks xmlns:a="http://schemas.openxmlformats.org/drawingml/2006/main" noGrp="1"/>
          </p:cNvSpPr>
          <p:nvPr/>
        </p:nvSpPr>
        <p:spPr>
          <a:xfrm xmlns:a="http://schemas.openxmlformats.org/drawingml/2006/main">
            <a:off x="11239500" y="6400800"/>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050" b="0">
                <a:solidFill>
                  <a:srgbClr val="5B6472"/>
                </a:solidFill>
                <a:latin typeface="Arial"/>
                <a:ea typeface="Arial"/>
                <a:cs typeface="Arial"/>
              </a:defRPr>
            </a:pPr>
            <a:r>
              <a:rPr sz="1050" b="0">
                <a:solidFill>
                  <a:srgbClr val="5B6472"/>
                </a:solidFill>
                <a:latin typeface="Arial"/>
                <a:ea typeface="Arial"/>
                <a:cs typeface="Arial"/>
              </a:rPr>
              <a:t>06</a:t>
            </a:r>
          </a:p>
        </p:txBody>
      </p:sp>
      <p:sp>
        <p:nvSpPr>
          <p:cNvPr id="6" name="cohort-intro">
            <a:extLst xmlns:a="http://schemas.openxmlformats.org/drawingml/2006/main">
              <a:ext uri="{FF2B5EF4-FFF2-40B4-BE49-F238E27FC236}">
                <a16:creationId xmlns:a16="http://schemas.microsoft.com/office/drawing/2014/main" id="{0D9A1BE9-EB3B-4A4E-B922-DE7EEA60BDED}"/>
              </a:ext>
            </a:extLst>
          </p:cNvPr>
          <p:cNvSpPr>
            <a:spLocks xmlns:a="http://schemas.openxmlformats.org/drawingml/2006/main" noGrp="1"/>
          </p:cNvSpPr>
          <p:nvPr/>
        </p:nvSpPr>
        <p:spPr>
          <a:xfrm xmlns:a="http://schemas.openxmlformats.org/drawingml/2006/main">
            <a:off x="400050" y="1457325"/>
            <a:ext cx="8572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0">
                <a:solidFill>
                  <a:srgbClr val="5B6472"/>
                </a:solidFill>
                <a:latin typeface="Arial"/>
                <a:ea typeface="Arial"/>
                <a:cs typeface="Arial"/>
              </a:defRPr>
            </a:pPr>
            <a:r>
              <a:rPr sz="1800" b="0">
                <a:solidFill>
                  <a:srgbClr val="5B6472"/>
                </a:solidFill>
                <a:latin typeface="Arial"/>
                <a:ea typeface="Arial"/>
                <a:cs typeface="Arial"/>
              </a:rPr>
              <a:t>Quantitative cohort after eligibility and quality checks</a:t>
            </a:r>
          </a:p>
        </p:txBody>
      </p:sp>
      <p:sp>
        <p:nvSpPr>
          <p:cNvPr id="7" name="subjects-panel">
            <a:extLst xmlns:a="http://schemas.openxmlformats.org/drawingml/2006/main">
              <a:ext uri="{FF2B5EF4-FFF2-40B4-BE49-F238E27FC236}">
                <a16:creationId xmlns:a16="http://schemas.microsoft.com/office/drawing/2014/main" id="{1BA3FE92-FC67-47DD-8853-695DC63E64A5}"/>
              </a:ext>
            </a:extLst>
          </p:cNvPr>
          <p:cNvSpPr>
            <a:spLocks xmlns:a="http://schemas.openxmlformats.org/drawingml/2006/main" noGrp="1"/>
          </p:cNvSpPr>
          <p:nvPr/>
        </p:nvSpPr>
        <p:spPr>
          <a:xfrm xmlns:a="http://schemas.openxmlformats.org/drawingml/2006/main">
            <a:off x="400050" y="2247900"/>
            <a:ext cx="2571750" cy="1657350"/>
          </a:xfrm>
          <a:prstGeom xmlns:a="http://schemas.openxmlformats.org/drawingml/2006/main" prst="roundRect">
            <a:avLst>
              <a:gd name="adj" fmla="val 6897"/>
            </a:avLst>
          </a:prstGeom>
          <a:solidFill xmlns:a="http://schemas.openxmlformats.org/drawingml/2006/main">
            <a:srgbClr val="F1F3F6"/>
          </a:solidFill>
          <a:ln xmlns:a="http://schemas.openxmlformats.org/drawingml/2006/main" w="0">
            <a:noFill/>
            <a:prstDash val="solid"/>
          </a:ln>
        </p:spPr>
      </p:sp>
      <p:sp>
        <p:nvSpPr>
          <p:cNvPr id="8" name="subjects-value">
            <a:extLst xmlns:a="http://schemas.openxmlformats.org/drawingml/2006/main">
              <a:ext uri="{FF2B5EF4-FFF2-40B4-BE49-F238E27FC236}">
                <a16:creationId xmlns:a16="http://schemas.microsoft.com/office/drawing/2014/main" id="{0C2169E3-3CEC-4ADD-8EBA-1DD6C05D8622}"/>
              </a:ext>
            </a:extLst>
          </p:cNvPr>
          <p:cNvSpPr>
            <a:spLocks xmlns:a="http://schemas.openxmlformats.org/drawingml/2006/main" noGrp="1"/>
          </p:cNvSpPr>
          <p:nvPr/>
        </p:nvSpPr>
        <p:spPr>
          <a:xfrm xmlns:a="http://schemas.openxmlformats.org/drawingml/2006/main">
            <a:off x="609600" y="2457450"/>
            <a:ext cx="21526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600" b="1">
                <a:solidFill>
                  <a:srgbClr val="2563EB"/>
                </a:solidFill>
                <a:latin typeface="Arial"/>
                <a:ea typeface="Arial"/>
                <a:cs typeface="Arial"/>
              </a:defRPr>
            </a:pPr>
            <a:r>
              <a:rPr sz="3600" b="1">
                <a:solidFill>
                  <a:srgbClr val="2563EB"/>
                </a:solidFill>
                <a:latin typeface="Arial"/>
                <a:ea typeface="Arial"/>
                <a:cs typeface="Arial"/>
              </a:rPr>
              <a:t>43</a:t>
            </a:r>
          </a:p>
        </p:txBody>
      </p:sp>
      <p:sp>
        <p:nvSpPr>
          <p:cNvPr id="9" name="subjects-label">
            <a:extLst xmlns:a="http://schemas.openxmlformats.org/drawingml/2006/main">
              <a:ext uri="{FF2B5EF4-FFF2-40B4-BE49-F238E27FC236}">
                <a16:creationId xmlns:a16="http://schemas.microsoft.com/office/drawing/2014/main" id="{846C9A82-0B5F-47CA-A184-C0FD8AD2FAAE}"/>
              </a:ext>
            </a:extLst>
          </p:cNvPr>
          <p:cNvSpPr>
            <a:spLocks xmlns:a="http://schemas.openxmlformats.org/drawingml/2006/main" noGrp="1"/>
          </p:cNvSpPr>
          <p:nvPr/>
        </p:nvSpPr>
        <p:spPr>
          <a:xfrm xmlns:a="http://schemas.openxmlformats.org/drawingml/2006/main">
            <a:off x="609600" y="3209925"/>
            <a:ext cx="21526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5B6472"/>
                </a:solidFill>
                <a:latin typeface="Arial"/>
                <a:ea typeface="Arial"/>
                <a:cs typeface="Arial"/>
              </a:defRPr>
            </a:pPr>
            <a:r>
              <a:rPr sz="1500" b="0">
                <a:solidFill>
                  <a:srgbClr val="5B6472"/>
                </a:solidFill>
                <a:latin typeface="Arial"/>
                <a:ea typeface="Arial"/>
                <a:cs typeface="Arial"/>
              </a:rPr>
              <a:t>subjects</a:t>
            </a:r>
          </a:p>
        </p:txBody>
      </p:sp>
      <p:sp>
        <p:nvSpPr>
          <p:cNvPr id="10" name="knees-panel">
            <a:extLst xmlns:a="http://schemas.openxmlformats.org/drawingml/2006/main">
              <a:ext uri="{FF2B5EF4-FFF2-40B4-BE49-F238E27FC236}">
                <a16:creationId xmlns:a16="http://schemas.microsoft.com/office/drawing/2014/main" id="{A642B036-B189-4FC0-8CC5-8AF8BE478482}"/>
              </a:ext>
            </a:extLst>
          </p:cNvPr>
          <p:cNvSpPr>
            <a:spLocks xmlns:a="http://schemas.openxmlformats.org/drawingml/2006/main" noGrp="1"/>
          </p:cNvSpPr>
          <p:nvPr/>
        </p:nvSpPr>
        <p:spPr>
          <a:xfrm xmlns:a="http://schemas.openxmlformats.org/drawingml/2006/main">
            <a:off x="3209925" y="2247900"/>
            <a:ext cx="2571750" cy="1657350"/>
          </a:xfrm>
          <a:prstGeom xmlns:a="http://schemas.openxmlformats.org/drawingml/2006/main" prst="roundRect">
            <a:avLst>
              <a:gd name="adj" fmla="val 6897"/>
            </a:avLst>
          </a:prstGeom>
          <a:solidFill xmlns:a="http://schemas.openxmlformats.org/drawingml/2006/main">
            <a:srgbClr val="F1F3F6"/>
          </a:solidFill>
          <a:ln xmlns:a="http://schemas.openxmlformats.org/drawingml/2006/main" w="0">
            <a:noFill/>
            <a:prstDash val="solid"/>
          </a:ln>
        </p:spPr>
      </p:sp>
      <p:sp>
        <p:nvSpPr>
          <p:cNvPr id="11" name="knees-value">
            <a:extLst xmlns:a="http://schemas.openxmlformats.org/drawingml/2006/main">
              <a:ext uri="{FF2B5EF4-FFF2-40B4-BE49-F238E27FC236}">
                <a16:creationId xmlns:a16="http://schemas.microsoft.com/office/drawing/2014/main" id="{008941C1-0808-45DF-8C0E-06F8D13554EA}"/>
              </a:ext>
            </a:extLst>
          </p:cNvPr>
          <p:cNvSpPr>
            <a:spLocks xmlns:a="http://schemas.openxmlformats.org/drawingml/2006/main" noGrp="1"/>
          </p:cNvSpPr>
          <p:nvPr/>
        </p:nvSpPr>
        <p:spPr>
          <a:xfrm xmlns:a="http://schemas.openxmlformats.org/drawingml/2006/main">
            <a:off x="3419475" y="2457450"/>
            <a:ext cx="21526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600" b="1">
                <a:solidFill>
                  <a:srgbClr val="0F766E"/>
                </a:solidFill>
                <a:latin typeface="Arial"/>
                <a:ea typeface="Arial"/>
                <a:cs typeface="Arial"/>
              </a:defRPr>
            </a:pPr>
            <a:r>
              <a:rPr sz="3600" b="1">
                <a:solidFill>
                  <a:srgbClr val="0F766E"/>
                </a:solidFill>
                <a:latin typeface="Arial"/>
                <a:ea typeface="Arial"/>
                <a:cs typeface="Arial"/>
              </a:rPr>
              <a:t>71</a:t>
            </a:r>
          </a:p>
        </p:txBody>
      </p:sp>
      <p:sp>
        <p:nvSpPr>
          <p:cNvPr id="12" name="knees-label">
            <a:extLst xmlns:a="http://schemas.openxmlformats.org/drawingml/2006/main">
              <a:ext uri="{FF2B5EF4-FFF2-40B4-BE49-F238E27FC236}">
                <a16:creationId xmlns:a16="http://schemas.microsoft.com/office/drawing/2014/main" id="{637E14C9-2AE8-4246-A3B7-AB78DD02952D}"/>
              </a:ext>
            </a:extLst>
          </p:cNvPr>
          <p:cNvSpPr>
            <a:spLocks xmlns:a="http://schemas.openxmlformats.org/drawingml/2006/main" noGrp="1"/>
          </p:cNvSpPr>
          <p:nvPr/>
        </p:nvSpPr>
        <p:spPr>
          <a:xfrm xmlns:a="http://schemas.openxmlformats.org/drawingml/2006/main">
            <a:off x="3419475" y="3209925"/>
            <a:ext cx="21526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5B6472"/>
                </a:solidFill>
                <a:latin typeface="Arial"/>
                <a:ea typeface="Arial"/>
                <a:cs typeface="Arial"/>
              </a:defRPr>
            </a:pPr>
            <a:r>
              <a:rPr sz="1500" b="0">
                <a:solidFill>
                  <a:srgbClr val="5B6472"/>
                </a:solidFill>
                <a:latin typeface="Arial"/>
                <a:ea typeface="Arial"/>
                <a:cs typeface="Arial"/>
              </a:rPr>
              <a:t>knees</a:t>
            </a:r>
          </a:p>
        </p:txBody>
      </p:sp>
      <p:sp>
        <p:nvSpPr>
          <p:cNvPr id="13" name="healthy-panel">
            <a:extLst xmlns:a="http://schemas.openxmlformats.org/drawingml/2006/main">
              <a:ext uri="{FF2B5EF4-FFF2-40B4-BE49-F238E27FC236}">
                <a16:creationId xmlns:a16="http://schemas.microsoft.com/office/drawing/2014/main" id="{4C6D323C-D941-4001-BA30-4C74D724B436}"/>
              </a:ext>
            </a:extLst>
          </p:cNvPr>
          <p:cNvSpPr>
            <a:spLocks xmlns:a="http://schemas.openxmlformats.org/drawingml/2006/main" noGrp="1"/>
          </p:cNvSpPr>
          <p:nvPr/>
        </p:nvSpPr>
        <p:spPr>
          <a:xfrm xmlns:a="http://schemas.openxmlformats.org/drawingml/2006/main">
            <a:off x="6019800" y="2247900"/>
            <a:ext cx="2571750" cy="1657350"/>
          </a:xfrm>
          <a:prstGeom xmlns:a="http://schemas.openxmlformats.org/drawingml/2006/main" prst="roundRect">
            <a:avLst>
              <a:gd name="adj" fmla="val 6897"/>
            </a:avLst>
          </a:prstGeom>
          <a:solidFill xmlns:a="http://schemas.openxmlformats.org/drawingml/2006/main">
            <a:srgbClr val="F1F3F6"/>
          </a:solidFill>
          <a:ln xmlns:a="http://schemas.openxmlformats.org/drawingml/2006/main" w="0">
            <a:noFill/>
            <a:prstDash val="solid"/>
          </a:ln>
        </p:spPr>
      </p:sp>
      <p:sp>
        <p:nvSpPr>
          <p:cNvPr id="14" name="healthy-value">
            <a:extLst xmlns:a="http://schemas.openxmlformats.org/drawingml/2006/main">
              <a:ext uri="{FF2B5EF4-FFF2-40B4-BE49-F238E27FC236}">
                <a16:creationId xmlns:a16="http://schemas.microsoft.com/office/drawing/2014/main" id="{B1B527FA-8DD3-45DE-8D48-5E804E5FB9CB}"/>
              </a:ext>
            </a:extLst>
          </p:cNvPr>
          <p:cNvSpPr>
            <a:spLocks xmlns:a="http://schemas.openxmlformats.org/drawingml/2006/main" noGrp="1"/>
          </p:cNvSpPr>
          <p:nvPr/>
        </p:nvSpPr>
        <p:spPr>
          <a:xfrm xmlns:a="http://schemas.openxmlformats.org/drawingml/2006/main">
            <a:off x="6229350" y="2457450"/>
            <a:ext cx="21526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600" b="1">
                <a:solidFill>
                  <a:srgbClr val="2563EB"/>
                </a:solidFill>
                <a:latin typeface="Arial"/>
                <a:ea typeface="Arial"/>
                <a:cs typeface="Arial"/>
              </a:defRPr>
            </a:pPr>
            <a:r>
              <a:rPr sz="3600" b="1">
                <a:solidFill>
                  <a:srgbClr val="2563EB"/>
                </a:solidFill>
                <a:latin typeface="Arial"/>
                <a:ea typeface="Arial"/>
                <a:cs typeface="Arial"/>
              </a:rPr>
              <a:t>58</a:t>
            </a:r>
          </a:p>
        </p:txBody>
      </p:sp>
      <p:sp>
        <p:nvSpPr>
          <p:cNvPr id="15" name="healthy-label">
            <a:extLst xmlns:a="http://schemas.openxmlformats.org/drawingml/2006/main">
              <a:ext uri="{FF2B5EF4-FFF2-40B4-BE49-F238E27FC236}">
                <a16:creationId xmlns:a16="http://schemas.microsoft.com/office/drawing/2014/main" id="{723E65E7-11B5-42C4-86B3-526B6F7E817A}"/>
              </a:ext>
            </a:extLst>
          </p:cNvPr>
          <p:cNvSpPr>
            <a:spLocks xmlns:a="http://schemas.openxmlformats.org/drawingml/2006/main" noGrp="1"/>
          </p:cNvSpPr>
          <p:nvPr/>
        </p:nvSpPr>
        <p:spPr>
          <a:xfrm xmlns:a="http://schemas.openxmlformats.org/drawingml/2006/main">
            <a:off x="6229350" y="3209925"/>
            <a:ext cx="21526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5B6472"/>
                </a:solidFill>
                <a:latin typeface="Arial"/>
                <a:ea typeface="Arial"/>
                <a:cs typeface="Arial"/>
              </a:defRPr>
            </a:pPr>
            <a:r>
              <a:rPr sz="1500" b="0">
                <a:solidFill>
                  <a:srgbClr val="5B6472"/>
                </a:solidFill>
                <a:latin typeface="Arial"/>
                <a:ea typeface="Arial"/>
                <a:cs typeface="Arial"/>
              </a:rPr>
              <a:t>healthy knees</a:t>
            </a:r>
          </a:p>
        </p:txBody>
      </p:sp>
      <p:sp>
        <p:nvSpPr>
          <p:cNvPr id="16" name="fractured-panel">
            <a:extLst xmlns:a="http://schemas.openxmlformats.org/drawingml/2006/main">
              <a:ext uri="{FF2B5EF4-FFF2-40B4-BE49-F238E27FC236}">
                <a16:creationId xmlns:a16="http://schemas.microsoft.com/office/drawing/2014/main" id="{F4DF0637-DAA9-4584-BC50-1D8A440C75E5}"/>
              </a:ext>
            </a:extLst>
          </p:cNvPr>
          <p:cNvSpPr>
            <a:spLocks xmlns:a="http://schemas.openxmlformats.org/drawingml/2006/main" noGrp="1"/>
          </p:cNvSpPr>
          <p:nvPr/>
        </p:nvSpPr>
        <p:spPr>
          <a:xfrm xmlns:a="http://schemas.openxmlformats.org/drawingml/2006/main">
            <a:off x="8829675" y="2247900"/>
            <a:ext cx="2962275" cy="1657350"/>
          </a:xfrm>
          <a:prstGeom xmlns:a="http://schemas.openxmlformats.org/drawingml/2006/main" prst="roundRect">
            <a:avLst>
              <a:gd name="adj" fmla="val 6897"/>
            </a:avLst>
          </a:prstGeom>
          <a:solidFill xmlns:a="http://schemas.openxmlformats.org/drawingml/2006/main">
            <a:srgbClr val="F1F3F6"/>
          </a:solidFill>
          <a:ln xmlns:a="http://schemas.openxmlformats.org/drawingml/2006/main" w="0">
            <a:noFill/>
            <a:prstDash val="solid"/>
          </a:ln>
        </p:spPr>
      </p:sp>
      <p:sp>
        <p:nvSpPr>
          <p:cNvPr id="17" name="fractured-value">
            <a:extLst xmlns:a="http://schemas.openxmlformats.org/drawingml/2006/main">
              <a:ext uri="{FF2B5EF4-FFF2-40B4-BE49-F238E27FC236}">
                <a16:creationId xmlns:a16="http://schemas.microsoft.com/office/drawing/2014/main" id="{6E5C6CB3-E88F-4067-B5B7-FE07D07A0E89}"/>
              </a:ext>
            </a:extLst>
          </p:cNvPr>
          <p:cNvSpPr>
            <a:spLocks xmlns:a="http://schemas.openxmlformats.org/drawingml/2006/main" noGrp="1"/>
          </p:cNvSpPr>
          <p:nvPr/>
        </p:nvSpPr>
        <p:spPr>
          <a:xfrm xmlns:a="http://schemas.openxmlformats.org/drawingml/2006/main">
            <a:off x="9039225" y="2457450"/>
            <a:ext cx="25431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600" b="1">
                <a:solidFill>
                  <a:srgbClr val="D97706"/>
                </a:solidFill>
                <a:latin typeface="Arial"/>
                <a:ea typeface="Arial"/>
                <a:cs typeface="Arial"/>
              </a:defRPr>
            </a:pPr>
            <a:r>
              <a:rPr sz="3600" b="1">
                <a:solidFill>
                  <a:srgbClr val="D97706"/>
                </a:solidFill>
                <a:latin typeface="Arial"/>
                <a:ea typeface="Arial"/>
                <a:cs typeface="Arial"/>
              </a:rPr>
              <a:t>13</a:t>
            </a:r>
          </a:p>
        </p:txBody>
      </p:sp>
      <p:sp>
        <p:nvSpPr>
          <p:cNvPr id="18" name="fractured-label">
            <a:extLst xmlns:a="http://schemas.openxmlformats.org/drawingml/2006/main">
              <a:ext uri="{FF2B5EF4-FFF2-40B4-BE49-F238E27FC236}">
                <a16:creationId xmlns:a16="http://schemas.microsoft.com/office/drawing/2014/main" id="{0055AEA0-7DAC-4271-8D24-37294F98FFD6}"/>
              </a:ext>
            </a:extLst>
          </p:cNvPr>
          <p:cNvSpPr>
            <a:spLocks xmlns:a="http://schemas.openxmlformats.org/drawingml/2006/main" noGrp="1"/>
          </p:cNvSpPr>
          <p:nvPr/>
        </p:nvSpPr>
        <p:spPr>
          <a:xfrm xmlns:a="http://schemas.openxmlformats.org/drawingml/2006/main">
            <a:off x="9039225" y="3209925"/>
            <a:ext cx="25431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5B6472"/>
                </a:solidFill>
                <a:latin typeface="Arial"/>
                <a:ea typeface="Arial"/>
                <a:cs typeface="Arial"/>
              </a:defRPr>
            </a:pPr>
            <a:r>
              <a:rPr sz="1500" b="0">
                <a:solidFill>
                  <a:srgbClr val="5B6472"/>
                </a:solidFill>
                <a:latin typeface="Arial"/>
                <a:ea typeface="Arial"/>
                <a:cs typeface="Arial"/>
              </a:rPr>
              <a:t>fractured knees</a:t>
            </a:r>
          </a:p>
        </p:txBody>
      </p:sp>
      <p:sp>
        <p:nvSpPr>
          <p:cNvPr id="19" name="fold-line">
            <a:extLst xmlns:a="http://schemas.openxmlformats.org/drawingml/2006/main">
              <a:ext uri="{FF2B5EF4-FFF2-40B4-BE49-F238E27FC236}">
                <a16:creationId xmlns:a16="http://schemas.microsoft.com/office/drawing/2014/main" id="{E2F64829-C600-4C61-BE22-0A32C4D01FED}"/>
              </a:ext>
            </a:extLst>
          </p:cNvPr>
          <p:cNvSpPr>
            <a:spLocks xmlns:a="http://schemas.openxmlformats.org/drawingml/2006/main" noGrp="1"/>
          </p:cNvSpPr>
          <p:nvPr/>
        </p:nvSpPr>
        <p:spPr>
          <a:xfrm xmlns:a="http://schemas.openxmlformats.org/drawingml/2006/main">
            <a:off x="400050" y="4419600"/>
            <a:ext cx="113919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75" b="1">
                <a:solidFill>
                  <a:srgbClr val="111827"/>
                </a:solidFill>
                <a:latin typeface="Arial"/>
                <a:ea typeface="Arial"/>
                <a:cs typeface="Arial"/>
              </a:defRPr>
            </a:pPr>
            <a:r>
              <a:rPr sz="1875" b="1">
                <a:solidFill>
                  <a:srgbClr val="111827"/>
                </a:solidFill>
                <a:latin typeface="Arial"/>
                <a:ea typeface="Arial"/>
                <a:cs typeface="Arial"/>
              </a:rPr>
              <a:t>5 subject-grouped folds  ·  every fold contains healthy and fractured anatomy  ·  bilateral knees stay together</a:t>
            </a:r>
          </a:p>
        </p:txBody>
      </p:sp>
      <p:sp>
        <p:nvSpPr>
          <p:cNvPr id="20" name="cohort-caveat">
            <a:extLst xmlns:a="http://schemas.openxmlformats.org/drawingml/2006/main">
              <a:ext uri="{FF2B5EF4-FFF2-40B4-BE49-F238E27FC236}">
                <a16:creationId xmlns:a16="http://schemas.microsoft.com/office/drawing/2014/main" id="{66396880-E9A7-462F-9C27-100193C4AB14}"/>
              </a:ext>
            </a:extLst>
          </p:cNvPr>
          <p:cNvSpPr>
            <a:spLocks xmlns:a="http://schemas.openxmlformats.org/drawingml/2006/main" noGrp="1"/>
          </p:cNvSpPr>
          <p:nvPr/>
        </p:nvSpPr>
        <p:spPr>
          <a:xfrm xmlns:a="http://schemas.openxmlformats.org/drawingml/2006/main">
            <a:off x="904875" y="5314950"/>
            <a:ext cx="1038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650" b="0">
                <a:solidFill>
                  <a:srgbClr val="B91C1C"/>
                </a:solidFill>
                <a:latin typeface="Arial"/>
                <a:ea typeface="Arial"/>
                <a:cs typeface="Arial"/>
              </a:defRPr>
            </a:pPr>
            <a:r>
              <a:rPr sz="1650" b="0">
                <a:solidFill>
                  <a:srgbClr val="B91C1C"/>
                </a:solidFill>
                <a:latin typeface="Arial"/>
                <a:ea typeface="Arial"/>
                <a:cs typeface="Arial"/>
              </a:rPr>
              <a:t>Interpretation boundary: healthy and fractured cases come from different datasets, so pathology is confounded with acquisition domain.</a:t>
            </a:r>
          </a:p>
        </p:txBody>
      </p:sp>
    </p:spTree>
    <p:extLst>
      <p:ext uri="{BB962C8B-B14F-4D97-AF65-F5344CB8AC3E}">
        <p14:creationId xmlns:p14="http://schemas.microsoft.com/office/powerpoint/2010/main" val="1811998095"/>
      </p:ext>
    </p:extLst>
  </p:cSld>
</p:sld>
</file>

<file path=ppt/slides/slide7.xml><?xml version="1.0" encoding="utf-8"?>
<p:sld xmlns:p="http://schemas.openxmlformats.org/presentationml/2006/main">
  <p:cSld>
    <p:bg>
      <p:bgPr>
        <a:solidFill xmlns:a="http://schemas.openxmlformats.org/drawingml/2006/main">
          <a:srgbClr val="FBFBFA"/>
        </a:solidFill>
      </p:bgPr>
    </p:bg>
    <p:spTree>
      <p:nvGrpSpPr>
        <p:cNvPr id="1" name=""/>
        <p:cNvGrpSpPr/>
        <p:nvPr/>
      </p:nvGrpSpPr>
      <p:grpSpPr>
        <a:xfrm xmlns:a="http://schemas.openxmlformats.org/drawingml/2006/main"/>
      </p:grpSpPr>
      <p:sp>
        <p:nvSpPr>
          <p:cNvPr id="25" name="section-7">
            <a:extLst xmlns:a="http://schemas.openxmlformats.org/drawingml/2006/main">
              <a:ext uri="{FF2B5EF4-FFF2-40B4-BE49-F238E27FC236}">
                <a16:creationId xmlns:a16="http://schemas.microsoft.com/office/drawing/2014/main" id="{CA6C783B-C5F1-4169-AE2A-8812A2181A47}"/>
              </a:ext>
            </a:extLst>
          </p:cNvPr>
          <p:cNvSpPr>
            <a:spLocks xmlns:a="http://schemas.openxmlformats.org/drawingml/2006/main" noGrp="1"/>
          </p:cNvSpPr>
          <p:nvPr/>
        </p:nvSpPr>
        <p:spPr>
          <a:xfrm xmlns:a="http://schemas.openxmlformats.org/drawingml/2006/main">
            <a:off x="400050" y="238125"/>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563EB"/>
                </a:solidFill>
                <a:latin typeface="Arial"/>
                <a:ea typeface="Arial"/>
                <a:cs typeface="Arial"/>
              </a:defRPr>
            </a:pPr>
            <a:r>
              <a:rPr sz="1125" b="1">
                <a:solidFill>
                  <a:srgbClr val="2563EB"/>
                </a:solidFill>
                <a:latin typeface="Arial"/>
                <a:ea typeface="Arial"/>
                <a:cs typeface="Arial"/>
              </a:rPr>
              <a:t>TECHNICAL APPROACH</a:t>
            </a:r>
          </a:p>
        </p:txBody>
      </p:sp>
      <p:sp>
        <p:nvSpPr>
          <p:cNvPr id="2" name="title-7">
            <a:extLst xmlns:a="http://schemas.openxmlformats.org/drawingml/2006/main">
              <a:ext uri="{FF2B5EF4-FFF2-40B4-BE49-F238E27FC236}">
                <a16:creationId xmlns:a16="http://schemas.microsoft.com/office/drawing/2014/main" id="{5B29CB65-5405-41B8-B466-206774B60C44}"/>
              </a:ext>
            </a:extLst>
          </p:cNvPr>
          <p:cNvSpPr>
            <a:spLocks xmlns:a="http://schemas.openxmlformats.org/drawingml/2006/main" noGrp="1"/>
          </p:cNvSpPr>
          <p:nvPr/>
        </p:nvSpPr>
        <p:spPr>
          <a:xfrm xmlns:a="http://schemas.openxmlformats.org/drawingml/2006/main">
            <a:off x="400050" y="552450"/>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525" b="1">
                <a:solidFill>
                  <a:srgbClr val="111827"/>
                </a:solidFill>
                <a:latin typeface="Arial"/>
                <a:ea typeface="Arial"/>
                <a:cs typeface="Arial"/>
              </a:defRPr>
            </a:pPr>
            <a:r>
              <a:rPr sz="3525" b="1">
                <a:solidFill>
                  <a:srgbClr val="111827"/>
                </a:solidFill>
                <a:latin typeface="Arial"/>
                <a:ea typeface="Arial"/>
                <a:cs typeface="Arial"/>
              </a:rPr>
              <a:t>Ground-truth meshes become four-channel targets</a:t>
            </a:r>
          </a:p>
        </p:txBody>
      </p:sp>
      <p:cxnSp>
        <p:nvCxnSpPr>
          <p:cNvPr id="27" name="rule-7"/>
          <p:cNvCxnSpPr/>
          <p:nvPr/>
        </p:nvCxnSpPr>
        <p:spPr>
          <a:xfrm xmlns:a="http://schemas.openxmlformats.org/drawingml/2006/main">
            <a:off x="400050" y="1285875"/>
            <a:ext cx="11391900" cy="0"/>
          </a:xfrm>
          <a:prstGeom xmlns:a="http://schemas.openxmlformats.org/drawingml/2006/main" prst="straightConnector1">
            <a:avLst/>
          </a:prstGeom>
          <a:ln xmlns:a="http://schemas.openxmlformats.org/drawingml/2006/main" w="9525">
            <a:solidFill>
              <a:srgbClr val="D9DEE7"/>
            </a:solidFill>
            <a:prstDash val="solid"/>
          </a:ln>
        </p:spPr>
      </p:cxnSp>
      <p:sp>
        <p:nvSpPr>
          <p:cNvPr id="4" name="source-7">
            <a:extLst xmlns:a="http://schemas.openxmlformats.org/drawingml/2006/main">
              <a:ext uri="{FF2B5EF4-FFF2-40B4-BE49-F238E27FC236}">
                <a16:creationId xmlns:a16="http://schemas.microsoft.com/office/drawing/2014/main" id="{3520CB99-12AB-4290-865C-454F9EC60AA0}"/>
              </a:ext>
            </a:extLst>
          </p:cNvPr>
          <p:cNvSpPr>
            <a:spLocks xmlns:a="http://schemas.openxmlformats.org/drawingml/2006/main" noGrp="1"/>
          </p:cNvSpPr>
          <p:nvPr/>
        </p:nvSpPr>
        <p:spPr>
          <a:xfrm xmlns:a="http://schemas.openxmlformats.org/drawingml/2006/main">
            <a:off x="400050" y="6429375"/>
            <a:ext cx="381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5B6472"/>
                </a:solidFill>
                <a:latin typeface="Arial"/>
                <a:ea typeface="Arial"/>
                <a:cs typeface="Arial"/>
              </a:defRPr>
            </a:pPr>
            <a:r>
              <a:rPr sz="900" b="0">
                <a:solidFill>
                  <a:srgbClr val="5B6472"/>
                </a:solidFill>
                <a:latin typeface="Arial"/>
                <a:ea typeface="Arial"/>
                <a:cs typeface="Arial"/>
              </a:rPr>
              <a:t>Report pp. 83-85, 109-110</a:t>
            </a:r>
          </a:p>
        </p:txBody>
      </p:sp>
      <p:sp>
        <p:nvSpPr>
          <p:cNvPr id="5" name="page-7">
            <a:extLst xmlns:a="http://schemas.openxmlformats.org/drawingml/2006/main">
              <a:ext uri="{FF2B5EF4-FFF2-40B4-BE49-F238E27FC236}">
                <a16:creationId xmlns:a16="http://schemas.microsoft.com/office/drawing/2014/main" id="{8731B7CA-4927-4735-A6E8-7488DBD8055D}"/>
              </a:ext>
            </a:extLst>
          </p:cNvPr>
          <p:cNvSpPr>
            <a:spLocks xmlns:a="http://schemas.openxmlformats.org/drawingml/2006/main" noGrp="1"/>
          </p:cNvSpPr>
          <p:nvPr/>
        </p:nvSpPr>
        <p:spPr>
          <a:xfrm xmlns:a="http://schemas.openxmlformats.org/drawingml/2006/main">
            <a:off x="11239500" y="6400800"/>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050" b="0">
                <a:solidFill>
                  <a:srgbClr val="5B6472"/>
                </a:solidFill>
                <a:latin typeface="Arial"/>
                <a:ea typeface="Arial"/>
                <a:cs typeface="Arial"/>
              </a:defRPr>
            </a:pPr>
            <a:r>
              <a:rPr sz="1050" b="0">
                <a:solidFill>
                  <a:srgbClr val="5B6472"/>
                </a:solidFill>
                <a:latin typeface="Arial"/>
                <a:ea typeface="Arial"/>
                <a:cs typeface="Arial"/>
              </a:rPr>
              <a:t>07</a:t>
            </a:r>
          </a:p>
        </p:txBody>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1170a10a02ab494d"/>
          <a:stretch xmlns:a="http://schemas.openxmlformats.org/drawingml/2006/main"/>
        </p:blipFill>
        <p:spPr>
          <a:xfrm xmlns:a="http://schemas.openxmlformats.org/drawingml/2006/main">
            <a:off x="737034" y="1638300"/>
            <a:ext cx="3593232" cy="4171950"/>
          </a:xfrm>
          <a:prstGeom xmlns:a="http://schemas.openxmlformats.org/drawingml/2006/main" prst="roundRect">
            <a:avLst>
              <a:gd name="adj" fmla="val 2740"/>
            </a:avLst>
          </a:prstGeom>
        </p:spPr>
      </p:pic>
      <p:sp>
        <p:nvSpPr>
          <p:cNvPr id="7" name="mesh-caption">
            <a:extLst xmlns:a="http://schemas.openxmlformats.org/drawingml/2006/main">
              <a:ext uri="{FF2B5EF4-FFF2-40B4-BE49-F238E27FC236}">
                <a16:creationId xmlns:a16="http://schemas.microsoft.com/office/drawing/2014/main" id="{469AA211-9D32-4885-9CA3-0A6F305ED086}"/>
              </a:ext>
            </a:extLst>
          </p:cNvPr>
          <p:cNvSpPr>
            <a:spLocks xmlns:a="http://schemas.openxmlformats.org/drawingml/2006/main" noGrp="1"/>
          </p:cNvSpPr>
          <p:nvPr/>
        </p:nvSpPr>
        <p:spPr>
          <a:xfrm xmlns:a="http://schemas.openxmlformats.org/drawingml/2006/main">
            <a:off x="571500" y="5857875"/>
            <a:ext cx="39243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0">
                <a:solidFill>
                  <a:srgbClr val="5B6472"/>
                </a:solidFill>
                <a:latin typeface="Arial"/>
                <a:ea typeface="Arial"/>
                <a:cs typeface="Arial"/>
              </a:defRPr>
            </a:pPr>
            <a:r>
              <a:rPr sz="1425" b="0">
                <a:solidFill>
                  <a:srgbClr val="5B6472"/>
                </a:solidFill>
                <a:latin typeface="Arial"/>
                <a:ea typeface="Arial"/>
                <a:cs typeface="Arial"/>
              </a:rPr>
              <a:t>Femur  |  Tibia  |  Patella  |  Fibula</a:t>
            </a:r>
          </a:p>
        </p:txBody>
      </p:sp>
      <p:sp>
        <p:nvSpPr>
          <p:cNvPr id="8" name="mesh-step-dot-0">
            <a:extLst xmlns:a="http://schemas.openxmlformats.org/drawingml/2006/main">
              <a:ext uri="{FF2B5EF4-FFF2-40B4-BE49-F238E27FC236}">
                <a16:creationId xmlns:a16="http://schemas.microsoft.com/office/drawing/2014/main" id="{97DBB82E-5583-4B08-BBF3-D9AA5682F363}"/>
              </a:ext>
            </a:extLst>
          </p:cNvPr>
          <p:cNvSpPr>
            <a:spLocks xmlns:a="http://schemas.openxmlformats.org/drawingml/2006/main" noGrp="1"/>
          </p:cNvSpPr>
          <p:nvPr/>
        </p:nvSpPr>
        <p:spPr>
          <a:xfrm xmlns:a="http://schemas.openxmlformats.org/drawingml/2006/main">
            <a:off x="4933950" y="1685925"/>
            <a:ext cx="361950" cy="361950"/>
          </a:xfrm>
          <a:prstGeom xmlns:a="http://schemas.openxmlformats.org/drawingml/2006/main" prst="ellipse">
            <a:avLst/>
          </a:prstGeom>
          <a:solidFill xmlns:a="http://schemas.openxmlformats.org/drawingml/2006/main">
            <a:srgbClr val="2563EB"/>
          </a:solidFill>
          <a:ln xmlns:a="http://schemas.openxmlformats.org/drawingml/2006/main" w="19050">
            <a:solidFill>
              <a:srgbClr val="FFFFFF"/>
            </a:solidFill>
            <a:prstDash val="solid"/>
          </a:ln>
        </p:spPr>
      </p:sp>
      <p:sp>
        <p:nvSpPr>
          <p:cNvPr id="9" name="mesh-step-no-0">
            <a:extLst xmlns:a="http://schemas.openxmlformats.org/drawingml/2006/main">
              <a:ext uri="{FF2B5EF4-FFF2-40B4-BE49-F238E27FC236}">
                <a16:creationId xmlns:a16="http://schemas.microsoft.com/office/drawing/2014/main" id="{1DE0D478-8B76-48D8-A753-DF4E4017C2DC}"/>
              </a:ext>
            </a:extLst>
          </p:cNvPr>
          <p:cNvSpPr>
            <a:spLocks xmlns:a="http://schemas.openxmlformats.org/drawingml/2006/main" noGrp="1"/>
          </p:cNvSpPr>
          <p:nvPr/>
        </p:nvSpPr>
        <p:spPr>
          <a:xfrm xmlns:a="http://schemas.openxmlformats.org/drawingml/2006/main">
            <a:off x="4962525" y="1762125"/>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1">
                <a:solidFill>
                  <a:srgbClr val="FFFFFF"/>
                </a:solidFill>
                <a:latin typeface="Arial"/>
                <a:ea typeface="Arial"/>
                <a:cs typeface="Arial"/>
              </a:defRPr>
            </a:pPr>
            <a:r>
              <a:rPr sz="975" b="1">
                <a:solidFill>
                  <a:srgbClr val="FFFFFF"/>
                </a:solidFill>
                <a:latin typeface="Arial"/>
                <a:ea typeface="Arial"/>
                <a:cs typeface="Arial"/>
              </a:rPr>
              <a:t>1</a:t>
            </a:r>
          </a:p>
        </p:txBody>
      </p:sp>
      <p:sp>
        <p:nvSpPr>
          <p:cNvPr id="10" name="mesh-step-h-0">
            <a:extLst xmlns:a="http://schemas.openxmlformats.org/drawingml/2006/main">
              <a:ext uri="{FF2B5EF4-FFF2-40B4-BE49-F238E27FC236}">
                <a16:creationId xmlns:a16="http://schemas.microsoft.com/office/drawing/2014/main" id="{3A1B6BA2-B307-4CF7-A300-513B1408AF84}"/>
              </a:ext>
            </a:extLst>
          </p:cNvPr>
          <p:cNvSpPr>
            <a:spLocks xmlns:a="http://schemas.openxmlformats.org/drawingml/2006/main" noGrp="1"/>
          </p:cNvSpPr>
          <p:nvPr/>
        </p:nvSpPr>
        <p:spPr>
          <a:xfrm xmlns:a="http://schemas.openxmlformats.org/drawingml/2006/main">
            <a:off x="5543550" y="1609725"/>
            <a:ext cx="5905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111827"/>
                </a:solidFill>
                <a:latin typeface="Arial"/>
                <a:ea typeface="Arial"/>
                <a:cs typeface="Arial"/>
              </a:defRPr>
            </a:pPr>
            <a:r>
              <a:rPr sz="1800" b="1">
                <a:solidFill>
                  <a:srgbClr val="111827"/>
                </a:solidFill>
                <a:latin typeface="Arial"/>
                <a:ea typeface="Arial"/>
                <a:cs typeface="Arial"/>
              </a:rPr>
              <a:t>Segment the CT</a:t>
            </a:r>
          </a:p>
        </p:txBody>
      </p:sp>
      <p:sp>
        <p:nvSpPr>
          <p:cNvPr id="11" name="mesh-step-b-0">
            <a:extLst xmlns:a="http://schemas.openxmlformats.org/drawingml/2006/main">
              <a:ext uri="{FF2B5EF4-FFF2-40B4-BE49-F238E27FC236}">
                <a16:creationId xmlns:a16="http://schemas.microsoft.com/office/drawing/2014/main" id="{0F109EF8-2C1B-447F-AC7B-EAFEBB2DC5D9}"/>
              </a:ext>
            </a:extLst>
          </p:cNvPr>
          <p:cNvSpPr>
            <a:spLocks xmlns:a="http://schemas.openxmlformats.org/drawingml/2006/main" noGrp="1"/>
          </p:cNvSpPr>
          <p:nvPr/>
        </p:nvSpPr>
        <p:spPr>
          <a:xfrm xmlns:a="http://schemas.openxmlformats.org/drawingml/2006/main">
            <a:off x="5543550" y="1962150"/>
            <a:ext cx="5905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5B6472"/>
                </a:solidFill>
                <a:latin typeface="Arial"/>
                <a:ea typeface="Arial"/>
                <a:cs typeface="Arial"/>
              </a:defRPr>
            </a:pPr>
            <a:r>
              <a:rPr sz="1350" b="0">
                <a:solidFill>
                  <a:srgbClr val="5B6472"/>
                </a:solidFill>
                <a:latin typeface="Arial"/>
                <a:ea typeface="Arial"/>
                <a:cs typeface="Arial"/>
              </a:rPr>
              <a:t>3D Slicer labels the complete four-bone anatomy; TotalSegmentator accelerates the initial segmentation.</a:t>
            </a:r>
          </a:p>
        </p:txBody>
      </p:sp>
      <p:sp>
        <p:nvSpPr>
          <p:cNvPr id="12" name="mesh-step-dot-1">
            <a:extLst xmlns:a="http://schemas.openxmlformats.org/drawingml/2006/main">
              <a:ext uri="{FF2B5EF4-FFF2-40B4-BE49-F238E27FC236}">
                <a16:creationId xmlns:a16="http://schemas.microsoft.com/office/drawing/2014/main" id="{46E6F113-39E4-4551-9E7F-83F44ED9C3DE}"/>
              </a:ext>
            </a:extLst>
          </p:cNvPr>
          <p:cNvSpPr>
            <a:spLocks xmlns:a="http://schemas.openxmlformats.org/drawingml/2006/main" noGrp="1"/>
          </p:cNvSpPr>
          <p:nvPr/>
        </p:nvSpPr>
        <p:spPr>
          <a:xfrm xmlns:a="http://schemas.openxmlformats.org/drawingml/2006/main">
            <a:off x="4933950" y="2752725"/>
            <a:ext cx="361950" cy="361950"/>
          </a:xfrm>
          <a:prstGeom xmlns:a="http://schemas.openxmlformats.org/drawingml/2006/main" prst="ellipse">
            <a:avLst/>
          </a:prstGeom>
          <a:solidFill xmlns:a="http://schemas.openxmlformats.org/drawingml/2006/main">
            <a:srgbClr val="2563EB"/>
          </a:solidFill>
          <a:ln xmlns:a="http://schemas.openxmlformats.org/drawingml/2006/main" w="19050">
            <a:solidFill>
              <a:srgbClr val="FFFFFF"/>
            </a:solidFill>
            <a:prstDash val="solid"/>
          </a:ln>
        </p:spPr>
      </p:sp>
      <p:sp>
        <p:nvSpPr>
          <p:cNvPr id="13" name="mesh-step-no-1">
            <a:extLst xmlns:a="http://schemas.openxmlformats.org/drawingml/2006/main">
              <a:ext uri="{FF2B5EF4-FFF2-40B4-BE49-F238E27FC236}">
                <a16:creationId xmlns:a16="http://schemas.microsoft.com/office/drawing/2014/main" id="{54AC8ECF-4AB4-477B-8299-A06FCCA44C83}"/>
              </a:ext>
            </a:extLst>
          </p:cNvPr>
          <p:cNvSpPr>
            <a:spLocks xmlns:a="http://schemas.openxmlformats.org/drawingml/2006/main" noGrp="1"/>
          </p:cNvSpPr>
          <p:nvPr/>
        </p:nvSpPr>
        <p:spPr>
          <a:xfrm xmlns:a="http://schemas.openxmlformats.org/drawingml/2006/main">
            <a:off x="4962525" y="2828925"/>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1">
                <a:solidFill>
                  <a:srgbClr val="FFFFFF"/>
                </a:solidFill>
                <a:latin typeface="Arial"/>
                <a:ea typeface="Arial"/>
                <a:cs typeface="Arial"/>
              </a:defRPr>
            </a:pPr>
            <a:r>
              <a:rPr sz="975" b="1">
                <a:solidFill>
                  <a:srgbClr val="FFFFFF"/>
                </a:solidFill>
                <a:latin typeface="Arial"/>
                <a:ea typeface="Arial"/>
                <a:cs typeface="Arial"/>
              </a:rPr>
              <a:t>2</a:t>
            </a:r>
          </a:p>
        </p:txBody>
      </p:sp>
      <p:sp>
        <p:nvSpPr>
          <p:cNvPr id="14" name="mesh-step-h-1">
            <a:extLst xmlns:a="http://schemas.openxmlformats.org/drawingml/2006/main">
              <a:ext uri="{FF2B5EF4-FFF2-40B4-BE49-F238E27FC236}">
                <a16:creationId xmlns:a16="http://schemas.microsoft.com/office/drawing/2014/main" id="{80132C6E-F66A-4709-8567-650A95A2E565}"/>
              </a:ext>
            </a:extLst>
          </p:cNvPr>
          <p:cNvSpPr>
            <a:spLocks xmlns:a="http://schemas.openxmlformats.org/drawingml/2006/main" noGrp="1"/>
          </p:cNvSpPr>
          <p:nvPr/>
        </p:nvSpPr>
        <p:spPr>
          <a:xfrm xmlns:a="http://schemas.openxmlformats.org/drawingml/2006/main">
            <a:off x="5543550" y="2676525"/>
            <a:ext cx="5905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111827"/>
                </a:solidFill>
                <a:latin typeface="Arial"/>
                <a:ea typeface="Arial"/>
                <a:cs typeface="Arial"/>
              </a:defRPr>
            </a:pPr>
            <a:r>
              <a:rPr sz="1800" b="1">
                <a:solidFill>
                  <a:srgbClr val="111827"/>
                </a:solidFill>
                <a:latin typeface="Arial"/>
                <a:ea typeface="Arial"/>
                <a:cs typeface="Arial"/>
              </a:rPr>
              <a:t>Refine and export</a:t>
            </a:r>
          </a:p>
        </p:txBody>
      </p:sp>
      <p:sp>
        <p:nvSpPr>
          <p:cNvPr id="15" name="mesh-step-b-1">
            <a:extLst xmlns:a="http://schemas.openxmlformats.org/drawingml/2006/main">
              <a:ext uri="{FF2B5EF4-FFF2-40B4-BE49-F238E27FC236}">
                <a16:creationId xmlns:a16="http://schemas.microsoft.com/office/drawing/2014/main" id="{6593E88F-6DC1-49D9-BF06-B27961C6D093}"/>
              </a:ext>
            </a:extLst>
          </p:cNvPr>
          <p:cNvSpPr>
            <a:spLocks xmlns:a="http://schemas.openxmlformats.org/drawingml/2006/main" noGrp="1"/>
          </p:cNvSpPr>
          <p:nvPr/>
        </p:nvSpPr>
        <p:spPr>
          <a:xfrm xmlns:a="http://schemas.openxmlformats.org/drawingml/2006/main">
            <a:off x="5543550" y="3028950"/>
            <a:ext cx="5905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5B6472"/>
                </a:solidFill>
                <a:latin typeface="Arial"/>
                <a:ea typeface="Arial"/>
                <a:cs typeface="Arial"/>
              </a:defRPr>
            </a:pPr>
            <a:r>
              <a:rPr sz="1350" b="0">
                <a:solidFill>
                  <a:srgbClr val="5B6472"/>
                </a:solidFill>
                <a:latin typeface="Arial"/>
                <a:ea typeface="Arial"/>
                <a:cs typeface="Arial"/>
              </a:rPr>
              <a:t>Apply 2-3 mm Gaussian smoothing, then export one STL surface for each bone.</a:t>
            </a:r>
          </a:p>
        </p:txBody>
      </p:sp>
      <p:sp>
        <p:nvSpPr>
          <p:cNvPr id="16" name="mesh-step-dot-2">
            <a:extLst xmlns:a="http://schemas.openxmlformats.org/drawingml/2006/main">
              <a:ext uri="{FF2B5EF4-FFF2-40B4-BE49-F238E27FC236}">
                <a16:creationId xmlns:a16="http://schemas.microsoft.com/office/drawing/2014/main" id="{8F45A8D8-C3F5-4506-8249-3E6E126608AB}"/>
              </a:ext>
            </a:extLst>
          </p:cNvPr>
          <p:cNvSpPr>
            <a:spLocks xmlns:a="http://schemas.openxmlformats.org/drawingml/2006/main" noGrp="1"/>
          </p:cNvSpPr>
          <p:nvPr/>
        </p:nvSpPr>
        <p:spPr>
          <a:xfrm xmlns:a="http://schemas.openxmlformats.org/drawingml/2006/main">
            <a:off x="4933950" y="3819525"/>
            <a:ext cx="361950" cy="361950"/>
          </a:xfrm>
          <a:prstGeom xmlns:a="http://schemas.openxmlformats.org/drawingml/2006/main" prst="ellipse">
            <a:avLst/>
          </a:prstGeom>
          <a:solidFill xmlns:a="http://schemas.openxmlformats.org/drawingml/2006/main">
            <a:srgbClr val="2563EB"/>
          </a:solidFill>
          <a:ln xmlns:a="http://schemas.openxmlformats.org/drawingml/2006/main" w="19050">
            <a:solidFill>
              <a:srgbClr val="FFFFFF"/>
            </a:solidFill>
            <a:prstDash val="solid"/>
          </a:ln>
        </p:spPr>
      </p:sp>
      <p:sp>
        <p:nvSpPr>
          <p:cNvPr id="17" name="mesh-step-no-2">
            <a:extLst xmlns:a="http://schemas.openxmlformats.org/drawingml/2006/main">
              <a:ext uri="{FF2B5EF4-FFF2-40B4-BE49-F238E27FC236}">
                <a16:creationId xmlns:a16="http://schemas.microsoft.com/office/drawing/2014/main" id="{97B2AD27-2F92-46CE-8459-B31633BFA24C}"/>
              </a:ext>
            </a:extLst>
          </p:cNvPr>
          <p:cNvSpPr>
            <a:spLocks xmlns:a="http://schemas.openxmlformats.org/drawingml/2006/main" noGrp="1"/>
          </p:cNvSpPr>
          <p:nvPr/>
        </p:nvSpPr>
        <p:spPr>
          <a:xfrm xmlns:a="http://schemas.openxmlformats.org/drawingml/2006/main">
            <a:off x="4962525" y="3895725"/>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1">
                <a:solidFill>
                  <a:srgbClr val="FFFFFF"/>
                </a:solidFill>
                <a:latin typeface="Arial"/>
                <a:ea typeface="Arial"/>
                <a:cs typeface="Arial"/>
              </a:defRPr>
            </a:pPr>
            <a:r>
              <a:rPr sz="975" b="1">
                <a:solidFill>
                  <a:srgbClr val="FFFFFF"/>
                </a:solidFill>
                <a:latin typeface="Arial"/>
                <a:ea typeface="Arial"/>
                <a:cs typeface="Arial"/>
              </a:rPr>
              <a:t>3</a:t>
            </a:r>
          </a:p>
        </p:txBody>
      </p:sp>
      <p:sp>
        <p:nvSpPr>
          <p:cNvPr id="18" name="mesh-step-h-2">
            <a:extLst xmlns:a="http://schemas.openxmlformats.org/drawingml/2006/main">
              <a:ext uri="{FF2B5EF4-FFF2-40B4-BE49-F238E27FC236}">
                <a16:creationId xmlns:a16="http://schemas.microsoft.com/office/drawing/2014/main" id="{640B9A32-D080-466B-BD5D-FB70EC5B231C}"/>
              </a:ext>
            </a:extLst>
          </p:cNvPr>
          <p:cNvSpPr>
            <a:spLocks xmlns:a="http://schemas.openxmlformats.org/drawingml/2006/main" noGrp="1"/>
          </p:cNvSpPr>
          <p:nvPr/>
        </p:nvSpPr>
        <p:spPr>
          <a:xfrm xmlns:a="http://schemas.openxmlformats.org/drawingml/2006/main">
            <a:off x="5543550" y="3743325"/>
            <a:ext cx="5905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111827"/>
                </a:solidFill>
                <a:latin typeface="Arial"/>
                <a:ea typeface="Arial"/>
                <a:cs typeface="Arial"/>
              </a:defRPr>
            </a:pPr>
            <a:r>
              <a:rPr sz="1800" b="1">
                <a:solidFill>
                  <a:srgbClr val="111827"/>
                </a:solidFill>
                <a:latin typeface="Arial"/>
                <a:ea typeface="Arial"/>
                <a:cs typeface="Arial"/>
              </a:rPr>
              <a:t>Align and voxelise</a:t>
            </a:r>
          </a:p>
        </p:txBody>
      </p:sp>
      <p:sp>
        <p:nvSpPr>
          <p:cNvPr id="19" name="mesh-step-b-2">
            <a:extLst xmlns:a="http://schemas.openxmlformats.org/drawingml/2006/main">
              <a:ext uri="{FF2B5EF4-FFF2-40B4-BE49-F238E27FC236}">
                <a16:creationId xmlns:a16="http://schemas.microsoft.com/office/drawing/2014/main" id="{3C5AD568-194D-4800-8F7D-A2CEF2E9EA79}"/>
              </a:ext>
            </a:extLst>
          </p:cNvPr>
          <p:cNvSpPr>
            <a:spLocks xmlns:a="http://schemas.openxmlformats.org/drawingml/2006/main" noGrp="1"/>
          </p:cNvSpPr>
          <p:nvPr/>
        </p:nvSpPr>
        <p:spPr>
          <a:xfrm xmlns:a="http://schemas.openxmlformats.org/drawingml/2006/main">
            <a:off x="5543550" y="4095750"/>
            <a:ext cx="5905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5B6472"/>
                </a:solidFill>
                <a:latin typeface="Arial"/>
                <a:ea typeface="Arial"/>
                <a:cs typeface="Arial"/>
              </a:defRPr>
            </a:pPr>
            <a:r>
              <a:rPr sz="1350" b="0">
                <a:solidFill>
                  <a:srgbClr val="5B6472"/>
                </a:solidFill>
                <a:latin typeface="Arial"/>
                <a:ea typeface="Arial"/>
                <a:cs typeface="Arial"/>
              </a:rPr>
              <a:t>Transform every STL into the same LPS-aligned 200 mm, 256³ grid as four fixed-order binary channels.</a:t>
            </a:r>
          </a:p>
        </p:txBody>
      </p:sp>
      <p:sp>
        <p:nvSpPr>
          <p:cNvPr id="20" name="mesh-step-dot-3">
            <a:extLst xmlns:a="http://schemas.openxmlformats.org/drawingml/2006/main">
              <a:ext uri="{FF2B5EF4-FFF2-40B4-BE49-F238E27FC236}">
                <a16:creationId xmlns:a16="http://schemas.microsoft.com/office/drawing/2014/main" id="{7F033DED-308D-464D-8021-52D3DFFD329C}"/>
              </a:ext>
            </a:extLst>
          </p:cNvPr>
          <p:cNvSpPr>
            <a:spLocks xmlns:a="http://schemas.openxmlformats.org/drawingml/2006/main" noGrp="1"/>
          </p:cNvSpPr>
          <p:nvPr/>
        </p:nvSpPr>
        <p:spPr>
          <a:xfrm xmlns:a="http://schemas.openxmlformats.org/drawingml/2006/main">
            <a:off x="4933950" y="4886325"/>
            <a:ext cx="361950" cy="361950"/>
          </a:xfrm>
          <a:prstGeom xmlns:a="http://schemas.openxmlformats.org/drawingml/2006/main" prst="ellipse">
            <a:avLst/>
          </a:prstGeom>
          <a:solidFill xmlns:a="http://schemas.openxmlformats.org/drawingml/2006/main">
            <a:srgbClr val="0F766E"/>
          </a:solidFill>
          <a:ln xmlns:a="http://schemas.openxmlformats.org/drawingml/2006/main" w="19050">
            <a:solidFill>
              <a:srgbClr val="FFFFFF"/>
            </a:solidFill>
            <a:prstDash val="solid"/>
          </a:ln>
        </p:spPr>
      </p:sp>
      <p:sp>
        <p:nvSpPr>
          <p:cNvPr id="21" name="mesh-step-no-3">
            <a:extLst xmlns:a="http://schemas.openxmlformats.org/drawingml/2006/main">
              <a:ext uri="{FF2B5EF4-FFF2-40B4-BE49-F238E27FC236}">
                <a16:creationId xmlns:a16="http://schemas.microsoft.com/office/drawing/2014/main" id="{28762C8E-96C5-4554-88A9-9000CD10CE43}"/>
              </a:ext>
            </a:extLst>
          </p:cNvPr>
          <p:cNvSpPr>
            <a:spLocks xmlns:a="http://schemas.openxmlformats.org/drawingml/2006/main" noGrp="1"/>
          </p:cNvSpPr>
          <p:nvPr/>
        </p:nvSpPr>
        <p:spPr>
          <a:xfrm xmlns:a="http://schemas.openxmlformats.org/drawingml/2006/main">
            <a:off x="4962525" y="4962525"/>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1">
                <a:solidFill>
                  <a:srgbClr val="FFFFFF"/>
                </a:solidFill>
                <a:latin typeface="Arial"/>
                <a:ea typeface="Arial"/>
                <a:cs typeface="Arial"/>
              </a:defRPr>
            </a:pPr>
            <a:r>
              <a:rPr sz="975" b="1">
                <a:solidFill>
                  <a:srgbClr val="FFFFFF"/>
                </a:solidFill>
                <a:latin typeface="Arial"/>
                <a:ea typeface="Arial"/>
                <a:cs typeface="Arial"/>
              </a:rPr>
              <a:t>4</a:t>
            </a:r>
          </a:p>
        </p:txBody>
      </p:sp>
      <p:sp>
        <p:nvSpPr>
          <p:cNvPr id="22" name="mesh-step-h-3">
            <a:extLst xmlns:a="http://schemas.openxmlformats.org/drawingml/2006/main">
              <a:ext uri="{FF2B5EF4-FFF2-40B4-BE49-F238E27FC236}">
                <a16:creationId xmlns:a16="http://schemas.microsoft.com/office/drawing/2014/main" id="{F14FB0C4-CC67-4309-A321-B9F2EE9CCE75}"/>
              </a:ext>
            </a:extLst>
          </p:cNvPr>
          <p:cNvSpPr>
            <a:spLocks xmlns:a="http://schemas.openxmlformats.org/drawingml/2006/main" noGrp="1"/>
          </p:cNvSpPr>
          <p:nvPr/>
        </p:nvSpPr>
        <p:spPr>
          <a:xfrm xmlns:a="http://schemas.openxmlformats.org/drawingml/2006/main">
            <a:off x="5543550" y="4810125"/>
            <a:ext cx="5905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0F766E"/>
                </a:solidFill>
                <a:latin typeface="Arial"/>
                <a:ea typeface="Arial"/>
                <a:cs typeface="Arial"/>
              </a:defRPr>
            </a:pPr>
            <a:r>
              <a:rPr sz="1800" b="1">
                <a:solidFill>
                  <a:srgbClr val="0F766E"/>
                </a:solidFill>
                <a:latin typeface="Arial"/>
                <a:ea typeface="Arial"/>
                <a:cs typeface="Arial"/>
              </a:rPr>
              <a:t>Train and evaluate</a:t>
            </a:r>
          </a:p>
        </p:txBody>
      </p:sp>
      <p:sp>
        <p:nvSpPr>
          <p:cNvPr id="23" name="mesh-step-b-3">
            <a:extLst xmlns:a="http://schemas.openxmlformats.org/drawingml/2006/main">
              <a:ext uri="{FF2B5EF4-FFF2-40B4-BE49-F238E27FC236}">
                <a16:creationId xmlns:a16="http://schemas.microsoft.com/office/drawing/2014/main" id="{0CC206F1-A705-4212-9B8B-2F20F91008FD}"/>
              </a:ext>
            </a:extLst>
          </p:cNvPr>
          <p:cNvSpPr>
            <a:spLocks xmlns:a="http://schemas.openxmlformats.org/drawingml/2006/main" noGrp="1"/>
          </p:cNvSpPr>
          <p:nvPr/>
        </p:nvSpPr>
        <p:spPr>
          <a:xfrm xmlns:a="http://schemas.openxmlformats.org/drawingml/2006/main">
            <a:off x="5543550" y="5162550"/>
            <a:ext cx="5905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5B6472"/>
                </a:solidFill>
                <a:latin typeface="Arial"/>
                <a:ea typeface="Arial"/>
                <a:cs typeface="Arial"/>
              </a:defRPr>
            </a:pPr>
            <a:r>
              <a:rPr sz="1350" b="0">
                <a:solidFill>
                  <a:srgbClr val="5B6472"/>
                </a:solidFill>
                <a:latin typeface="Arial"/>
                <a:ea typeface="Arial"/>
                <a:cs typeface="Arial"/>
              </a:rPr>
              <a:t>Paired DRRs are inputs; voxel masks supervise reconstruction and provide per-bone Dice and ASSD references.</a:t>
            </a:r>
          </a:p>
        </p:txBody>
      </p:sp>
      <p:sp>
        <p:nvSpPr>
          <p:cNvPr id="24" name="mesh-limit">
            <a:extLst xmlns:a="http://schemas.openxmlformats.org/drawingml/2006/main">
              <a:ext uri="{FF2B5EF4-FFF2-40B4-BE49-F238E27FC236}">
                <a16:creationId xmlns:a16="http://schemas.microsoft.com/office/drawing/2014/main" id="{80FE3E5A-FF4E-41F9-AC7F-162862A71DBA}"/>
              </a:ext>
            </a:extLst>
          </p:cNvPr>
          <p:cNvSpPr>
            <a:spLocks xmlns:a="http://schemas.openxmlformats.org/drawingml/2006/main" noGrp="1"/>
          </p:cNvSpPr>
          <p:nvPr/>
        </p:nvSpPr>
        <p:spPr>
          <a:xfrm xmlns:a="http://schemas.openxmlformats.org/drawingml/2006/main">
            <a:off x="5029200" y="5886450"/>
            <a:ext cx="6572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B91C1C"/>
                </a:solidFill>
                <a:latin typeface="Arial"/>
                <a:ea typeface="Arial"/>
                <a:cs typeface="Arial"/>
              </a:defRPr>
            </a:pPr>
            <a:r>
              <a:rPr sz="1350" b="1">
                <a:solidFill>
                  <a:srgbClr val="B91C1C"/>
                </a:solidFill>
                <a:latin typeface="Arial"/>
                <a:ea typeface="Arial"/>
                <a:cs typeface="Arial"/>
              </a:rPr>
              <a:t>Limitation: meshes were manually prepared without radiologist or orthopaedic-specialist validation.</a:t>
            </a:r>
          </a:p>
        </p:txBody>
      </p:sp>
    </p:spTree>
    <p:extLst>
      <p:ext uri="{BB962C8B-B14F-4D97-AF65-F5344CB8AC3E}">
        <p14:creationId xmlns:p14="http://schemas.microsoft.com/office/powerpoint/2010/main" val="1035159711"/>
      </p:ext>
    </p:extLst>
  </p:cSld>
</p:sld>
</file>

<file path=ppt/slides/slide8.xml><?xml version="1.0" encoding="utf-8"?>
<p:sld xmlns:p="http://schemas.openxmlformats.org/presentationml/2006/main">
  <p:cSld>
    <p:bg>
      <p:bgPr>
        <a:solidFill xmlns:a="http://schemas.openxmlformats.org/drawingml/2006/main">
          <a:srgbClr val="FBFBFA"/>
        </a:solidFill>
      </p:bgPr>
    </p:bg>
    <p:spTree>
      <p:nvGrpSpPr>
        <p:cNvPr id="1" name=""/>
        <p:cNvGrpSpPr/>
        <p:nvPr/>
      </p:nvGrpSpPr>
      <p:grpSpPr>
        <a:xfrm xmlns:a="http://schemas.openxmlformats.org/drawingml/2006/main"/>
      </p:grpSpPr>
      <p:sp>
        <p:nvSpPr>
          <p:cNvPr id="25" name="section-8">
            <a:extLst xmlns:a="http://schemas.openxmlformats.org/drawingml/2006/main">
              <a:ext uri="{FF2B5EF4-FFF2-40B4-BE49-F238E27FC236}">
                <a16:creationId xmlns:a16="http://schemas.microsoft.com/office/drawing/2014/main" id="{825886C3-15BD-49AB-B3FD-8B1D03610141}"/>
              </a:ext>
            </a:extLst>
          </p:cNvPr>
          <p:cNvSpPr>
            <a:spLocks xmlns:a="http://schemas.openxmlformats.org/drawingml/2006/main" noGrp="1"/>
          </p:cNvSpPr>
          <p:nvPr/>
        </p:nvSpPr>
        <p:spPr>
          <a:xfrm xmlns:a="http://schemas.openxmlformats.org/drawingml/2006/main">
            <a:off x="400050" y="238125"/>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563EB"/>
                </a:solidFill>
                <a:latin typeface="Arial"/>
                <a:ea typeface="Arial"/>
                <a:cs typeface="Arial"/>
              </a:defRPr>
            </a:pPr>
            <a:r>
              <a:rPr sz="1125" b="1">
                <a:solidFill>
                  <a:srgbClr val="2563EB"/>
                </a:solidFill>
                <a:latin typeface="Arial"/>
                <a:ea typeface="Arial"/>
                <a:cs typeface="Arial"/>
              </a:rPr>
              <a:t>TECHNICAL APPROACH</a:t>
            </a:r>
          </a:p>
        </p:txBody>
      </p:sp>
      <p:sp>
        <p:nvSpPr>
          <p:cNvPr id="2" name="title-8">
            <a:extLst xmlns:a="http://schemas.openxmlformats.org/drawingml/2006/main">
              <a:ext uri="{FF2B5EF4-FFF2-40B4-BE49-F238E27FC236}">
                <a16:creationId xmlns:a16="http://schemas.microsoft.com/office/drawing/2014/main" id="{EAB27B2A-CBE4-4227-ABC4-2673B229CCA3}"/>
              </a:ext>
            </a:extLst>
          </p:cNvPr>
          <p:cNvSpPr>
            <a:spLocks xmlns:a="http://schemas.openxmlformats.org/drawingml/2006/main" noGrp="1"/>
          </p:cNvSpPr>
          <p:nvPr/>
        </p:nvSpPr>
        <p:spPr>
          <a:xfrm xmlns:a="http://schemas.openxmlformats.org/drawingml/2006/main">
            <a:off x="400050" y="552450"/>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525" b="1">
                <a:solidFill>
                  <a:srgbClr val="111827"/>
                </a:solidFill>
                <a:latin typeface="Arial"/>
                <a:ea typeface="Arial"/>
                <a:cs typeface="Arial"/>
              </a:defRPr>
            </a:pPr>
            <a:r>
              <a:rPr sz="3525" b="1">
                <a:solidFill>
                  <a:srgbClr val="111827"/>
                </a:solidFill>
                <a:latin typeface="Arial"/>
                <a:ea typeface="Arial"/>
                <a:cs typeface="Arial"/>
              </a:rPr>
              <a:t>Six phases align every input, target and mask</a:t>
            </a:r>
          </a:p>
        </p:txBody>
      </p:sp>
      <p:cxnSp>
        <p:nvCxnSpPr>
          <p:cNvPr id="27" name="rule-8"/>
          <p:cNvCxnSpPr/>
          <p:nvPr/>
        </p:nvCxnSpPr>
        <p:spPr>
          <a:xfrm xmlns:a="http://schemas.openxmlformats.org/drawingml/2006/main">
            <a:off x="400050" y="1285875"/>
            <a:ext cx="11391900" cy="0"/>
          </a:xfrm>
          <a:prstGeom xmlns:a="http://schemas.openxmlformats.org/drawingml/2006/main" prst="straightConnector1">
            <a:avLst/>
          </a:prstGeom>
          <a:ln xmlns:a="http://schemas.openxmlformats.org/drawingml/2006/main" w="9525">
            <a:solidFill>
              <a:srgbClr val="D9DEE7"/>
            </a:solidFill>
            <a:prstDash val="solid"/>
          </a:ln>
        </p:spPr>
      </p:cxnSp>
      <p:sp>
        <p:nvSpPr>
          <p:cNvPr id="4" name="source-8">
            <a:extLst xmlns:a="http://schemas.openxmlformats.org/drawingml/2006/main">
              <a:ext uri="{FF2B5EF4-FFF2-40B4-BE49-F238E27FC236}">
                <a16:creationId xmlns:a16="http://schemas.microsoft.com/office/drawing/2014/main" id="{4B739E9B-E8F4-4DEA-9C97-B4731EAEDE85}"/>
              </a:ext>
            </a:extLst>
          </p:cNvPr>
          <p:cNvSpPr>
            <a:spLocks xmlns:a="http://schemas.openxmlformats.org/drawingml/2006/main" noGrp="1"/>
          </p:cNvSpPr>
          <p:nvPr/>
        </p:nvSpPr>
        <p:spPr>
          <a:xfrm xmlns:a="http://schemas.openxmlformats.org/drawingml/2006/main">
            <a:off x="400050" y="6429375"/>
            <a:ext cx="381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5B6472"/>
                </a:solidFill>
                <a:latin typeface="Arial"/>
                <a:ea typeface="Arial"/>
                <a:cs typeface="Arial"/>
              </a:defRPr>
            </a:pPr>
            <a:r>
              <a:rPr sz="900" b="0">
                <a:solidFill>
                  <a:srgbClr val="5B6472"/>
                </a:solidFill>
                <a:latin typeface="Arial"/>
                <a:ea typeface="Arial"/>
                <a:cs typeface="Arial"/>
              </a:rPr>
              <a:t>Report pp. 78-88</a:t>
            </a:r>
          </a:p>
        </p:txBody>
      </p:sp>
      <p:sp>
        <p:nvSpPr>
          <p:cNvPr id="5" name="page-8">
            <a:extLst xmlns:a="http://schemas.openxmlformats.org/drawingml/2006/main">
              <a:ext uri="{FF2B5EF4-FFF2-40B4-BE49-F238E27FC236}">
                <a16:creationId xmlns:a16="http://schemas.microsoft.com/office/drawing/2014/main" id="{548DB414-66BD-4502-AA71-E36258D89DCC}"/>
              </a:ext>
            </a:extLst>
          </p:cNvPr>
          <p:cNvSpPr>
            <a:spLocks xmlns:a="http://schemas.openxmlformats.org/drawingml/2006/main" noGrp="1"/>
          </p:cNvSpPr>
          <p:nvPr/>
        </p:nvSpPr>
        <p:spPr>
          <a:xfrm xmlns:a="http://schemas.openxmlformats.org/drawingml/2006/main">
            <a:off x="11239500" y="6400800"/>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050" b="0">
                <a:solidFill>
                  <a:srgbClr val="5B6472"/>
                </a:solidFill>
                <a:latin typeface="Arial"/>
                <a:ea typeface="Arial"/>
                <a:cs typeface="Arial"/>
              </a:defRPr>
            </a:pPr>
            <a:r>
              <a:rPr sz="1050" b="0">
                <a:solidFill>
                  <a:srgbClr val="5B6472"/>
                </a:solidFill>
                <a:latin typeface="Arial"/>
                <a:ea typeface="Arial"/>
                <a:cs typeface="Arial"/>
              </a:rPr>
              <a:t>08</a:t>
            </a:r>
          </a:p>
        </p:txBody>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52d70d796fde4bf0"/>
          <a:stretch xmlns:a="http://schemas.openxmlformats.org/drawingml/2006/main"/>
        </p:blipFill>
        <p:spPr>
          <a:xfrm xmlns:a="http://schemas.openxmlformats.org/drawingml/2006/main">
            <a:off x="1266290" y="1543050"/>
            <a:ext cx="5030271" cy="4610100"/>
          </a:xfrm>
          <a:prstGeom xmlns:a="http://schemas.openxmlformats.org/drawingml/2006/main" prst="roundRect">
            <a:avLst>
              <a:gd name="adj" fmla="val 2479"/>
            </a:avLst>
          </a:prstGeom>
        </p:spPr>
      </p:pic>
      <p:sp>
        <p:nvSpPr>
          <p:cNvPr id="7" name="prep-no-0">
            <a:extLst xmlns:a="http://schemas.openxmlformats.org/drawingml/2006/main">
              <a:ext uri="{FF2B5EF4-FFF2-40B4-BE49-F238E27FC236}">
                <a16:creationId xmlns:a16="http://schemas.microsoft.com/office/drawing/2014/main" id="{7CD2AC7E-D738-4CF0-9913-5AD10F38C1A0}"/>
              </a:ext>
            </a:extLst>
          </p:cNvPr>
          <p:cNvSpPr>
            <a:spLocks xmlns:a="http://schemas.openxmlformats.org/drawingml/2006/main" noGrp="1"/>
          </p:cNvSpPr>
          <p:nvPr/>
        </p:nvSpPr>
        <p:spPr>
          <a:xfrm xmlns:a="http://schemas.openxmlformats.org/drawingml/2006/main">
            <a:off x="7524750" y="1571625"/>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1">
                <a:solidFill>
                  <a:srgbClr val="2563EB"/>
                </a:solidFill>
                <a:latin typeface="Arial"/>
                <a:ea typeface="Arial"/>
                <a:cs typeface="Arial"/>
              </a:defRPr>
            </a:pPr>
            <a:r>
              <a:rPr sz="1275" b="1">
                <a:solidFill>
                  <a:srgbClr val="2563EB"/>
                </a:solidFill>
                <a:latin typeface="Arial"/>
                <a:ea typeface="Arial"/>
                <a:cs typeface="Arial"/>
              </a:rPr>
              <a:t>1</a:t>
            </a:r>
          </a:p>
        </p:txBody>
      </p:sp>
      <p:sp>
        <p:nvSpPr>
          <p:cNvPr id="8" name="prep-h-0">
            <a:extLst xmlns:a="http://schemas.openxmlformats.org/drawingml/2006/main">
              <a:ext uri="{FF2B5EF4-FFF2-40B4-BE49-F238E27FC236}">
                <a16:creationId xmlns:a16="http://schemas.microsoft.com/office/drawing/2014/main" id="{01920F71-D414-4C8F-B314-EF0859280617}"/>
              </a:ext>
            </a:extLst>
          </p:cNvPr>
          <p:cNvSpPr>
            <a:spLocks xmlns:a="http://schemas.openxmlformats.org/drawingml/2006/main" noGrp="1"/>
          </p:cNvSpPr>
          <p:nvPr/>
        </p:nvSpPr>
        <p:spPr>
          <a:xfrm xmlns:a="http://schemas.openxmlformats.org/drawingml/2006/main">
            <a:off x="8020050" y="1571625"/>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a:solidFill>
                  <a:srgbClr val="111827"/>
                </a:solidFill>
                <a:latin typeface="Arial"/>
                <a:ea typeface="Arial"/>
                <a:cs typeface="Arial"/>
              </a:defRPr>
            </a:pPr>
            <a:r>
              <a:rPr sz="1575" b="1">
                <a:solidFill>
                  <a:srgbClr val="111827"/>
                </a:solidFill>
                <a:latin typeface="Arial"/>
                <a:ea typeface="Arial"/>
                <a:cs typeface="Arial"/>
              </a:rPr>
              <a:t>Clean + isolate</a:t>
            </a:r>
          </a:p>
        </p:txBody>
      </p:sp>
      <p:sp>
        <p:nvSpPr>
          <p:cNvPr id="9" name="prep-b-0">
            <a:extLst xmlns:a="http://schemas.openxmlformats.org/drawingml/2006/main">
              <a:ext uri="{FF2B5EF4-FFF2-40B4-BE49-F238E27FC236}">
                <a16:creationId xmlns:a16="http://schemas.microsoft.com/office/drawing/2014/main" id="{56142EBE-5452-4EE2-95C0-3AF401A97A7E}"/>
              </a:ext>
            </a:extLst>
          </p:cNvPr>
          <p:cNvSpPr>
            <a:spLocks xmlns:a="http://schemas.openxmlformats.org/drawingml/2006/main" noGrp="1"/>
          </p:cNvSpPr>
          <p:nvPr/>
        </p:nvSpPr>
        <p:spPr>
          <a:xfrm xmlns:a="http://schemas.openxmlformats.org/drawingml/2006/main">
            <a:off x="8020050" y="1847850"/>
            <a:ext cx="35242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5B6472"/>
                </a:solidFill>
                <a:latin typeface="Arial"/>
                <a:ea typeface="Arial"/>
                <a:cs typeface="Arial"/>
              </a:defRPr>
            </a:pPr>
            <a:r>
              <a:rPr sz="1200" b="0">
                <a:solidFill>
                  <a:srgbClr val="5B6472"/>
                </a:solidFill>
                <a:latin typeface="Arial"/>
                <a:ea typeface="Arial"/>
                <a:cs typeface="Arial"/>
              </a:rPr>
              <a:t>Merge cases, separate knees and remove casts, tables and disconnected artefacts.</a:t>
            </a:r>
          </a:p>
        </p:txBody>
      </p:sp>
      <p:sp>
        <p:nvSpPr>
          <p:cNvPr id="10" name="prep-no-1">
            <a:extLst xmlns:a="http://schemas.openxmlformats.org/drawingml/2006/main">
              <a:ext uri="{FF2B5EF4-FFF2-40B4-BE49-F238E27FC236}">
                <a16:creationId xmlns:a16="http://schemas.microsoft.com/office/drawing/2014/main" id="{23A4A33A-C950-401C-94D1-CE59EB68C34E}"/>
              </a:ext>
            </a:extLst>
          </p:cNvPr>
          <p:cNvSpPr>
            <a:spLocks xmlns:a="http://schemas.openxmlformats.org/drawingml/2006/main" noGrp="1"/>
          </p:cNvSpPr>
          <p:nvPr/>
        </p:nvSpPr>
        <p:spPr>
          <a:xfrm xmlns:a="http://schemas.openxmlformats.org/drawingml/2006/main">
            <a:off x="7524750" y="2314575"/>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1">
                <a:solidFill>
                  <a:srgbClr val="2563EB"/>
                </a:solidFill>
                <a:latin typeface="Arial"/>
                <a:ea typeface="Arial"/>
                <a:cs typeface="Arial"/>
              </a:defRPr>
            </a:pPr>
            <a:r>
              <a:rPr sz="1275" b="1">
                <a:solidFill>
                  <a:srgbClr val="2563EB"/>
                </a:solidFill>
                <a:latin typeface="Arial"/>
                <a:ea typeface="Arial"/>
                <a:cs typeface="Arial"/>
              </a:rPr>
              <a:t>2</a:t>
            </a:r>
          </a:p>
        </p:txBody>
      </p:sp>
      <p:sp>
        <p:nvSpPr>
          <p:cNvPr id="11" name="prep-h-1">
            <a:extLst xmlns:a="http://schemas.openxmlformats.org/drawingml/2006/main">
              <a:ext uri="{FF2B5EF4-FFF2-40B4-BE49-F238E27FC236}">
                <a16:creationId xmlns:a16="http://schemas.microsoft.com/office/drawing/2014/main" id="{F2B4ECD8-7F90-4383-B3C7-DC2E07AFA5E6}"/>
              </a:ext>
            </a:extLst>
          </p:cNvPr>
          <p:cNvSpPr>
            <a:spLocks xmlns:a="http://schemas.openxmlformats.org/drawingml/2006/main" noGrp="1"/>
          </p:cNvSpPr>
          <p:nvPr/>
        </p:nvSpPr>
        <p:spPr>
          <a:xfrm xmlns:a="http://schemas.openxmlformats.org/drawingml/2006/main">
            <a:off x="8020050" y="2314575"/>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a:solidFill>
                  <a:srgbClr val="111827"/>
                </a:solidFill>
                <a:latin typeface="Arial"/>
                <a:ea typeface="Arial"/>
                <a:cs typeface="Arial"/>
              </a:defRPr>
            </a:pPr>
            <a:r>
              <a:rPr sz="1575" b="1">
                <a:solidFill>
                  <a:srgbClr val="111827"/>
                </a:solidFill>
                <a:latin typeface="Arial"/>
                <a:ea typeface="Arial"/>
                <a:cs typeface="Arial"/>
              </a:rPr>
              <a:t>Standardise space</a:t>
            </a:r>
          </a:p>
        </p:txBody>
      </p:sp>
      <p:sp>
        <p:nvSpPr>
          <p:cNvPr id="12" name="prep-b-1">
            <a:extLst xmlns:a="http://schemas.openxmlformats.org/drawingml/2006/main">
              <a:ext uri="{FF2B5EF4-FFF2-40B4-BE49-F238E27FC236}">
                <a16:creationId xmlns:a16="http://schemas.microsoft.com/office/drawing/2014/main" id="{DCDC3391-0C25-4F20-B090-0C12E1F61BB2}"/>
              </a:ext>
            </a:extLst>
          </p:cNvPr>
          <p:cNvSpPr>
            <a:spLocks xmlns:a="http://schemas.openxmlformats.org/drawingml/2006/main" noGrp="1"/>
          </p:cNvSpPr>
          <p:nvPr/>
        </p:nvSpPr>
        <p:spPr>
          <a:xfrm xmlns:a="http://schemas.openxmlformats.org/drawingml/2006/main">
            <a:off x="8020050" y="2590800"/>
            <a:ext cx="35242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5B6472"/>
                </a:solidFill>
                <a:latin typeface="Arial"/>
                <a:ea typeface="Arial"/>
                <a:cs typeface="Arial"/>
              </a:defRPr>
            </a:pPr>
            <a:r>
              <a:rPr sz="1200" b="0">
                <a:solidFill>
                  <a:srgbClr val="5B6472"/>
                </a:solidFill>
                <a:latin typeface="Arial"/>
                <a:ea typeface="Arial"/>
                <a:cs typeface="Arial"/>
              </a:rPr>
              <a:t>Canonicalise, resample, crop, reorient, centre and convert to the final grid.</a:t>
            </a:r>
          </a:p>
        </p:txBody>
      </p:sp>
      <p:sp>
        <p:nvSpPr>
          <p:cNvPr id="13" name="prep-no-2">
            <a:extLst xmlns:a="http://schemas.openxmlformats.org/drawingml/2006/main">
              <a:ext uri="{FF2B5EF4-FFF2-40B4-BE49-F238E27FC236}">
                <a16:creationId xmlns:a16="http://schemas.microsoft.com/office/drawing/2014/main" id="{AB81762A-505B-43E2-8D3D-8B8891CDABA5}"/>
              </a:ext>
            </a:extLst>
          </p:cNvPr>
          <p:cNvSpPr>
            <a:spLocks xmlns:a="http://schemas.openxmlformats.org/drawingml/2006/main" noGrp="1"/>
          </p:cNvSpPr>
          <p:nvPr/>
        </p:nvSpPr>
        <p:spPr>
          <a:xfrm xmlns:a="http://schemas.openxmlformats.org/drawingml/2006/main">
            <a:off x="7524750" y="3057525"/>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1">
                <a:solidFill>
                  <a:srgbClr val="2563EB"/>
                </a:solidFill>
                <a:latin typeface="Arial"/>
                <a:ea typeface="Arial"/>
                <a:cs typeface="Arial"/>
              </a:defRPr>
            </a:pPr>
            <a:r>
              <a:rPr sz="1275" b="1">
                <a:solidFill>
                  <a:srgbClr val="2563EB"/>
                </a:solidFill>
                <a:latin typeface="Arial"/>
                <a:ea typeface="Arial"/>
                <a:cs typeface="Arial"/>
              </a:rPr>
              <a:t>3</a:t>
            </a:r>
          </a:p>
        </p:txBody>
      </p:sp>
      <p:sp>
        <p:nvSpPr>
          <p:cNvPr id="14" name="prep-h-2">
            <a:extLst xmlns:a="http://schemas.openxmlformats.org/drawingml/2006/main">
              <a:ext uri="{FF2B5EF4-FFF2-40B4-BE49-F238E27FC236}">
                <a16:creationId xmlns:a16="http://schemas.microsoft.com/office/drawing/2014/main" id="{96D92327-025B-4AFA-A194-0A778040ED69}"/>
              </a:ext>
            </a:extLst>
          </p:cNvPr>
          <p:cNvSpPr>
            <a:spLocks xmlns:a="http://schemas.openxmlformats.org/drawingml/2006/main" noGrp="1"/>
          </p:cNvSpPr>
          <p:nvPr/>
        </p:nvSpPr>
        <p:spPr>
          <a:xfrm xmlns:a="http://schemas.openxmlformats.org/drawingml/2006/main">
            <a:off x="8020050" y="3057525"/>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a:solidFill>
                  <a:srgbClr val="111827"/>
                </a:solidFill>
                <a:latin typeface="Arial"/>
                <a:ea typeface="Arial"/>
                <a:cs typeface="Arial"/>
              </a:defRPr>
            </a:pPr>
            <a:r>
              <a:rPr sz="1575" b="1">
                <a:solidFill>
                  <a:srgbClr val="111827"/>
                </a:solidFill>
                <a:latin typeface="Arial"/>
                <a:ea typeface="Arial"/>
                <a:cs typeface="Arial"/>
              </a:rPr>
              <a:t>Standardise intensity</a:t>
            </a:r>
          </a:p>
        </p:txBody>
      </p:sp>
      <p:sp>
        <p:nvSpPr>
          <p:cNvPr id="15" name="prep-b-2">
            <a:extLst xmlns:a="http://schemas.openxmlformats.org/drawingml/2006/main">
              <a:ext uri="{FF2B5EF4-FFF2-40B4-BE49-F238E27FC236}">
                <a16:creationId xmlns:a16="http://schemas.microsoft.com/office/drawing/2014/main" id="{F09CEB08-01E8-4FC0-8A6A-7F798C7E29CC}"/>
              </a:ext>
            </a:extLst>
          </p:cNvPr>
          <p:cNvSpPr>
            <a:spLocks xmlns:a="http://schemas.openxmlformats.org/drawingml/2006/main" noGrp="1"/>
          </p:cNvSpPr>
          <p:nvPr/>
        </p:nvSpPr>
        <p:spPr>
          <a:xfrm xmlns:a="http://schemas.openxmlformats.org/drawingml/2006/main">
            <a:off x="8020050" y="3333750"/>
            <a:ext cx="35242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5B6472"/>
                </a:solidFill>
                <a:latin typeface="Arial"/>
                <a:ea typeface="Arial"/>
                <a:cs typeface="Arial"/>
              </a:defRPr>
            </a:pPr>
            <a:r>
              <a:rPr sz="1200" b="0">
                <a:solidFill>
                  <a:srgbClr val="5B6472"/>
                </a:solidFill>
                <a:latin typeface="Arial"/>
                <a:ea typeface="Arial"/>
                <a:cs typeface="Arial"/>
              </a:rPr>
              <a:t>Convert to Hounsfield units and apply bone windowing.</a:t>
            </a:r>
          </a:p>
        </p:txBody>
      </p:sp>
      <p:sp>
        <p:nvSpPr>
          <p:cNvPr id="16" name="prep-no-3">
            <a:extLst xmlns:a="http://schemas.openxmlformats.org/drawingml/2006/main">
              <a:ext uri="{FF2B5EF4-FFF2-40B4-BE49-F238E27FC236}">
                <a16:creationId xmlns:a16="http://schemas.microsoft.com/office/drawing/2014/main" id="{F3676DAF-DD4F-4C6D-BA1B-489F34A706D9}"/>
              </a:ext>
            </a:extLst>
          </p:cNvPr>
          <p:cNvSpPr>
            <a:spLocks xmlns:a="http://schemas.openxmlformats.org/drawingml/2006/main" noGrp="1"/>
          </p:cNvSpPr>
          <p:nvPr/>
        </p:nvSpPr>
        <p:spPr>
          <a:xfrm xmlns:a="http://schemas.openxmlformats.org/drawingml/2006/main">
            <a:off x="7524750" y="3800475"/>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1">
                <a:solidFill>
                  <a:srgbClr val="2563EB"/>
                </a:solidFill>
                <a:latin typeface="Arial"/>
                <a:ea typeface="Arial"/>
                <a:cs typeface="Arial"/>
              </a:defRPr>
            </a:pPr>
            <a:r>
              <a:rPr sz="1275" b="1">
                <a:solidFill>
                  <a:srgbClr val="2563EB"/>
                </a:solidFill>
                <a:latin typeface="Arial"/>
                <a:ea typeface="Arial"/>
                <a:cs typeface="Arial"/>
              </a:rPr>
              <a:t>4</a:t>
            </a:r>
          </a:p>
        </p:txBody>
      </p:sp>
      <p:sp>
        <p:nvSpPr>
          <p:cNvPr id="17" name="prep-h-3">
            <a:extLst xmlns:a="http://schemas.openxmlformats.org/drawingml/2006/main">
              <a:ext uri="{FF2B5EF4-FFF2-40B4-BE49-F238E27FC236}">
                <a16:creationId xmlns:a16="http://schemas.microsoft.com/office/drawing/2014/main" id="{F575F539-3785-4B89-924A-48D7137122C4}"/>
              </a:ext>
            </a:extLst>
          </p:cNvPr>
          <p:cNvSpPr>
            <a:spLocks xmlns:a="http://schemas.openxmlformats.org/drawingml/2006/main" noGrp="1"/>
          </p:cNvSpPr>
          <p:nvPr/>
        </p:nvSpPr>
        <p:spPr>
          <a:xfrm xmlns:a="http://schemas.openxmlformats.org/drawingml/2006/main">
            <a:off x="8020050" y="3800475"/>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a:solidFill>
                  <a:srgbClr val="111827"/>
                </a:solidFill>
                <a:latin typeface="Arial"/>
                <a:ea typeface="Arial"/>
                <a:cs typeface="Arial"/>
              </a:defRPr>
            </a:pPr>
            <a:r>
              <a:rPr sz="1575" b="1">
                <a:solidFill>
                  <a:srgbClr val="111827"/>
                </a:solidFill>
                <a:latin typeface="Arial"/>
                <a:ea typeface="Arial"/>
                <a:cs typeface="Arial"/>
              </a:rPr>
              <a:t>Construct targets</a:t>
            </a:r>
          </a:p>
        </p:txBody>
      </p:sp>
      <p:sp>
        <p:nvSpPr>
          <p:cNvPr id="18" name="prep-b-3">
            <a:extLst xmlns:a="http://schemas.openxmlformats.org/drawingml/2006/main">
              <a:ext uri="{FF2B5EF4-FFF2-40B4-BE49-F238E27FC236}">
                <a16:creationId xmlns:a16="http://schemas.microsoft.com/office/drawing/2014/main" id="{709E364B-05AC-40A0-95F6-2ED77A6D5B3E}"/>
              </a:ext>
            </a:extLst>
          </p:cNvPr>
          <p:cNvSpPr>
            <a:spLocks xmlns:a="http://schemas.openxmlformats.org/drawingml/2006/main" noGrp="1"/>
          </p:cNvSpPr>
          <p:nvPr/>
        </p:nvSpPr>
        <p:spPr>
          <a:xfrm xmlns:a="http://schemas.openxmlformats.org/drawingml/2006/main">
            <a:off x="8020050" y="4076700"/>
            <a:ext cx="35242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5B6472"/>
                </a:solidFill>
                <a:latin typeface="Arial"/>
                <a:ea typeface="Arial"/>
                <a:cs typeface="Arial"/>
              </a:defRPr>
            </a:pPr>
            <a:r>
              <a:rPr sz="1200" b="0">
                <a:solidFill>
                  <a:srgbClr val="5B6472"/>
                </a:solidFill>
                <a:latin typeface="Arial"/>
                <a:ea typeface="Arial"/>
                <a:cs typeface="Arial"/>
              </a:rPr>
              <a:t>Transform and voxelise the four STL bone surfaces.</a:t>
            </a:r>
          </a:p>
        </p:txBody>
      </p:sp>
      <p:sp>
        <p:nvSpPr>
          <p:cNvPr id="19" name="prep-no-4">
            <a:extLst xmlns:a="http://schemas.openxmlformats.org/drawingml/2006/main">
              <a:ext uri="{FF2B5EF4-FFF2-40B4-BE49-F238E27FC236}">
                <a16:creationId xmlns:a16="http://schemas.microsoft.com/office/drawing/2014/main" id="{AD5DA8BB-36AE-4321-8DC8-85624F47E501}"/>
              </a:ext>
            </a:extLst>
          </p:cNvPr>
          <p:cNvSpPr>
            <a:spLocks xmlns:a="http://schemas.openxmlformats.org/drawingml/2006/main" noGrp="1"/>
          </p:cNvSpPr>
          <p:nvPr/>
        </p:nvSpPr>
        <p:spPr>
          <a:xfrm xmlns:a="http://schemas.openxmlformats.org/drawingml/2006/main">
            <a:off x="7524750" y="4543425"/>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1">
                <a:solidFill>
                  <a:srgbClr val="2563EB"/>
                </a:solidFill>
                <a:latin typeface="Arial"/>
                <a:ea typeface="Arial"/>
                <a:cs typeface="Arial"/>
              </a:defRPr>
            </a:pPr>
            <a:r>
              <a:rPr sz="1275" b="1">
                <a:solidFill>
                  <a:srgbClr val="2563EB"/>
                </a:solidFill>
                <a:latin typeface="Arial"/>
                <a:ea typeface="Arial"/>
                <a:cs typeface="Arial"/>
              </a:rPr>
              <a:t>5</a:t>
            </a:r>
          </a:p>
        </p:txBody>
      </p:sp>
      <p:sp>
        <p:nvSpPr>
          <p:cNvPr id="20" name="prep-h-4">
            <a:extLst xmlns:a="http://schemas.openxmlformats.org/drawingml/2006/main">
              <a:ext uri="{FF2B5EF4-FFF2-40B4-BE49-F238E27FC236}">
                <a16:creationId xmlns:a16="http://schemas.microsoft.com/office/drawing/2014/main" id="{78679616-1709-489C-A604-D5BC62F7E8BA}"/>
              </a:ext>
            </a:extLst>
          </p:cNvPr>
          <p:cNvSpPr>
            <a:spLocks xmlns:a="http://schemas.openxmlformats.org/drawingml/2006/main" noGrp="1"/>
          </p:cNvSpPr>
          <p:nvPr/>
        </p:nvSpPr>
        <p:spPr>
          <a:xfrm xmlns:a="http://schemas.openxmlformats.org/drawingml/2006/main">
            <a:off x="8020050" y="4543425"/>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a:solidFill>
                  <a:srgbClr val="111827"/>
                </a:solidFill>
                <a:latin typeface="Arial"/>
                <a:ea typeface="Arial"/>
                <a:cs typeface="Arial"/>
              </a:defRPr>
            </a:pPr>
            <a:r>
              <a:rPr sz="1575" b="1">
                <a:solidFill>
                  <a:srgbClr val="111827"/>
                </a:solidFill>
                <a:latin typeface="Arial"/>
                <a:ea typeface="Arial"/>
                <a:cs typeface="Arial"/>
              </a:rPr>
              <a:t>Prepare fracture regions</a:t>
            </a:r>
          </a:p>
        </p:txBody>
      </p:sp>
      <p:sp>
        <p:nvSpPr>
          <p:cNvPr id="21" name="prep-b-4">
            <a:extLst xmlns:a="http://schemas.openxmlformats.org/drawingml/2006/main">
              <a:ext uri="{FF2B5EF4-FFF2-40B4-BE49-F238E27FC236}">
                <a16:creationId xmlns:a16="http://schemas.microsoft.com/office/drawing/2014/main" id="{6B75B772-ABE0-40FA-A7BF-70B034FB3575}"/>
              </a:ext>
            </a:extLst>
          </p:cNvPr>
          <p:cNvSpPr>
            <a:spLocks xmlns:a="http://schemas.openxmlformats.org/drawingml/2006/main" noGrp="1"/>
          </p:cNvSpPr>
          <p:nvPr/>
        </p:nvSpPr>
        <p:spPr>
          <a:xfrm xmlns:a="http://schemas.openxmlformats.org/drawingml/2006/main">
            <a:off x="8020050" y="4819650"/>
            <a:ext cx="35242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5B6472"/>
                </a:solidFill>
                <a:latin typeface="Arial"/>
                <a:ea typeface="Arial"/>
                <a:cs typeface="Arial"/>
              </a:defRPr>
            </a:pPr>
            <a:r>
              <a:rPr sz="1200" b="0">
                <a:solidFill>
                  <a:srgbClr val="5B6472"/>
                </a:solidFill>
                <a:latin typeface="Arial"/>
                <a:ea typeface="Arial"/>
                <a:cs typeface="Arial"/>
              </a:rPr>
              <a:t>Map spatial fracture masks onto the 256³ grid.</a:t>
            </a:r>
          </a:p>
        </p:txBody>
      </p:sp>
      <p:sp>
        <p:nvSpPr>
          <p:cNvPr id="22" name="prep-no-5">
            <a:extLst xmlns:a="http://schemas.openxmlformats.org/drawingml/2006/main">
              <a:ext uri="{FF2B5EF4-FFF2-40B4-BE49-F238E27FC236}">
                <a16:creationId xmlns:a16="http://schemas.microsoft.com/office/drawing/2014/main" id="{6DC51E84-23AE-41E3-8A7B-0793C7D2954E}"/>
              </a:ext>
            </a:extLst>
          </p:cNvPr>
          <p:cNvSpPr>
            <a:spLocks xmlns:a="http://schemas.openxmlformats.org/drawingml/2006/main" noGrp="1"/>
          </p:cNvSpPr>
          <p:nvPr/>
        </p:nvSpPr>
        <p:spPr>
          <a:xfrm xmlns:a="http://schemas.openxmlformats.org/drawingml/2006/main">
            <a:off x="7524750" y="5286375"/>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1">
                <a:solidFill>
                  <a:srgbClr val="0F766E"/>
                </a:solidFill>
                <a:latin typeface="Arial"/>
                <a:ea typeface="Arial"/>
                <a:cs typeface="Arial"/>
              </a:defRPr>
            </a:pPr>
            <a:r>
              <a:rPr sz="1275" b="1">
                <a:solidFill>
                  <a:srgbClr val="0F766E"/>
                </a:solidFill>
                <a:latin typeface="Arial"/>
                <a:ea typeface="Arial"/>
                <a:cs typeface="Arial"/>
              </a:rPr>
              <a:t>6</a:t>
            </a:r>
          </a:p>
        </p:txBody>
      </p:sp>
      <p:sp>
        <p:nvSpPr>
          <p:cNvPr id="23" name="prep-h-5">
            <a:extLst xmlns:a="http://schemas.openxmlformats.org/drawingml/2006/main">
              <a:ext uri="{FF2B5EF4-FFF2-40B4-BE49-F238E27FC236}">
                <a16:creationId xmlns:a16="http://schemas.microsoft.com/office/drawing/2014/main" id="{18A80C1F-E399-413B-8EF7-B54F558B6C1B}"/>
              </a:ext>
            </a:extLst>
          </p:cNvPr>
          <p:cNvSpPr>
            <a:spLocks xmlns:a="http://schemas.openxmlformats.org/drawingml/2006/main" noGrp="1"/>
          </p:cNvSpPr>
          <p:nvPr/>
        </p:nvSpPr>
        <p:spPr>
          <a:xfrm xmlns:a="http://schemas.openxmlformats.org/drawingml/2006/main">
            <a:off x="8020050" y="5286375"/>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a:solidFill>
                  <a:srgbClr val="0F766E"/>
                </a:solidFill>
                <a:latin typeface="Arial"/>
                <a:ea typeface="Arial"/>
                <a:cs typeface="Arial"/>
              </a:defRPr>
            </a:pPr>
            <a:r>
              <a:rPr sz="1575" b="1">
                <a:solidFill>
                  <a:srgbClr val="0F766E"/>
                </a:solidFill>
                <a:latin typeface="Arial"/>
                <a:ea typeface="Arial"/>
                <a:cs typeface="Arial"/>
              </a:rPr>
              <a:t>Generate model inputs</a:t>
            </a:r>
          </a:p>
        </p:txBody>
      </p:sp>
      <p:sp>
        <p:nvSpPr>
          <p:cNvPr id="24" name="prep-b-5">
            <a:extLst xmlns:a="http://schemas.openxmlformats.org/drawingml/2006/main">
              <a:ext uri="{FF2B5EF4-FFF2-40B4-BE49-F238E27FC236}">
                <a16:creationId xmlns:a16="http://schemas.microsoft.com/office/drawing/2014/main" id="{3334CFB5-FA01-4297-A350-2D1394FA453E}"/>
              </a:ext>
            </a:extLst>
          </p:cNvPr>
          <p:cNvSpPr>
            <a:spLocks xmlns:a="http://schemas.openxmlformats.org/drawingml/2006/main" noGrp="1"/>
          </p:cNvSpPr>
          <p:nvPr/>
        </p:nvSpPr>
        <p:spPr>
          <a:xfrm xmlns:a="http://schemas.openxmlformats.org/drawingml/2006/main">
            <a:off x="8020050" y="5562600"/>
            <a:ext cx="35242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5B6472"/>
                </a:solidFill>
                <a:latin typeface="Arial"/>
                <a:ea typeface="Arial"/>
                <a:cs typeface="Arial"/>
              </a:defRPr>
            </a:pPr>
            <a:r>
              <a:rPr sz="1200" b="0">
                <a:solidFill>
                  <a:srgbClr val="5B6472"/>
                </a:solidFill>
                <a:latin typeface="Arial"/>
                <a:ea typeface="Arial"/>
                <a:cs typeface="Arial"/>
              </a:rPr>
              <a:t>Create aligned AP and lateral DRRs from the same anatomy.</a:t>
            </a:r>
          </a:p>
        </p:txBody>
      </p:sp>
    </p:spTree>
    <p:extLst>
      <p:ext uri="{BB962C8B-B14F-4D97-AF65-F5344CB8AC3E}">
        <p14:creationId xmlns:p14="http://schemas.microsoft.com/office/powerpoint/2010/main" val="1809166707"/>
      </p:ext>
    </p:extLst>
  </p:cSld>
</p:sld>
</file>

<file path=ppt/slides/slide9.xml><?xml version="1.0" encoding="utf-8"?>
<p:sld xmlns:p="http://schemas.openxmlformats.org/presentationml/2006/main">
  <p:cSld>
    <p:bg>
      <p:bgPr>
        <a:solidFill xmlns:a="http://schemas.openxmlformats.org/drawingml/2006/main">
          <a:srgbClr val="FBFBFA"/>
        </a:solidFill>
      </p:bgPr>
    </p:bg>
    <p:spTree>
      <p:nvGrpSpPr>
        <p:cNvPr id="1" name=""/>
        <p:cNvGrpSpPr/>
        <p:nvPr/>
      </p:nvGrpSpPr>
      <p:grpSpPr>
        <a:xfrm xmlns:a="http://schemas.openxmlformats.org/drawingml/2006/main"/>
      </p:grpSpPr>
      <p:sp>
        <p:nvSpPr>
          <p:cNvPr id="17" name="section-9">
            <a:extLst xmlns:a="http://schemas.openxmlformats.org/drawingml/2006/main">
              <a:ext uri="{FF2B5EF4-FFF2-40B4-BE49-F238E27FC236}">
                <a16:creationId xmlns:a16="http://schemas.microsoft.com/office/drawing/2014/main" id="{FE0F8016-A842-4B58-AE16-CA17DAD62779}"/>
              </a:ext>
            </a:extLst>
          </p:cNvPr>
          <p:cNvSpPr>
            <a:spLocks xmlns:a="http://schemas.openxmlformats.org/drawingml/2006/main" noGrp="1"/>
          </p:cNvSpPr>
          <p:nvPr/>
        </p:nvSpPr>
        <p:spPr>
          <a:xfrm xmlns:a="http://schemas.openxmlformats.org/drawingml/2006/main">
            <a:off x="400050" y="238125"/>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563EB"/>
                </a:solidFill>
                <a:latin typeface="Arial"/>
                <a:ea typeface="Arial"/>
                <a:cs typeface="Arial"/>
              </a:defRPr>
            </a:pPr>
            <a:r>
              <a:rPr sz="1125" b="1">
                <a:solidFill>
                  <a:srgbClr val="2563EB"/>
                </a:solidFill>
                <a:latin typeface="Arial"/>
                <a:ea typeface="Arial"/>
                <a:cs typeface="Arial"/>
              </a:rPr>
              <a:t>TECHNICAL APPROACH</a:t>
            </a:r>
          </a:p>
        </p:txBody>
      </p:sp>
      <p:sp>
        <p:nvSpPr>
          <p:cNvPr id="2" name="title-9">
            <a:extLst xmlns:a="http://schemas.openxmlformats.org/drawingml/2006/main">
              <a:ext uri="{FF2B5EF4-FFF2-40B4-BE49-F238E27FC236}">
                <a16:creationId xmlns:a16="http://schemas.microsoft.com/office/drawing/2014/main" id="{80970437-D74B-4CA1-A505-CF34E7E02066}"/>
              </a:ext>
            </a:extLst>
          </p:cNvPr>
          <p:cNvSpPr>
            <a:spLocks xmlns:a="http://schemas.openxmlformats.org/drawingml/2006/main" noGrp="1"/>
          </p:cNvSpPr>
          <p:nvPr/>
        </p:nvSpPr>
        <p:spPr>
          <a:xfrm xmlns:a="http://schemas.openxmlformats.org/drawingml/2006/main">
            <a:off x="400050" y="552450"/>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525" b="1">
                <a:solidFill>
                  <a:srgbClr val="111827"/>
                </a:solidFill>
                <a:latin typeface="Arial"/>
                <a:ea typeface="Arial"/>
                <a:cs typeface="Arial"/>
              </a:defRPr>
            </a:pPr>
            <a:r>
              <a:rPr sz="3525" b="1">
                <a:solidFill>
                  <a:srgbClr val="111827"/>
                </a:solidFill>
                <a:latin typeface="Arial"/>
                <a:ea typeface="Arial"/>
                <a:cs typeface="Arial"/>
              </a:rPr>
              <a:t>ConvNeXt builds a multiscale feature pyramid</a:t>
            </a:r>
          </a:p>
        </p:txBody>
      </p:sp>
      <p:cxnSp>
        <p:nvCxnSpPr>
          <p:cNvPr id="19" name="rule-9"/>
          <p:cNvCxnSpPr/>
          <p:nvPr/>
        </p:nvCxnSpPr>
        <p:spPr>
          <a:xfrm xmlns:a="http://schemas.openxmlformats.org/drawingml/2006/main">
            <a:off x="400050" y="1285875"/>
            <a:ext cx="11391900" cy="0"/>
          </a:xfrm>
          <a:prstGeom xmlns:a="http://schemas.openxmlformats.org/drawingml/2006/main" prst="straightConnector1">
            <a:avLst/>
          </a:prstGeom>
          <a:ln xmlns:a="http://schemas.openxmlformats.org/drawingml/2006/main" w="9525">
            <a:solidFill>
              <a:srgbClr val="D9DEE7"/>
            </a:solidFill>
            <a:prstDash val="solid"/>
          </a:ln>
        </p:spPr>
      </p:cxnSp>
      <p:sp>
        <p:nvSpPr>
          <p:cNvPr id="4" name="source-9">
            <a:extLst xmlns:a="http://schemas.openxmlformats.org/drawingml/2006/main">
              <a:ext uri="{FF2B5EF4-FFF2-40B4-BE49-F238E27FC236}">
                <a16:creationId xmlns:a16="http://schemas.microsoft.com/office/drawing/2014/main" id="{346AA7AD-19AF-4726-96AF-519BD53D32E6}"/>
              </a:ext>
            </a:extLst>
          </p:cNvPr>
          <p:cNvSpPr>
            <a:spLocks xmlns:a="http://schemas.openxmlformats.org/drawingml/2006/main" noGrp="1"/>
          </p:cNvSpPr>
          <p:nvPr/>
        </p:nvSpPr>
        <p:spPr>
          <a:xfrm xmlns:a="http://schemas.openxmlformats.org/drawingml/2006/main">
            <a:off x="400050" y="6429375"/>
            <a:ext cx="381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5B6472"/>
                </a:solidFill>
                <a:latin typeface="Arial"/>
                <a:ea typeface="Arial"/>
                <a:cs typeface="Arial"/>
              </a:defRPr>
            </a:pPr>
            <a:r>
              <a:rPr sz="900" b="0">
                <a:solidFill>
                  <a:srgbClr val="5B6472"/>
                </a:solidFill>
                <a:latin typeface="Arial"/>
                <a:ea typeface="Arial"/>
                <a:cs typeface="Arial"/>
              </a:rPr>
              <a:t>Report pp. 91, 93-96</a:t>
            </a:r>
          </a:p>
        </p:txBody>
      </p:sp>
      <p:sp>
        <p:nvSpPr>
          <p:cNvPr id="5" name="page-9">
            <a:extLst xmlns:a="http://schemas.openxmlformats.org/drawingml/2006/main">
              <a:ext uri="{FF2B5EF4-FFF2-40B4-BE49-F238E27FC236}">
                <a16:creationId xmlns:a16="http://schemas.microsoft.com/office/drawing/2014/main" id="{75F85D45-5B22-4589-848C-56E904F6C48D}"/>
              </a:ext>
            </a:extLst>
          </p:cNvPr>
          <p:cNvSpPr>
            <a:spLocks xmlns:a="http://schemas.openxmlformats.org/drawingml/2006/main" noGrp="1"/>
          </p:cNvSpPr>
          <p:nvPr/>
        </p:nvSpPr>
        <p:spPr>
          <a:xfrm xmlns:a="http://schemas.openxmlformats.org/drawingml/2006/main">
            <a:off x="11239500" y="6400800"/>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050" b="0">
                <a:solidFill>
                  <a:srgbClr val="5B6472"/>
                </a:solidFill>
                <a:latin typeface="Arial"/>
                <a:ea typeface="Arial"/>
                <a:cs typeface="Arial"/>
              </a:defRPr>
            </a:pPr>
            <a:r>
              <a:rPr sz="1050" b="0">
                <a:solidFill>
                  <a:srgbClr val="5B6472"/>
                </a:solidFill>
                <a:latin typeface="Arial"/>
                <a:ea typeface="Arial"/>
                <a:cs typeface="Arial"/>
              </a:rPr>
              <a:t>09</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bec2345627a14ea7"/>
          <a:stretch xmlns:a="http://schemas.openxmlformats.org/drawingml/2006/main"/>
        </p:blipFill>
        <p:spPr>
          <a:xfrm xmlns:a="http://schemas.openxmlformats.org/drawingml/2006/main">
            <a:off x="1670202" y="1619250"/>
            <a:ext cx="4412946" cy="2190750"/>
          </a:xfrm>
          <a:prstGeom xmlns:a="http://schemas.openxmlformats.org/drawingml/2006/main" prst="roundRect">
            <a:avLst>
              <a:gd name="adj" fmla="val 5217"/>
            </a:avLst>
          </a:prstGeom>
        </p:spPr>
      </p:pic>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21154863118a4246"/>
          <a:stretch xmlns:a="http://schemas.openxmlformats.org/drawingml/2006/main"/>
        </p:blipFill>
        <p:spPr>
          <a:xfrm xmlns:a="http://schemas.openxmlformats.org/drawingml/2006/main">
            <a:off x="7810500" y="1820013"/>
            <a:ext cx="3714750" cy="1770174"/>
          </a:xfrm>
          <a:prstGeom xmlns:a="http://schemas.openxmlformats.org/drawingml/2006/main" prst="roundRect">
            <a:avLst>
              <a:gd name="adj" fmla="val 5217"/>
            </a:avLst>
          </a:prstGeom>
        </p:spPr>
      </p:pic>
      <p:sp>
        <p:nvSpPr>
          <p:cNvPr id="8" name="conv-h-0">
            <a:extLst xmlns:a="http://schemas.openxmlformats.org/drawingml/2006/main">
              <a:ext uri="{FF2B5EF4-FFF2-40B4-BE49-F238E27FC236}">
                <a16:creationId xmlns:a16="http://schemas.microsoft.com/office/drawing/2014/main" id="{3D23CD35-5647-4D2B-A38A-93155139580F}"/>
              </a:ext>
            </a:extLst>
          </p:cNvPr>
          <p:cNvSpPr>
            <a:spLocks xmlns:a="http://schemas.openxmlformats.org/drawingml/2006/main" noGrp="1"/>
          </p:cNvSpPr>
          <p:nvPr/>
        </p:nvSpPr>
        <p:spPr>
          <a:xfrm xmlns:a="http://schemas.openxmlformats.org/drawingml/2006/main">
            <a:off x="400050" y="4276725"/>
            <a:ext cx="2590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2563EB"/>
                </a:solidFill>
                <a:latin typeface="Arial"/>
                <a:ea typeface="Arial"/>
                <a:cs typeface="Arial"/>
              </a:defRPr>
            </a:pPr>
            <a:r>
              <a:rPr sz="1650" b="1">
                <a:solidFill>
                  <a:srgbClr val="2563EB"/>
                </a:solidFill>
                <a:latin typeface="Arial"/>
                <a:ea typeface="Arial"/>
                <a:cs typeface="Arial"/>
              </a:rPr>
              <a:t>Spatial context</a:t>
            </a:r>
          </a:p>
        </p:txBody>
      </p:sp>
      <p:sp>
        <p:nvSpPr>
          <p:cNvPr id="9" name="conv-b-0">
            <a:extLst xmlns:a="http://schemas.openxmlformats.org/drawingml/2006/main">
              <a:ext uri="{FF2B5EF4-FFF2-40B4-BE49-F238E27FC236}">
                <a16:creationId xmlns:a16="http://schemas.microsoft.com/office/drawing/2014/main" id="{A4640E13-7726-4D13-A774-21D994E24443}"/>
              </a:ext>
            </a:extLst>
          </p:cNvPr>
          <p:cNvSpPr>
            <a:spLocks xmlns:a="http://schemas.openxmlformats.org/drawingml/2006/main" noGrp="1"/>
          </p:cNvSpPr>
          <p:nvPr/>
        </p:nvSpPr>
        <p:spPr>
          <a:xfrm xmlns:a="http://schemas.openxmlformats.org/drawingml/2006/main">
            <a:off x="400050" y="4676775"/>
            <a:ext cx="25908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5B6472"/>
                </a:solidFill>
                <a:latin typeface="Arial"/>
                <a:ea typeface="Arial"/>
                <a:cs typeface="Arial"/>
              </a:defRPr>
            </a:pPr>
            <a:r>
              <a:rPr sz="1350" b="0">
                <a:solidFill>
                  <a:srgbClr val="5B6472"/>
                </a:solidFill>
                <a:latin typeface="Arial"/>
                <a:ea typeface="Arial"/>
                <a:cs typeface="Arial"/>
              </a:rPr>
              <a:t>A 7x7 depthwise convolution captures neighbourhood structure efficiently.</a:t>
            </a:r>
          </a:p>
        </p:txBody>
      </p:sp>
      <p:sp>
        <p:nvSpPr>
          <p:cNvPr id="10" name="conv-h-1">
            <a:extLst xmlns:a="http://schemas.openxmlformats.org/drawingml/2006/main">
              <a:ext uri="{FF2B5EF4-FFF2-40B4-BE49-F238E27FC236}">
                <a16:creationId xmlns:a16="http://schemas.microsoft.com/office/drawing/2014/main" id="{72D5727F-B725-44F9-95CB-FAEDBB429C8D}"/>
              </a:ext>
            </a:extLst>
          </p:cNvPr>
          <p:cNvSpPr>
            <a:spLocks xmlns:a="http://schemas.openxmlformats.org/drawingml/2006/main" noGrp="1"/>
          </p:cNvSpPr>
          <p:nvPr/>
        </p:nvSpPr>
        <p:spPr>
          <a:xfrm xmlns:a="http://schemas.openxmlformats.org/drawingml/2006/main">
            <a:off x="3248025" y="4276725"/>
            <a:ext cx="2590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2563EB"/>
                </a:solidFill>
                <a:latin typeface="Arial"/>
                <a:ea typeface="Arial"/>
                <a:cs typeface="Arial"/>
              </a:defRPr>
            </a:pPr>
            <a:r>
              <a:rPr sz="1650" b="1">
                <a:solidFill>
                  <a:srgbClr val="2563EB"/>
                </a:solidFill>
                <a:latin typeface="Arial"/>
                <a:ea typeface="Arial"/>
                <a:cs typeface="Arial"/>
              </a:rPr>
              <a:t>Channel mixing</a:t>
            </a:r>
          </a:p>
        </p:txBody>
      </p:sp>
      <p:sp>
        <p:nvSpPr>
          <p:cNvPr id="11" name="conv-b-1">
            <a:extLst xmlns:a="http://schemas.openxmlformats.org/drawingml/2006/main">
              <a:ext uri="{FF2B5EF4-FFF2-40B4-BE49-F238E27FC236}">
                <a16:creationId xmlns:a16="http://schemas.microsoft.com/office/drawing/2014/main" id="{28AB198D-3CDB-4E71-9C31-17C5DE0931FD}"/>
              </a:ext>
            </a:extLst>
          </p:cNvPr>
          <p:cNvSpPr>
            <a:spLocks xmlns:a="http://schemas.openxmlformats.org/drawingml/2006/main" noGrp="1"/>
          </p:cNvSpPr>
          <p:nvPr/>
        </p:nvSpPr>
        <p:spPr>
          <a:xfrm xmlns:a="http://schemas.openxmlformats.org/drawingml/2006/main">
            <a:off x="3248025" y="4676775"/>
            <a:ext cx="25908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5B6472"/>
                </a:solidFill>
                <a:latin typeface="Arial"/>
                <a:ea typeface="Arial"/>
                <a:cs typeface="Arial"/>
              </a:defRPr>
            </a:pPr>
            <a:r>
              <a:rPr sz="1350" b="0">
                <a:solidFill>
                  <a:srgbClr val="5B6472"/>
                </a:solidFill>
                <a:latin typeface="Arial"/>
                <a:ea typeface="Arial"/>
                <a:cs typeface="Arial"/>
              </a:rPr>
              <a:t>LayerNorm and 1x1 layers expand, activate with GELU and project the features.</a:t>
            </a:r>
          </a:p>
        </p:txBody>
      </p:sp>
      <p:sp>
        <p:nvSpPr>
          <p:cNvPr id="12" name="conv-h-2">
            <a:extLst xmlns:a="http://schemas.openxmlformats.org/drawingml/2006/main">
              <a:ext uri="{FF2B5EF4-FFF2-40B4-BE49-F238E27FC236}">
                <a16:creationId xmlns:a16="http://schemas.microsoft.com/office/drawing/2014/main" id="{FA717D33-303B-482A-BB89-A49C85D87C69}"/>
              </a:ext>
            </a:extLst>
          </p:cNvPr>
          <p:cNvSpPr>
            <a:spLocks xmlns:a="http://schemas.openxmlformats.org/drawingml/2006/main" noGrp="1"/>
          </p:cNvSpPr>
          <p:nvPr/>
        </p:nvSpPr>
        <p:spPr>
          <a:xfrm xmlns:a="http://schemas.openxmlformats.org/drawingml/2006/main">
            <a:off x="6096000" y="4276725"/>
            <a:ext cx="2590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2563EB"/>
                </a:solidFill>
                <a:latin typeface="Arial"/>
                <a:ea typeface="Arial"/>
                <a:cs typeface="Arial"/>
              </a:defRPr>
            </a:pPr>
            <a:r>
              <a:rPr sz="1650" b="1">
                <a:solidFill>
                  <a:srgbClr val="2563EB"/>
                </a:solidFill>
                <a:latin typeface="Arial"/>
                <a:ea typeface="Arial"/>
                <a:cs typeface="Arial"/>
              </a:rPr>
              <a:t>Residual learning</a:t>
            </a:r>
          </a:p>
        </p:txBody>
      </p:sp>
      <p:sp>
        <p:nvSpPr>
          <p:cNvPr id="13" name="conv-b-2">
            <a:extLst xmlns:a="http://schemas.openxmlformats.org/drawingml/2006/main">
              <a:ext uri="{FF2B5EF4-FFF2-40B4-BE49-F238E27FC236}">
                <a16:creationId xmlns:a16="http://schemas.microsoft.com/office/drawing/2014/main" id="{23044AFC-6C61-4251-BE43-4277B3E80BEF}"/>
              </a:ext>
            </a:extLst>
          </p:cNvPr>
          <p:cNvSpPr>
            <a:spLocks xmlns:a="http://schemas.openxmlformats.org/drawingml/2006/main" noGrp="1"/>
          </p:cNvSpPr>
          <p:nvPr/>
        </p:nvSpPr>
        <p:spPr>
          <a:xfrm xmlns:a="http://schemas.openxmlformats.org/drawingml/2006/main">
            <a:off x="6096000" y="4676775"/>
            <a:ext cx="25908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5B6472"/>
                </a:solidFill>
                <a:latin typeface="Arial"/>
                <a:ea typeface="Arial"/>
                <a:cs typeface="Arial"/>
              </a:defRPr>
            </a:pPr>
            <a:r>
              <a:rPr sz="1350" b="0">
                <a:solidFill>
                  <a:srgbClr val="5B6472"/>
                </a:solidFill>
                <a:latin typeface="Arial"/>
                <a:ea typeface="Arial"/>
                <a:cs typeface="Arial"/>
              </a:rPr>
              <a:t>The shortcut preserves the incoming representation while the block learns a refinement.</a:t>
            </a:r>
          </a:p>
        </p:txBody>
      </p:sp>
      <p:sp>
        <p:nvSpPr>
          <p:cNvPr id="14" name="conv-h-3">
            <a:extLst xmlns:a="http://schemas.openxmlformats.org/drawingml/2006/main">
              <a:ext uri="{FF2B5EF4-FFF2-40B4-BE49-F238E27FC236}">
                <a16:creationId xmlns:a16="http://schemas.microsoft.com/office/drawing/2014/main" id="{FB373C13-1C4F-4BB0-BE58-7A7BEFB8B554}"/>
              </a:ext>
            </a:extLst>
          </p:cNvPr>
          <p:cNvSpPr>
            <a:spLocks xmlns:a="http://schemas.openxmlformats.org/drawingml/2006/main" noGrp="1"/>
          </p:cNvSpPr>
          <p:nvPr/>
        </p:nvSpPr>
        <p:spPr>
          <a:xfrm xmlns:a="http://schemas.openxmlformats.org/drawingml/2006/main">
            <a:off x="8943975" y="4276725"/>
            <a:ext cx="2590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0F766E"/>
                </a:solidFill>
                <a:latin typeface="Arial"/>
                <a:ea typeface="Arial"/>
                <a:cs typeface="Arial"/>
              </a:defRPr>
            </a:pPr>
            <a:r>
              <a:rPr sz="1650" b="1">
                <a:solidFill>
                  <a:srgbClr val="0F766E"/>
                </a:solidFill>
                <a:latin typeface="Arial"/>
                <a:ea typeface="Arial"/>
                <a:cs typeface="Arial"/>
              </a:rPr>
              <a:t>Four resolutions</a:t>
            </a:r>
          </a:p>
        </p:txBody>
      </p:sp>
      <p:sp>
        <p:nvSpPr>
          <p:cNvPr id="15" name="conv-b-3">
            <a:extLst xmlns:a="http://schemas.openxmlformats.org/drawingml/2006/main">
              <a:ext uri="{FF2B5EF4-FFF2-40B4-BE49-F238E27FC236}">
                <a16:creationId xmlns:a16="http://schemas.microsoft.com/office/drawing/2014/main" id="{46529983-F72C-40EA-BDE9-E08DE14ECA55}"/>
              </a:ext>
            </a:extLst>
          </p:cNvPr>
          <p:cNvSpPr>
            <a:spLocks xmlns:a="http://schemas.openxmlformats.org/drawingml/2006/main" noGrp="1"/>
          </p:cNvSpPr>
          <p:nvPr/>
        </p:nvSpPr>
        <p:spPr>
          <a:xfrm xmlns:a="http://schemas.openxmlformats.org/drawingml/2006/main">
            <a:off x="8943975" y="4676775"/>
            <a:ext cx="25908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5B6472"/>
                </a:solidFill>
                <a:latin typeface="Arial"/>
                <a:ea typeface="Arial"/>
                <a:cs typeface="Arial"/>
              </a:defRPr>
            </a:pPr>
            <a:r>
              <a:rPr sz="1350" b="0">
                <a:solidFill>
                  <a:srgbClr val="5B6472"/>
                </a:solidFill>
                <a:latin typeface="Arial"/>
                <a:ea typeface="Arial"/>
                <a:cs typeface="Arial"/>
              </a:rPr>
              <a:t>Downsampling trades spatial size for channels; AP and LAT pyramids are extracted separately, then fused.</a:t>
            </a:r>
          </a:p>
        </p:txBody>
      </p:sp>
      <p:sp>
        <p:nvSpPr>
          <p:cNvPr id="16" name="conv-result">
            <a:extLst xmlns:a="http://schemas.openxmlformats.org/drawingml/2006/main">
              <a:ext uri="{FF2B5EF4-FFF2-40B4-BE49-F238E27FC236}">
                <a16:creationId xmlns:a16="http://schemas.microsoft.com/office/drawing/2014/main" id="{BCA88BD5-0682-456C-9D83-D33AD6946A1E}"/>
              </a:ext>
            </a:extLst>
          </p:cNvPr>
          <p:cNvSpPr>
            <a:spLocks xmlns:a="http://schemas.openxmlformats.org/drawingml/2006/main" noGrp="1"/>
          </p:cNvSpPr>
          <p:nvPr/>
        </p:nvSpPr>
        <p:spPr>
          <a:xfrm xmlns:a="http://schemas.openxmlformats.org/drawingml/2006/main">
            <a:off x="952500" y="5886450"/>
            <a:ext cx="10287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a:solidFill>
                  <a:srgbClr val="111827"/>
                </a:solidFill>
                <a:latin typeface="Arial"/>
                <a:ea typeface="Arial"/>
                <a:cs typeface="Arial"/>
              </a:defRPr>
            </a:pPr>
            <a:r>
              <a:rPr sz="1500" b="1">
                <a:solidFill>
                  <a:srgbClr val="111827"/>
                </a:solidFill>
                <a:latin typeface="Arial"/>
                <a:ea typeface="Arial"/>
                <a:cs typeface="Arial"/>
              </a:rPr>
              <a:t>Result: shallow maps retain local cortical detail; deeper maps encode broader anatomical relationships for cross-view fusion.</a:t>
            </a:r>
          </a:p>
        </p:txBody>
      </p:sp>
    </p:spTree>
    <p:extLst>
      <p:ext uri="{BB962C8B-B14F-4D97-AF65-F5344CB8AC3E}">
        <p14:creationId xmlns:p14="http://schemas.microsoft.com/office/powerpoint/2010/main" val="528578195"/>
      </p:ext>
    </p:extLst>
  </p:cSld>
</p:sld>
</file>

<file path=ppt/slides/slide10.xml><?xml version="1.0" encoding="utf-8"?>
<p:sld xmlns:p="http://schemas.openxmlformats.org/presentationml/2006/main">
  <p:cSld>
    <p:bg>
      <p:bgPr>
        <a:solidFill xmlns:a="http://schemas.openxmlformats.org/drawingml/2006/main">
          <a:srgbClr val="FBFBFA"/>
        </a:solidFill>
      </p:bgPr>
    </p:bg>
    <p:spTree>
      <p:nvGrpSpPr>
        <p:cNvPr id="1" name=""/>
        <p:cNvGrpSpPr/>
        <p:nvPr/>
      </p:nvGrpSpPr>
      <p:grpSpPr>
        <a:xfrm xmlns:a="http://schemas.openxmlformats.org/drawingml/2006/main"/>
      </p:grpSpPr>
      <p:sp>
        <p:nvSpPr>
          <p:cNvPr id="19" name="section-10">
            <a:extLst xmlns:a="http://schemas.openxmlformats.org/drawingml/2006/main">
              <a:ext uri="{FF2B5EF4-FFF2-40B4-BE49-F238E27FC236}">
                <a16:creationId xmlns:a16="http://schemas.microsoft.com/office/drawing/2014/main" id="{60EEC296-5FD5-4B9E-BD33-87386B4252B3}"/>
              </a:ext>
            </a:extLst>
          </p:cNvPr>
          <p:cNvSpPr>
            <a:spLocks xmlns:a="http://schemas.openxmlformats.org/drawingml/2006/main" noGrp="1"/>
          </p:cNvSpPr>
          <p:nvPr/>
        </p:nvSpPr>
        <p:spPr>
          <a:xfrm xmlns:a="http://schemas.openxmlformats.org/drawingml/2006/main">
            <a:off x="400050" y="238125"/>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563EB"/>
                </a:solidFill>
                <a:latin typeface="Arial"/>
                <a:ea typeface="Arial"/>
                <a:cs typeface="Arial"/>
              </a:defRPr>
            </a:pPr>
            <a:r>
              <a:rPr sz="1125" b="1">
                <a:solidFill>
                  <a:srgbClr val="2563EB"/>
                </a:solidFill>
                <a:latin typeface="Arial"/>
                <a:ea typeface="Arial"/>
                <a:cs typeface="Arial"/>
              </a:rPr>
              <a:t>TECHNICAL APPROACH</a:t>
            </a:r>
          </a:p>
        </p:txBody>
      </p:sp>
      <p:sp>
        <p:nvSpPr>
          <p:cNvPr id="2" name="title-10">
            <a:extLst xmlns:a="http://schemas.openxmlformats.org/drawingml/2006/main">
              <a:ext uri="{FF2B5EF4-FFF2-40B4-BE49-F238E27FC236}">
                <a16:creationId xmlns:a16="http://schemas.microsoft.com/office/drawing/2014/main" id="{36617BDD-9064-43ED-B681-A9898992E5FF}"/>
              </a:ext>
            </a:extLst>
          </p:cNvPr>
          <p:cNvSpPr>
            <a:spLocks xmlns:a="http://schemas.openxmlformats.org/drawingml/2006/main" noGrp="1"/>
          </p:cNvSpPr>
          <p:nvPr/>
        </p:nvSpPr>
        <p:spPr>
          <a:xfrm xmlns:a="http://schemas.openxmlformats.org/drawingml/2006/main">
            <a:off x="400050" y="552450"/>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525" b="1">
                <a:solidFill>
                  <a:srgbClr val="111827"/>
                </a:solidFill>
                <a:latin typeface="Arial"/>
                <a:ea typeface="Arial"/>
                <a:cs typeface="Arial"/>
              </a:defRPr>
            </a:pPr>
            <a:r>
              <a:rPr sz="3525" b="1">
                <a:solidFill>
                  <a:srgbClr val="111827"/>
                </a:solidFill>
                <a:latin typeface="Arial"/>
                <a:ea typeface="Arial"/>
                <a:cs typeface="Arial"/>
              </a:rPr>
              <a:t>P1 learns structure; P2 links both views</a:t>
            </a:r>
          </a:p>
        </p:txBody>
      </p:sp>
      <p:cxnSp>
        <p:nvCxnSpPr>
          <p:cNvPr id="21" name="rule-10"/>
          <p:cNvCxnSpPr/>
          <p:nvPr/>
        </p:nvCxnSpPr>
        <p:spPr>
          <a:xfrm xmlns:a="http://schemas.openxmlformats.org/drawingml/2006/main">
            <a:off x="400050" y="1285875"/>
            <a:ext cx="11391900" cy="0"/>
          </a:xfrm>
          <a:prstGeom xmlns:a="http://schemas.openxmlformats.org/drawingml/2006/main" prst="straightConnector1">
            <a:avLst/>
          </a:prstGeom>
          <a:ln xmlns:a="http://schemas.openxmlformats.org/drawingml/2006/main" w="9525">
            <a:solidFill>
              <a:srgbClr val="D9DEE7"/>
            </a:solidFill>
            <a:prstDash val="solid"/>
          </a:ln>
        </p:spPr>
      </p:cxnSp>
      <p:sp>
        <p:nvSpPr>
          <p:cNvPr id="4" name="source-10">
            <a:extLst xmlns:a="http://schemas.openxmlformats.org/drawingml/2006/main">
              <a:ext uri="{FF2B5EF4-FFF2-40B4-BE49-F238E27FC236}">
                <a16:creationId xmlns:a16="http://schemas.microsoft.com/office/drawing/2014/main" id="{9A52F224-B765-4CE7-8B60-E1C9397DDC37}"/>
              </a:ext>
            </a:extLst>
          </p:cNvPr>
          <p:cNvSpPr>
            <a:spLocks xmlns:a="http://schemas.openxmlformats.org/drawingml/2006/main" noGrp="1"/>
          </p:cNvSpPr>
          <p:nvPr/>
        </p:nvSpPr>
        <p:spPr>
          <a:xfrm xmlns:a="http://schemas.openxmlformats.org/drawingml/2006/main">
            <a:off x="400050" y="6429375"/>
            <a:ext cx="381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5B6472"/>
                </a:solidFill>
                <a:latin typeface="Arial"/>
                <a:ea typeface="Arial"/>
                <a:cs typeface="Arial"/>
              </a:defRPr>
            </a:pPr>
            <a:r>
              <a:rPr sz="900" b="0">
                <a:solidFill>
                  <a:srgbClr val="5B6472"/>
                </a:solidFill>
                <a:latin typeface="Arial"/>
                <a:ea typeface="Arial"/>
                <a:cs typeface="Arial"/>
              </a:rPr>
              <a:t>Report pp. 91-92, 114-118</a:t>
            </a:r>
          </a:p>
        </p:txBody>
      </p:sp>
      <p:sp>
        <p:nvSpPr>
          <p:cNvPr id="5" name="page-10">
            <a:extLst xmlns:a="http://schemas.openxmlformats.org/drawingml/2006/main">
              <a:ext uri="{FF2B5EF4-FFF2-40B4-BE49-F238E27FC236}">
                <a16:creationId xmlns:a16="http://schemas.microsoft.com/office/drawing/2014/main" id="{83568587-C5EB-4A5B-844A-8B8DD672BDF5}"/>
              </a:ext>
            </a:extLst>
          </p:cNvPr>
          <p:cNvSpPr>
            <a:spLocks xmlns:a="http://schemas.openxmlformats.org/drawingml/2006/main" noGrp="1"/>
          </p:cNvSpPr>
          <p:nvPr/>
        </p:nvSpPr>
        <p:spPr>
          <a:xfrm xmlns:a="http://schemas.openxmlformats.org/drawingml/2006/main">
            <a:off x="11239500" y="6400800"/>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050" b="0">
                <a:solidFill>
                  <a:srgbClr val="5B6472"/>
                </a:solidFill>
                <a:latin typeface="Arial"/>
                <a:ea typeface="Arial"/>
                <a:cs typeface="Arial"/>
              </a:defRPr>
            </a:pPr>
            <a:r>
              <a:rPr sz="1050" b="0">
                <a:solidFill>
                  <a:srgbClr val="5B6472"/>
                </a:solidFill>
                <a:latin typeface="Arial"/>
                <a:ea typeface="Arial"/>
                <a:cs typeface="Arial"/>
              </a:rPr>
              <a:t>10</a:t>
            </a:r>
          </a:p>
        </p:txBody>
      </p:sp>
      <p:sp>
        <p:nvSpPr>
          <p:cNvPr id="6" name="encoder-control">
            <a:extLst xmlns:a="http://schemas.openxmlformats.org/drawingml/2006/main">
              <a:ext uri="{FF2B5EF4-FFF2-40B4-BE49-F238E27FC236}">
                <a16:creationId xmlns:a16="http://schemas.microsoft.com/office/drawing/2014/main" id="{B51AC87B-F996-42E8-89E5-4641719202B4}"/>
              </a:ext>
            </a:extLst>
          </p:cNvPr>
          <p:cNvSpPr>
            <a:spLocks xmlns:a="http://schemas.openxmlformats.org/drawingml/2006/main" noGrp="1"/>
          </p:cNvSpPr>
          <p:nvPr/>
        </p:nvSpPr>
        <p:spPr>
          <a:xfrm xmlns:a="http://schemas.openxmlformats.org/drawingml/2006/main">
            <a:off x="400050" y="1428750"/>
            <a:ext cx="11391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75" b="1">
                <a:solidFill>
                  <a:srgbClr val="0F766E"/>
                </a:solidFill>
                <a:latin typeface="Arial"/>
                <a:ea typeface="Arial"/>
                <a:cs typeface="Arial"/>
              </a:defRPr>
            </a:pPr>
            <a:r>
              <a:rPr sz="1575" b="1">
                <a:solidFill>
                  <a:srgbClr val="0F766E"/>
                </a:solidFill>
                <a:latin typeface="Arial"/>
                <a:ea typeface="Arial"/>
                <a:cs typeface="Arial"/>
              </a:rPr>
              <a:t>Five fold-specific ConvNeXtV2 encoders  |  test-fold subjects excluded from both phases</a:t>
            </a:r>
          </a:p>
        </p:txBody>
      </p:sp>
      <p:sp>
        <p:nvSpPr>
          <p:cNvPr id="7" name="p1-panel">
            <a:extLst xmlns:a="http://schemas.openxmlformats.org/drawingml/2006/main">
              <a:ext uri="{FF2B5EF4-FFF2-40B4-BE49-F238E27FC236}">
                <a16:creationId xmlns:a16="http://schemas.microsoft.com/office/drawing/2014/main" id="{16B504F3-CD01-411D-8B8E-8AE546789A50}"/>
              </a:ext>
            </a:extLst>
          </p:cNvPr>
          <p:cNvSpPr>
            <a:spLocks xmlns:a="http://schemas.openxmlformats.org/drawingml/2006/main" noGrp="1"/>
          </p:cNvSpPr>
          <p:nvPr/>
        </p:nvSpPr>
        <p:spPr>
          <a:xfrm xmlns:a="http://schemas.openxmlformats.org/drawingml/2006/main">
            <a:off x="400050" y="1952625"/>
            <a:ext cx="5095875" cy="3381375"/>
          </a:xfrm>
          <a:prstGeom xmlns:a="http://schemas.openxmlformats.org/drawingml/2006/main" prst="roundRect">
            <a:avLst>
              <a:gd name="adj" fmla="val 3380"/>
            </a:avLst>
          </a:prstGeom>
          <a:solidFill xmlns:a="http://schemas.openxmlformats.org/drawingml/2006/main">
            <a:srgbClr val="EAF2FF"/>
          </a:solidFill>
          <a:ln xmlns:a="http://schemas.openxmlformats.org/drawingml/2006/main" w="0">
            <a:noFill/>
            <a:prstDash val="solid"/>
          </a:ln>
        </p:spPr>
      </p:sp>
      <p:sp>
        <p:nvSpPr>
          <p:cNvPr id="8" name="p1-title">
            <a:extLst xmlns:a="http://schemas.openxmlformats.org/drawingml/2006/main">
              <a:ext uri="{FF2B5EF4-FFF2-40B4-BE49-F238E27FC236}">
                <a16:creationId xmlns:a16="http://schemas.microsoft.com/office/drawing/2014/main" id="{1D1DB96B-4D69-4D79-A6AD-575CEEE6C215}"/>
              </a:ext>
            </a:extLst>
          </p:cNvPr>
          <p:cNvSpPr>
            <a:spLocks xmlns:a="http://schemas.openxmlformats.org/drawingml/2006/main" noGrp="1"/>
          </p:cNvSpPr>
          <p:nvPr/>
        </p:nvSpPr>
        <p:spPr>
          <a:xfrm xmlns:a="http://schemas.openxmlformats.org/drawingml/2006/main">
            <a:off x="714375" y="2209800"/>
            <a:ext cx="4476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00" b="1">
                <a:solidFill>
                  <a:srgbClr val="2563EB"/>
                </a:solidFill>
                <a:latin typeface="Arial"/>
                <a:ea typeface="Arial"/>
                <a:cs typeface="Arial"/>
              </a:defRPr>
            </a:pPr>
            <a:r>
              <a:rPr sz="2100" b="1">
                <a:solidFill>
                  <a:srgbClr val="2563EB"/>
                </a:solidFill>
                <a:latin typeface="Arial"/>
                <a:ea typeface="Arial"/>
                <a:cs typeface="Arial"/>
              </a:rPr>
              <a:t>P1  |  Single-view FCMAE</a:t>
            </a:r>
          </a:p>
        </p:txBody>
      </p:sp>
      <p:sp>
        <p:nvSpPr>
          <p:cNvPr id="9" name="p1-body">
            <a:extLst xmlns:a="http://schemas.openxmlformats.org/drawingml/2006/main">
              <a:ext uri="{FF2B5EF4-FFF2-40B4-BE49-F238E27FC236}">
                <a16:creationId xmlns:a16="http://schemas.microsoft.com/office/drawing/2014/main" id="{367806FC-C3CF-409D-982C-F6641C5EF711}"/>
              </a:ext>
            </a:extLst>
          </p:cNvPr>
          <p:cNvSpPr>
            <a:spLocks xmlns:a="http://schemas.openxmlformats.org/drawingml/2006/main" noGrp="1"/>
          </p:cNvSpPr>
          <p:nvPr/>
        </p:nvSpPr>
        <p:spPr>
          <a:xfrm xmlns:a="http://schemas.openxmlformats.org/drawingml/2006/main">
            <a:off x="714375" y="2781300"/>
            <a:ext cx="42862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111827"/>
                </a:solidFill>
                <a:latin typeface="Arial"/>
                <a:ea typeface="Arial"/>
                <a:cs typeface="Arial"/>
              </a:defRPr>
            </a:pPr>
            <a:r>
              <a:rPr sz="1650" b="0">
                <a:solidFill>
                  <a:srgbClr val="111827"/>
                </a:solidFill>
                <a:latin typeface="Arial"/>
                <a:ea typeface="Arial"/>
                <a:cs typeface="Arial"/>
              </a:rPr>
              <a:t>Mask 60% of patches</a:t>
            </a:r>
          </a:p>
          <a:p xmlns:a="http://schemas.openxmlformats.org/drawingml/2006/main">
            <a:pPr algn="l">
              <a:defRPr sz="1650" b="0">
                <a:solidFill>
                  <a:srgbClr val="111827"/>
                </a:solidFill>
                <a:latin typeface="Arial"/>
                <a:ea typeface="Arial"/>
                <a:cs typeface="Arial"/>
              </a:defRPr>
            </a:pPr>
            <a:r>
              <a:rPr sz="1650" b="0">
                <a:solidFill>
                  <a:srgbClr val="111827"/>
                </a:solidFill>
                <a:latin typeface="Arial"/>
                <a:ea typeface="Arial"/>
                <a:cs typeface="Arial"/>
              </a:rPr>
              <a:t>Reconstruct one AP or LAT DRR</a:t>
            </a:r>
          </a:p>
          <a:p xmlns:a="http://schemas.openxmlformats.org/drawingml/2006/main">
            <a:pPr algn="l">
              <a:defRPr sz="1650" b="0">
                <a:solidFill>
                  <a:srgbClr val="111827"/>
                </a:solidFill>
                <a:latin typeface="Arial"/>
                <a:ea typeface="Arial"/>
                <a:cs typeface="Arial"/>
              </a:defRPr>
            </a:pPr>
            <a:r>
              <a:rPr sz="1650" b="0">
                <a:solidFill>
                  <a:srgbClr val="111827"/>
                </a:solidFill>
                <a:latin typeface="Arial"/>
                <a:ea typeface="Arial"/>
                <a:cs typeface="Arial"/>
              </a:rPr>
              <a:t>No bone, fracture or 3D labels</a:t>
            </a:r>
          </a:p>
        </p:txBody>
      </p:sp>
      <p:sp>
        <p:nvSpPr>
          <p:cNvPr id="10" name="p1-metric">
            <a:extLst xmlns:a="http://schemas.openxmlformats.org/drawingml/2006/main">
              <a:ext uri="{FF2B5EF4-FFF2-40B4-BE49-F238E27FC236}">
                <a16:creationId xmlns:a16="http://schemas.microsoft.com/office/drawing/2014/main" id="{A2F43BA8-FFDC-472E-AB42-5F780AA6F637}"/>
              </a:ext>
            </a:extLst>
          </p:cNvPr>
          <p:cNvSpPr>
            <a:spLocks xmlns:a="http://schemas.openxmlformats.org/drawingml/2006/main" noGrp="1"/>
          </p:cNvSpPr>
          <p:nvPr/>
        </p:nvSpPr>
        <p:spPr>
          <a:xfrm xmlns:a="http://schemas.openxmlformats.org/drawingml/2006/main">
            <a:off x="714375" y="4105275"/>
            <a:ext cx="4286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325" b="1">
                <a:solidFill>
                  <a:srgbClr val="2563EB"/>
                </a:solidFill>
                <a:latin typeface="Arial"/>
                <a:ea typeface="Arial"/>
                <a:cs typeface="Arial"/>
              </a:defRPr>
            </a:pPr>
            <a:r>
              <a:rPr sz="2325" b="1">
                <a:solidFill>
                  <a:srgbClr val="2563EB"/>
                </a:solidFill>
                <a:latin typeface="Arial"/>
                <a:ea typeface="Arial"/>
                <a:cs typeface="Arial"/>
              </a:rPr>
              <a:t>Validation loss</a:t>
            </a:r>
          </a:p>
          <a:p xmlns:a="http://schemas.openxmlformats.org/drawingml/2006/main">
            <a:pPr algn="ctr">
              <a:defRPr sz="2325" b="1">
                <a:solidFill>
                  <a:srgbClr val="2563EB"/>
                </a:solidFill>
                <a:latin typeface="Arial"/>
                <a:ea typeface="Arial"/>
                <a:cs typeface="Arial"/>
              </a:defRPr>
            </a:pPr>
            <a:r>
              <a:rPr sz="2325" b="1">
                <a:solidFill>
                  <a:srgbClr val="2563EB"/>
                </a:solidFill>
                <a:latin typeface="Arial"/>
                <a:ea typeface="Arial"/>
                <a:cs typeface="Arial"/>
              </a:rPr>
              <a:t>0.3788 → 0.1032</a:t>
            </a:r>
          </a:p>
        </p:txBody>
      </p:sp>
      <p:sp>
        <p:nvSpPr>
          <p:cNvPr id="11" name="p1-check">
            <a:extLst xmlns:a="http://schemas.openxmlformats.org/drawingml/2006/main">
              <a:ext uri="{FF2B5EF4-FFF2-40B4-BE49-F238E27FC236}">
                <a16:creationId xmlns:a16="http://schemas.microsoft.com/office/drawing/2014/main" id="{B8F10100-90EA-45F7-9082-8E1A663EB7CC}"/>
              </a:ext>
            </a:extLst>
          </p:cNvPr>
          <p:cNvSpPr>
            <a:spLocks xmlns:a="http://schemas.openxmlformats.org/drawingml/2006/main" noGrp="1"/>
          </p:cNvSpPr>
          <p:nvPr/>
        </p:nvSpPr>
        <p:spPr>
          <a:xfrm xmlns:a="http://schemas.openxmlformats.org/drawingml/2006/main">
            <a:off x="714375" y="4953000"/>
            <a:ext cx="428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0">
                <a:solidFill>
                  <a:srgbClr val="5B6472"/>
                </a:solidFill>
                <a:latin typeface="Arial"/>
                <a:ea typeface="Arial"/>
                <a:cs typeface="Arial"/>
              </a:defRPr>
            </a:pPr>
            <a:r>
              <a:rPr sz="1275" b="0">
                <a:solidFill>
                  <a:srgbClr val="5B6472"/>
                </a:solidFill>
                <a:latin typeface="Arial"/>
                <a:ea typeface="Arial"/>
                <a:cs typeface="Arial"/>
              </a:rPr>
              <a:t>Feature SD 0.448-0.463: activations did not collapse.</a:t>
            </a:r>
          </a:p>
        </p:txBody>
      </p:sp>
      <p:sp>
        <p:nvSpPr>
          <p:cNvPr id="12" name="p1-p2-arrow">
            <a:extLst xmlns:a="http://schemas.openxmlformats.org/drawingml/2006/main">
              <a:ext uri="{FF2B5EF4-FFF2-40B4-BE49-F238E27FC236}">
                <a16:creationId xmlns:a16="http://schemas.microsoft.com/office/drawing/2014/main" id="{46C99FE5-DAD6-4FBE-8167-0D1E72812D5F}"/>
              </a:ext>
            </a:extLst>
          </p:cNvPr>
          <p:cNvSpPr>
            <a:spLocks xmlns:a="http://schemas.openxmlformats.org/drawingml/2006/main" noGrp="1"/>
          </p:cNvSpPr>
          <p:nvPr/>
        </p:nvSpPr>
        <p:spPr>
          <a:xfrm xmlns:a="http://schemas.openxmlformats.org/drawingml/2006/main">
            <a:off x="5657850" y="3190875"/>
            <a:ext cx="666750" cy="590550"/>
          </a:xfrm>
          <a:prstGeom xmlns:a="http://schemas.openxmlformats.org/drawingml/2006/main" prst="rightArrow">
            <a:avLst/>
          </a:prstGeom>
          <a:solidFill xmlns:a="http://schemas.openxmlformats.org/drawingml/2006/main">
            <a:srgbClr val="0F766E"/>
          </a:solidFill>
          <a:ln xmlns:a="http://schemas.openxmlformats.org/drawingml/2006/main" w="0">
            <a:solidFill>
              <a:srgbClr val="0F766E"/>
            </a:solidFill>
            <a:prstDash val="solid"/>
          </a:ln>
        </p:spPr>
      </p:sp>
      <p:sp>
        <p:nvSpPr>
          <p:cNvPr id="13" name="p2-panel">
            <a:extLst xmlns:a="http://schemas.openxmlformats.org/drawingml/2006/main">
              <a:ext uri="{FF2B5EF4-FFF2-40B4-BE49-F238E27FC236}">
                <a16:creationId xmlns:a16="http://schemas.microsoft.com/office/drawing/2014/main" id="{72325893-6D5C-40CA-88A0-380003D45150}"/>
              </a:ext>
            </a:extLst>
          </p:cNvPr>
          <p:cNvSpPr>
            <a:spLocks xmlns:a="http://schemas.openxmlformats.org/drawingml/2006/main" noGrp="1"/>
          </p:cNvSpPr>
          <p:nvPr/>
        </p:nvSpPr>
        <p:spPr>
          <a:xfrm xmlns:a="http://schemas.openxmlformats.org/drawingml/2006/main">
            <a:off x="6486525" y="1952625"/>
            <a:ext cx="5305425" cy="3381375"/>
          </a:xfrm>
          <a:prstGeom xmlns:a="http://schemas.openxmlformats.org/drawingml/2006/main" prst="roundRect">
            <a:avLst>
              <a:gd name="adj" fmla="val 3380"/>
            </a:avLst>
          </a:prstGeom>
          <a:solidFill xmlns:a="http://schemas.openxmlformats.org/drawingml/2006/main">
            <a:srgbClr val="E7F7F3"/>
          </a:solidFill>
          <a:ln xmlns:a="http://schemas.openxmlformats.org/drawingml/2006/main" w="0">
            <a:noFill/>
            <a:prstDash val="solid"/>
          </a:ln>
        </p:spPr>
      </p:sp>
      <p:sp>
        <p:nvSpPr>
          <p:cNvPr id="14" name="p2-title">
            <a:extLst xmlns:a="http://schemas.openxmlformats.org/drawingml/2006/main">
              <a:ext uri="{FF2B5EF4-FFF2-40B4-BE49-F238E27FC236}">
                <a16:creationId xmlns:a16="http://schemas.microsoft.com/office/drawing/2014/main" id="{9A13E22D-7916-4BF3-969F-7FE4F74F9888}"/>
              </a:ext>
            </a:extLst>
          </p:cNvPr>
          <p:cNvSpPr>
            <a:spLocks xmlns:a="http://schemas.openxmlformats.org/drawingml/2006/main" noGrp="1"/>
          </p:cNvSpPr>
          <p:nvPr/>
        </p:nvSpPr>
        <p:spPr>
          <a:xfrm xmlns:a="http://schemas.openxmlformats.org/drawingml/2006/main">
            <a:off x="6800850" y="2209800"/>
            <a:ext cx="46863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00" b="1">
                <a:solidFill>
                  <a:srgbClr val="0F766E"/>
                </a:solidFill>
                <a:latin typeface="Arial"/>
                <a:ea typeface="Arial"/>
                <a:cs typeface="Arial"/>
              </a:defRPr>
            </a:pPr>
            <a:r>
              <a:rPr sz="2100" b="1">
                <a:solidFill>
                  <a:srgbClr val="0F766E"/>
                </a:solidFill>
                <a:latin typeface="Arial"/>
                <a:ea typeface="Arial"/>
                <a:cs typeface="Arial"/>
              </a:rPr>
              <a:t>P2  |  Bidirectional completion</a:t>
            </a:r>
          </a:p>
        </p:txBody>
      </p:sp>
      <p:sp>
        <p:nvSpPr>
          <p:cNvPr id="15" name="p2-body">
            <a:extLst xmlns:a="http://schemas.openxmlformats.org/drawingml/2006/main">
              <a:ext uri="{FF2B5EF4-FFF2-40B4-BE49-F238E27FC236}">
                <a16:creationId xmlns:a16="http://schemas.microsoft.com/office/drawing/2014/main" id="{52576604-ABE1-4940-A0E7-61720FE5D22A}"/>
              </a:ext>
            </a:extLst>
          </p:cNvPr>
          <p:cNvSpPr>
            <a:spLocks xmlns:a="http://schemas.openxmlformats.org/drawingml/2006/main" noGrp="1"/>
          </p:cNvSpPr>
          <p:nvPr/>
        </p:nvSpPr>
        <p:spPr>
          <a:xfrm xmlns:a="http://schemas.openxmlformats.org/drawingml/2006/main">
            <a:off x="6800850" y="2781300"/>
            <a:ext cx="44767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111827"/>
                </a:solidFill>
                <a:latin typeface="Arial"/>
                <a:ea typeface="Arial"/>
                <a:cs typeface="Arial"/>
              </a:defRPr>
            </a:pPr>
            <a:r>
              <a:rPr sz="1650" b="0">
                <a:solidFill>
                  <a:srgbClr val="111827"/>
                </a:solidFill>
                <a:latin typeface="Arial"/>
                <a:ea typeface="Arial"/>
                <a:cs typeface="Arial"/>
              </a:rPr>
              <a:t>Keep the masked objective</a:t>
            </a:r>
          </a:p>
          <a:p xmlns:a="http://schemas.openxmlformats.org/drawingml/2006/main">
            <a:pPr algn="l">
              <a:defRPr sz="1650" b="0">
                <a:solidFill>
                  <a:srgbClr val="111827"/>
                </a:solidFill>
                <a:latin typeface="Arial"/>
                <a:ea typeface="Arial"/>
                <a:cs typeface="Arial"/>
              </a:defRPr>
            </a:pPr>
            <a:r>
              <a:rPr sz="1650" b="0">
                <a:solidFill>
                  <a:srgbClr val="111827"/>
                </a:solidFill>
                <a:latin typeface="Arial"/>
                <a:ea typeface="Arial"/>
                <a:cs typeface="Arial"/>
              </a:rPr>
              <a:t>Add AP → LAT and LAT → AP</a:t>
            </a:r>
          </a:p>
          <a:p xmlns:a="http://schemas.openxmlformats.org/drawingml/2006/main">
            <a:pPr algn="l">
              <a:defRPr sz="1650" b="0">
                <a:solidFill>
                  <a:srgbClr val="111827"/>
                </a:solidFill>
                <a:latin typeface="Arial"/>
                <a:ea typeface="Arial"/>
                <a:cs typeface="Arial"/>
              </a:defRPr>
            </a:pPr>
            <a:r>
              <a:rPr sz="1650" b="0">
                <a:solidFill>
                  <a:srgbClr val="111827"/>
                </a:solidFill>
                <a:latin typeface="Arial"/>
                <a:ea typeface="Arial"/>
                <a:cs typeface="Arial"/>
              </a:rPr>
              <a:t>Still no 3D reconstruction target</a:t>
            </a:r>
          </a:p>
        </p:txBody>
      </p:sp>
      <p:sp>
        <p:nvSpPr>
          <p:cNvPr id="16" name="p2-metric">
            <a:extLst xmlns:a="http://schemas.openxmlformats.org/drawingml/2006/main">
              <a:ext uri="{FF2B5EF4-FFF2-40B4-BE49-F238E27FC236}">
                <a16:creationId xmlns:a16="http://schemas.microsoft.com/office/drawing/2014/main" id="{A7D50E99-D07F-4633-B0F1-6977616F3DF7}"/>
              </a:ext>
            </a:extLst>
          </p:cNvPr>
          <p:cNvSpPr>
            <a:spLocks xmlns:a="http://schemas.openxmlformats.org/drawingml/2006/main" noGrp="1"/>
          </p:cNvSpPr>
          <p:nvPr/>
        </p:nvSpPr>
        <p:spPr>
          <a:xfrm xmlns:a="http://schemas.openxmlformats.org/drawingml/2006/main">
            <a:off x="6800850" y="4105275"/>
            <a:ext cx="4476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325" b="1">
                <a:solidFill>
                  <a:srgbClr val="0F766E"/>
                </a:solidFill>
                <a:latin typeface="Arial"/>
                <a:ea typeface="Arial"/>
                <a:cs typeface="Arial"/>
              </a:defRPr>
            </a:pPr>
            <a:r>
              <a:rPr sz="2325" b="1">
                <a:solidFill>
                  <a:srgbClr val="0F766E"/>
                </a:solidFill>
                <a:latin typeface="Arial"/>
                <a:ea typeface="Arial"/>
                <a:cs typeface="Arial"/>
              </a:rPr>
              <a:t>Validation loss</a:t>
            </a:r>
          </a:p>
          <a:p xmlns:a="http://schemas.openxmlformats.org/drawingml/2006/main">
            <a:pPr algn="ctr">
              <a:defRPr sz="2325" b="1">
                <a:solidFill>
                  <a:srgbClr val="0F766E"/>
                </a:solidFill>
                <a:latin typeface="Arial"/>
                <a:ea typeface="Arial"/>
                <a:cs typeface="Arial"/>
              </a:defRPr>
            </a:pPr>
            <a:r>
              <a:rPr sz="2325" b="1">
                <a:solidFill>
                  <a:srgbClr val="0F766E"/>
                </a:solidFill>
                <a:latin typeface="Arial"/>
                <a:ea typeface="Arial"/>
                <a:cs typeface="Arial"/>
              </a:rPr>
              <a:t>0.4774 → 0.4298</a:t>
            </a:r>
          </a:p>
        </p:txBody>
      </p:sp>
      <p:sp>
        <p:nvSpPr>
          <p:cNvPr id="17" name="p2-check">
            <a:extLst xmlns:a="http://schemas.openxmlformats.org/drawingml/2006/main">
              <a:ext uri="{FF2B5EF4-FFF2-40B4-BE49-F238E27FC236}">
                <a16:creationId xmlns:a16="http://schemas.microsoft.com/office/drawing/2014/main" id="{391A2977-829E-472B-9BEA-62E6B04CEA27}"/>
              </a:ext>
            </a:extLst>
          </p:cNvPr>
          <p:cNvSpPr>
            <a:spLocks xmlns:a="http://schemas.openxmlformats.org/drawingml/2006/main" noGrp="1"/>
          </p:cNvSpPr>
          <p:nvPr/>
        </p:nvSpPr>
        <p:spPr>
          <a:xfrm xmlns:a="http://schemas.openxmlformats.org/drawingml/2006/main">
            <a:off x="6800850" y="4953000"/>
            <a:ext cx="4476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0">
                <a:solidFill>
                  <a:srgbClr val="5B6472"/>
                </a:solidFill>
                <a:latin typeface="Arial"/>
                <a:ea typeface="Arial"/>
                <a:cs typeface="Arial"/>
              </a:defRPr>
            </a:pPr>
            <a:r>
              <a:rPr sz="1275" b="0">
                <a:solidFill>
                  <a:srgbClr val="5B6472"/>
                </a:solidFill>
                <a:latin typeface="Arial"/>
                <a:ea typeface="Arial"/>
                <a:cs typeface="Arial"/>
              </a:rPr>
              <a:t>Correct-pair margins were positive in all folds, but Fold 4 was weak.</a:t>
            </a:r>
          </a:p>
        </p:txBody>
      </p:sp>
      <p:sp>
        <p:nvSpPr>
          <p:cNvPr id="18" name="encoder-caveat">
            <a:extLst xmlns:a="http://schemas.openxmlformats.org/drawingml/2006/main">
              <a:ext uri="{FF2B5EF4-FFF2-40B4-BE49-F238E27FC236}">
                <a16:creationId xmlns:a16="http://schemas.microsoft.com/office/drawing/2014/main" id="{79F6104C-DE3E-4944-ACFE-395FF982A1B7}"/>
              </a:ext>
            </a:extLst>
          </p:cNvPr>
          <p:cNvSpPr>
            <a:spLocks xmlns:a="http://schemas.openxmlformats.org/drawingml/2006/main" noGrp="1"/>
          </p:cNvSpPr>
          <p:nvPr/>
        </p:nvSpPr>
        <p:spPr>
          <a:xfrm xmlns:a="http://schemas.openxmlformats.org/drawingml/2006/main">
            <a:off x="1123950" y="5762625"/>
            <a:ext cx="99441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1">
                <a:solidFill>
                  <a:srgbClr val="B91C1C"/>
                </a:solidFill>
                <a:latin typeface="Arial"/>
                <a:ea typeface="Arial"/>
                <a:cs typeface="Arial"/>
              </a:defRPr>
            </a:pPr>
            <a:r>
              <a:rPr sz="1425" b="1">
                <a:solidFill>
                  <a:srgbClr val="B91C1C"/>
                </a:solidFill>
                <a:latin typeface="Arial"/>
                <a:ea typeface="Arial"/>
                <a:cs typeface="Arial"/>
              </a:rPr>
              <a:t>P1 and P2 losses measure different tasks and should not be compared directly; neither alone proves accurate 3D reconstruction.</a:t>
            </a:r>
          </a:p>
        </p:txBody>
      </p:sp>
    </p:spTree>
    <p:extLst>
      <p:ext uri="{BB962C8B-B14F-4D97-AF65-F5344CB8AC3E}">
        <p14:creationId xmlns:p14="http://schemas.microsoft.com/office/powerpoint/2010/main" val="1440575810"/>
      </p:ext>
    </p:extLst>
  </p:cSld>
</p:sld>
</file>

<file path=ppt/slides/slide11.xml><?xml version="1.0" encoding="utf-8"?>
<p:sld xmlns:p="http://schemas.openxmlformats.org/presentationml/2006/main">
  <p:cSld>
    <p:bg>
      <p:bgPr>
        <a:solidFill xmlns:a="http://schemas.openxmlformats.org/drawingml/2006/main">
          <a:srgbClr val="FBFBFA"/>
        </a:solidFill>
      </p:bgPr>
    </p:bg>
    <p:spTree>
      <p:nvGrpSpPr>
        <p:cNvPr id="1" name=""/>
        <p:cNvGrpSpPr/>
        <p:nvPr/>
      </p:nvGrpSpPr>
      <p:grpSpPr>
        <a:xfrm xmlns:a="http://schemas.openxmlformats.org/drawingml/2006/main"/>
      </p:grpSpPr>
      <p:sp>
        <p:nvSpPr>
          <p:cNvPr id="47" name="section-11">
            <a:extLst xmlns:a="http://schemas.openxmlformats.org/drawingml/2006/main">
              <a:ext uri="{FF2B5EF4-FFF2-40B4-BE49-F238E27FC236}">
                <a16:creationId xmlns:a16="http://schemas.microsoft.com/office/drawing/2014/main" id="{34E3C34F-9FEF-4F8A-9AE8-B2A80249D3E9}"/>
              </a:ext>
            </a:extLst>
          </p:cNvPr>
          <p:cNvSpPr>
            <a:spLocks xmlns:a="http://schemas.openxmlformats.org/drawingml/2006/main" noGrp="1"/>
          </p:cNvSpPr>
          <p:nvPr/>
        </p:nvSpPr>
        <p:spPr>
          <a:xfrm xmlns:a="http://schemas.openxmlformats.org/drawingml/2006/main">
            <a:off x="400050" y="238125"/>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563EB"/>
                </a:solidFill>
                <a:latin typeface="Arial"/>
                <a:ea typeface="Arial"/>
                <a:cs typeface="Arial"/>
              </a:defRPr>
            </a:pPr>
            <a:r>
              <a:rPr sz="1125" b="1">
                <a:solidFill>
                  <a:srgbClr val="2563EB"/>
                </a:solidFill>
                <a:latin typeface="Arial"/>
                <a:ea typeface="Arial"/>
                <a:cs typeface="Arial"/>
              </a:rPr>
              <a:t>TECHNICAL APPROACH</a:t>
            </a:r>
          </a:p>
        </p:txBody>
      </p:sp>
      <p:sp>
        <p:nvSpPr>
          <p:cNvPr id="2" name="title-11">
            <a:extLst xmlns:a="http://schemas.openxmlformats.org/drawingml/2006/main">
              <a:ext uri="{FF2B5EF4-FFF2-40B4-BE49-F238E27FC236}">
                <a16:creationId xmlns:a16="http://schemas.microsoft.com/office/drawing/2014/main" id="{E4297017-BFE7-4035-B5A4-15911EDF7551}"/>
              </a:ext>
            </a:extLst>
          </p:cNvPr>
          <p:cNvSpPr>
            <a:spLocks xmlns:a="http://schemas.openxmlformats.org/drawingml/2006/main" noGrp="1"/>
          </p:cNvSpPr>
          <p:nvPr/>
        </p:nvSpPr>
        <p:spPr>
          <a:xfrm xmlns:a="http://schemas.openxmlformats.org/drawingml/2006/main">
            <a:off x="400050" y="552450"/>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525" b="1">
                <a:solidFill>
                  <a:srgbClr val="111827"/>
                </a:solidFill>
                <a:latin typeface="Arial"/>
                <a:ea typeface="Arial"/>
                <a:cs typeface="Arial"/>
              </a:defRPr>
            </a:pPr>
            <a:r>
              <a:rPr sz="3525" b="1">
                <a:solidFill>
                  <a:srgbClr val="111827"/>
                </a:solidFill>
                <a:latin typeface="Arial"/>
                <a:ea typeface="Arial"/>
                <a:cs typeface="Arial"/>
              </a:rPr>
              <a:t>A 2×2 factorial design separates topology from activation</a:t>
            </a:r>
          </a:p>
        </p:txBody>
      </p:sp>
      <p:cxnSp>
        <p:nvCxnSpPr>
          <p:cNvPr id="49" name="rule-11"/>
          <p:cNvCxnSpPr/>
          <p:nvPr/>
        </p:nvCxnSpPr>
        <p:spPr>
          <a:xfrm xmlns:a="http://schemas.openxmlformats.org/drawingml/2006/main">
            <a:off x="400050" y="1285875"/>
            <a:ext cx="11391900" cy="0"/>
          </a:xfrm>
          <a:prstGeom xmlns:a="http://schemas.openxmlformats.org/drawingml/2006/main" prst="straightConnector1">
            <a:avLst/>
          </a:prstGeom>
          <a:ln xmlns:a="http://schemas.openxmlformats.org/drawingml/2006/main" w="9525">
            <a:solidFill>
              <a:srgbClr val="D9DEE7"/>
            </a:solidFill>
            <a:prstDash val="solid"/>
          </a:ln>
        </p:spPr>
      </p:cxnSp>
      <p:sp>
        <p:nvSpPr>
          <p:cNvPr id="4" name="source-11">
            <a:extLst xmlns:a="http://schemas.openxmlformats.org/drawingml/2006/main">
              <a:ext uri="{FF2B5EF4-FFF2-40B4-BE49-F238E27FC236}">
                <a16:creationId xmlns:a16="http://schemas.microsoft.com/office/drawing/2014/main" id="{0D3FD87F-20C0-419C-B691-D2F8489FEE44}"/>
              </a:ext>
            </a:extLst>
          </p:cNvPr>
          <p:cNvSpPr>
            <a:spLocks xmlns:a="http://schemas.openxmlformats.org/drawingml/2006/main" noGrp="1"/>
          </p:cNvSpPr>
          <p:nvPr/>
        </p:nvSpPr>
        <p:spPr>
          <a:xfrm xmlns:a="http://schemas.openxmlformats.org/drawingml/2006/main">
            <a:off x="400050" y="6429375"/>
            <a:ext cx="381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5B6472"/>
                </a:solidFill>
                <a:latin typeface="Arial"/>
                <a:ea typeface="Arial"/>
                <a:cs typeface="Arial"/>
              </a:defRPr>
            </a:pPr>
            <a:r>
              <a:rPr sz="900" b="0">
                <a:solidFill>
                  <a:srgbClr val="5B6472"/>
                </a:solidFill>
                <a:latin typeface="Arial"/>
                <a:ea typeface="Arial"/>
                <a:cs typeface="Arial"/>
              </a:rPr>
              <a:t>Report pp. 59, 98–102</a:t>
            </a:r>
          </a:p>
        </p:txBody>
      </p:sp>
      <p:sp>
        <p:nvSpPr>
          <p:cNvPr id="5" name="page-11">
            <a:extLst xmlns:a="http://schemas.openxmlformats.org/drawingml/2006/main">
              <a:ext uri="{FF2B5EF4-FFF2-40B4-BE49-F238E27FC236}">
                <a16:creationId xmlns:a16="http://schemas.microsoft.com/office/drawing/2014/main" id="{31F99084-F562-4E53-84ED-4E1FFF7D0F3B}"/>
              </a:ext>
            </a:extLst>
          </p:cNvPr>
          <p:cNvSpPr>
            <a:spLocks xmlns:a="http://schemas.openxmlformats.org/drawingml/2006/main" noGrp="1"/>
          </p:cNvSpPr>
          <p:nvPr/>
        </p:nvSpPr>
        <p:spPr>
          <a:xfrm xmlns:a="http://schemas.openxmlformats.org/drawingml/2006/main">
            <a:off x="11239500" y="6400800"/>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050" b="0">
                <a:solidFill>
                  <a:srgbClr val="5B6472"/>
                </a:solidFill>
                <a:latin typeface="Arial"/>
                <a:ea typeface="Arial"/>
                <a:cs typeface="Arial"/>
              </a:defRPr>
            </a:pPr>
            <a:r>
              <a:rPr sz="1050" b="0">
                <a:solidFill>
                  <a:srgbClr val="5B6472"/>
                </a:solidFill>
                <a:latin typeface="Arial"/>
                <a:ea typeface="Arial"/>
                <a:cs typeface="Arial"/>
              </a:rPr>
              <a:t>11</a:t>
            </a:r>
          </a:p>
        </p:txBody>
      </p:sp>
      <p:sp>
        <p:nvSpPr>
          <p:cNvPr id="6" name="th-0">
            <a:extLst xmlns:a="http://schemas.openxmlformats.org/drawingml/2006/main">
              <a:ext uri="{FF2B5EF4-FFF2-40B4-BE49-F238E27FC236}">
                <a16:creationId xmlns:a16="http://schemas.microsoft.com/office/drawing/2014/main" id="{E7D5BDA0-C7B8-4D90-AC8B-1109F2987D3E}"/>
              </a:ext>
            </a:extLst>
          </p:cNvPr>
          <p:cNvSpPr>
            <a:spLocks xmlns:a="http://schemas.openxmlformats.org/drawingml/2006/main" noGrp="1"/>
          </p:cNvSpPr>
          <p:nvPr/>
        </p:nvSpPr>
        <p:spPr>
          <a:xfrm xmlns:a="http://schemas.openxmlformats.org/drawingml/2006/main">
            <a:off x="400050" y="2028825"/>
            <a:ext cx="2476500" cy="685800"/>
          </a:xfrm>
          <a:prstGeom xmlns:a="http://schemas.openxmlformats.org/drawingml/2006/main" prst="roundRect">
            <a:avLst>
              <a:gd name="adj" fmla="val 16667"/>
            </a:avLst>
          </a:prstGeom>
          <a:solidFill xmlns:a="http://schemas.openxmlformats.org/drawingml/2006/main">
            <a:srgbClr val="111827"/>
          </a:solidFill>
          <a:ln xmlns:a="http://schemas.openxmlformats.org/drawingml/2006/main" w="0">
            <a:noFill/>
            <a:prstDash val="solid"/>
          </a:ln>
        </p:spPr>
      </p:sp>
      <p:sp>
        <p:nvSpPr>
          <p:cNvPr id="7" name="tht-0">
            <a:extLst xmlns:a="http://schemas.openxmlformats.org/drawingml/2006/main">
              <a:ext uri="{FF2B5EF4-FFF2-40B4-BE49-F238E27FC236}">
                <a16:creationId xmlns:a16="http://schemas.microsoft.com/office/drawing/2014/main" id="{3577FF29-F5E1-468B-8BDC-2FCAFF49C803}"/>
              </a:ext>
            </a:extLst>
          </p:cNvPr>
          <p:cNvSpPr>
            <a:spLocks xmlns:a="http://schemas.openxmlformats.org/drawingml/2006/main" noGrp="1"/>
          </p:cNvSpPr>
          <p:nvPr/>
        </p:nvSpPr>
        <p:spPr>
          <a:xfrm xmlns:a="http://schemas.openxmlformats.org/drawingml/2006/main">
            <a:off x="542925" y="2200275"/>
            <a:ext cx="2190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a:solidFill>
                  <a:srgbClr val="FFFFFF"/>
                </a:solidFill>
                <a:latin typeface="Arial"/>
                <a:ea typeface="Arial"/>
                <a:cs typeface="Arial"/>
              </a:defRPr>
            </a:pPr>
            <a:r>
              <a:rPr sz="1425" b="1">
                <a:solidFill>
                  <a:srgbClr val="FFFFFF"/>
                </a:solidFill>
                <a:latin typeface="Arial"/>
                <a:ea typeface="Arial"/>
                <a:cs typeface="Arial"/>
              </a:rPr>
              <a:t>Decoder arm</a:t>
            </a:r>
          </a:p>
        </p:txBody>
      </p:sp>
      <p:sp>
        <p:nvSpPr>
          <p:cNvPr id="8" name="th-1">
            <a:extLst xmlns:a="http://schemas.openxmlformats.org/drawingml/2006/main">
              <a:ext uri="{FF2B5EF4-FFF2-40B4-BE49-F238E27FC236}">
                <a16:creationId xmlns:a16="http://schemas.microsoft.com/office/drawing/2014/main" id="{5109BD91-A096-4F32-87D7-7B9522BFF2B6}"/>
              </a:ext>
            </a:extLst>
          </p:cNvPr>
          <p:cNvSpPr>
            <a:spLocks xmlns:a="http://schemas.openxmlformats.org/drawingml/2006/main" noGrp="1"/>
          </p:cNvSpPr>
          <p:nvPr/>
        </p:nvSpPr>
        <p:spPr>
          <a:xfrm xmlns:a="http://schemas.openxmlformats.org/drawingml/2006/main">
            <a:off x="2876550" y="2028825"/>
            <a:ext cx="2971800" cy="685800"/>
          </a:xfrm>
          <a:prstGeom xmlns:a="http://schemas.openxmlformats.org/drawingml/2006/main" prst="roundRect">
            <a:avLst>
              <a:gd name="adj" fmla="val 16667"/>
            </a:avLst>
          </a:prstGeom>
          <a:solidFill xmlns:a="http://schemas.openxmlformats.org/drawingml/2006/main">
            <a:srgbClr val="111827"/>
          </a:solidFill>
          <a:ln xmlns:a="http://schemas.openxmlformats.org/drawingml/2006/main" w="0">
            <a:noFill/>
            <a:prstDash val="solid"/>
          </a:ln>
        </p:spPr>
      </p:sp>
      <p:sp>
        <p:nvSpPr>
          <p:cNvPr id="9" name="tht-1">
            <a:extLst xmlns:a="http://schemas.openxmlformats.org/drawingml/2006/main">
              <a:ext uri="{FF2B5EF4-FFF2-40B4-BE49-F238E27FC236}">
                <a16:creationId xmlns:a16="http://schemas.microsoft.com/office/drawing/2014/main" id="{8947148B-4FD6-41AD-9C98-F25B43B064D8}"/>
              </a:ext>
            </a:extLst>
          </p:cNvPr>
          <p:cNvSpPr>
            <a:spLocks xmlns:a="http://schemas.openxmlformats.org/drawingml/2006/main" noGrp="1"/>
          </p:cNvSpPr>
          <p:nvPr/>
        </p:nvSpPr>
        <p:spPr>
          <a:xfrm xmlns:a="http://schemas.openxmlformats.org/drawingml/2006/main">
            <a:off x="3019425" y="2200275"/>
            <a:ext cx="26860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a:solidFill>
                  <a:srgbClr val="FFFFFF"/>
                </a:solidFill>
                <a:latin typeface="Arial"/>
                <a:ea typeface="Arial"/>
                <a:cs typeface="Arial"/>
              </a:defRPr>
            </a:pPr>
            <a:r>
              <a:rPr sz="1425" b="1">
                <a:solidFill>
                  <a:srgbClr val="FFFFFF"/>
                </a:solidFill>
                <a:latin typeface="Arial"/>
                <a:ea typeface="Arial"/>
                <a:cs typeface="Arial"/>
              </a:rPr>
              <a:t>Block topology</a:t>
            </a:r>
          </a:p>
        </p:txBody>
      </p:sp>
      <p:sp>
        <p:nvSpPr>
          <p:cNvPr id="10" name="th-2">
            <a:extLst xmlns:a="http://schemas.openxmlformats.org/drawingml/2006/main">
              <a:ext uri="{FF2B5EF4-FFF2-40B4-BE49-F238E27FC236}">
                <a16:creationId xmlns:a16="http://schemas.microsoft.com/office/drawing/2014/main" id="{59C710F0-25F6-48DA-B6A7-8C0DFBF3AD2F}"/>
              </a:ext>
            </a:extLst>
          </p:cNvPr>
          <p:cNvSpPr>
            <a:spLocks xmlns:a="http://schemas.openxmlformats.org/drawingml/2006/main" noGrp="1"/>
          </p:cNvSpPr>
          <p:nvPr/>
        </p:nvSpPr>
        <p:spPr>
          <a:xfrm xmlns:a="http://schemas.openxmlformats.org/drawingml/2006/main">
            <a:off x="5848350" y="2028825"/>
            <a:ext cx="2762250" cy="685800"/>
          </a:xfrm>
          <a:prstGeom xmlns:a="http://schemas.openxmlformats.org/drawingml/2006/main" prst="roundRect">
            <a:avLst>
              <a:gd name="adj" fmla="val 16667"/>
            </a:avLst>
          </a:prstGeom>
          <a:solidFill xmlns:a="http://schemas.openxmlformats.org/drawingml/2006/main">
            <a:srgbClr val="111827"/>
          </a:solidFill>
          <a:ln xmlns:a="http://schemas.openxmlformats.org/drawingml/2006/main" w="0">
            <a:noFill/>
            <a:prstDash val="solid"/>
          </a:ln>
        </p:spPr>
      </p:sp>
      <p:sp>
        <p:nvSpPr>
          <p:cNvPr id="11" name="tht-2">
            <a:extLst xmlns:a="http://schemas.openxmlformats.org/drawingml/2006/main">
              <a:ext uri="{FF2B5EF4-FFF2-40B4-BE49-F238E27FC236}">
                <a16:creationId xmlns:a16="http://schemas.microsoft.com/office/drawing/2014/main" id="{5F976853-5A85-43F5-B071-95B2CDA8F956}"/>
              </a:ext>
            </a:extLst>
          </p:cNvPr>
          <p:cNvSpPr>
            <a:spLocks xmlns:a="http://schemas.openxmlformats.org/drawingml/2006/main" noGrp="1"/>
          </p:cNvSpPr>
          <p:nvPr/>
        </p:nvSpPr>
        <p:spPr>
          <a:xfrm xmlns:a="http://schemas.openxmlformats.org/drawingml/2006/main">
            <a:off x="5991225" y="2200275"/>
            <a:ext cx="247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a:solidFill>
                  <a:srgbClr val="FFFFFF"/>
                </a:solidFill>
                <a:latin typeface="Arial"/>
                <a:ea typeface="Arial"/>
                <a:cs typeface="Arial"/>
              </a:defRPr>
            </a:pPr>
            <a:r>
              <a:rPr sz="1425" b="1">
                <a:solidFill>
                  <a:srgbClr val="FFFFFF"/>
                </a:solidFill>
                <a:latin typeface="Arial"/>
                <a:ea typeface="Arial"/>
                <a:cs typeface="Arial"/>
              </a:rPr>
              <a:t>Activation</a:t>
            </a:r>
          </a:p>
        </p:txBody>
      </p:sp>
      <p:sp>
        <p:nvSpPr>
          <p:cNvPr id="12" name="th-3">
            <a:extLst xmlns:a="http://schemas.openxmlformats.org/drawingml/2006/main">
              <a:ext uri="{FF2B5EF4-FFF2-40B4-BE49-F238E27FC236}">
                <a16:creationId xmlns:a16="http://schemas.microsoft.com/office/drawing/2014/main" id="{C6CF9A88-5DF6-496E-9D6C-A542FDAA5CF2}"/>
              </a:ext>
            </a:extLst>
          </p:cNvPr>
          <p:cNvSpPr>
            <a:spLocks xmlns:a="http://schemas.openxmlformats.org/drawingml/2006/main" noGrp="1"/>
          </p:cNvSpPr>
          <p:nvPr/>
        </p:nvSpPr>
        <p:spPr>
          <a:xfrm xmlns:a="http://schemas.openxmlformats.org/drawingml/2006/main">
            <a:off x="8610600" y="2028825"/>
            <a:ext cx="3181350" cy="685800"/>
          </a:xfrm>
          <a:prstGeom xmlns:a="http://schemas.openxmlformats.org/drawingml/2006/main" prst="roundRect">
            <a:avLst>
              <a:gd name="adj" fmla="val 16667"/>
            </a:avLst>
          </a:prstGeom>
          <a:solidFill xmlns:a="http://schemas.openxmlformats.org/drawingml/2006/main">
            <a:srgbClr val="111827"/>
          </a:solidFill>
          <a:ln xmlns:a="http://schemas.openxmlformats.org/drawingml/2006/main" w="0">
            <a:noFill/>
            <a:prstDash val="solid"/>
          </a:ln>
        </p:spPr>
      </p:sp>
      <p:sp>
        <p:nvSpPr>
          <p:cNvPr id="13" name="tht-3">
            <a:extLst xmlns:a="http://schemas.openxmlformats.org/drawingml/2006/main">
              <a:ext uri="{FF2B5EF4-FFF2-40B4-BE49-F238E27FC236}">
                <a16:creationId xmlns:a16="http://schemas.microsoft.com/office/drawing/2014/main" id="{5A2497B6-DE46-494F-9819-B69584C5E3F5}"/>
              </a:ext>
            </a:extLst>
          </p:cNvPr>
          <p:cNvSpPr>
            <a:spLocks xmlns:a="http://schemas.openxmlformats.org/drawingml/2006/main" noGrp="1"/>
          </p:cNvSpPr>
          <p:nvPr/>
        </p:nvSpPr>
        <p:spPr>
          <a:xfrm xmlns:a="http://schemas.openxmlformats.org/drawingml/2006/main">
            <a:off x="8753475" y="2200275"/>
            <a:ext cx="2895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a:solidFill>
                  <a:srgbClr val="FFFFFF"/>
                </a:solidFill>
                <a:latin typeface="Arial"/>
                <a:ea typeface="Arial"/>
                <a:cs typeface="Arial"/>
              </a:defRPr>
            </a:pPr>
            <a:r>
              <a:rPr sz="1425" b="1">
                <a:solidFill>
                  <a:srgbClr val="FFFFFF"/>
                </a:solidFill>
                <a:latin typeface="Arial"/>
                <a:ea typeface="Arial"/>
                <a:cs typeface="Arial"/>
              </a:rPr>
              <a:t>Interpretation</a:t>
            </a:r>
          </a:p>
        </p:txBody>
      </p:sp>
      <p:sp>
        <p:nvSpPr>
          <p:cNvPr id="14" name="cell-0-0">
            <a:extLst xmlns:a="http://schemas.openxmlformats.org/drawingml/2006/main">
              <a:ext uri="{FF2B5EF4-FFF2-40B4-BE49-F238E27FC236}">
                <a16:creationId xmlns:a16="http://schemas.microsoft.com/office/drawing/2014/main" id="{6C18F826-1B43-493B-903F-E917AFB42AD2}"/>
              </a:ext>
            </a:extLst>
          </p:cNvPr>
          <p:cNvSpPr>
            <a:spLocks xmlns:a="http://schemas.openxmlformats.org/drawingml/2006/main" noGrp="1"/>
          </p:cNvSpPr>
          <p:nvPr/>
        </p:nvSpPr>
        <p:spPr>
          <a:xfrm xmlns:a="http://schemas.openxmlformats.org/drawingml/2006/main">
            <a:off x="400050" y="2714625"/>
            <a:ext cx="2476500" cy="685800"/>
          </a:xfrm>
          <a:prstGeom xmlns:a="http://schemas.openxmlformats.org/drawingml/2006/main" prst="roundRect">
            <a:avLst>
              <a:gd name="adj" fmla="val 16667"/>
            </a:avLst>
          </a:prstGeom>
          <a:solidFill xmlns:a="http://schemas.openxmlformats.org/drawingml/2006/main">
            <a:srgbClr val="F1F3F6"/>
          </a:solidFill>
          <a:ln xmlns:a="http://schemas.openxmlformats.org/drawingml/2006/main" w="9525">
            <a:solidFill>
              <a:srgbClr val="D9DEE7"/>
            </a:solidFill>
            <a:prstDash val="solid"/>
          </a:ln>
        </p:spPr>
      </p:sp>
      <p:sp>
        <p:nvSpPr>
          <p:cNvPr id="15" name="cellt-0-0">
            <a:extLst xmlns:a="http://schemas.openxmlformats.org/drawingml/2006/main">
              <a:ext uri="{FF2B5EF4-FFF2-40B4-BE49-F238E27FC236}">
                <a16:creationId xmlns:a16="http://schemas.microsoft.com/office/drawing/2014/main" id="{539F3FD7-AC49-4C48-8B54-D33F8A86647F}"/>
              </a:ext>
            </a:extLst>
          </p:cNvPr>
          <p:cNvSpPr>
            <a:spLocks xmlns:a="http://schemas.openxmlformats.org/drawingml/2006/main" noGrp="1"/>
          </p:cNvSpPr>
          <p:nvPr/>
        </p:nvSpPr>
        <p:spPr>
          <a:xfrm xmlns:a="http://schemas.openxmlformats.org/drawingml/2006/main">
            <a:off x="542925" y="2876550"/>
            <a:ext cx="2190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a:solidFill>
                  <a:srgbClr val="111827"/>
                </a:solidFill>
                <a:latin typeface="Arial"/>
                <a:ea typeface="Arial"/>
                <a:cs typeface="Arial"/>
              </a:defRPr>
            </a:pPr>
            <a:r>
              <a:rPr sz="1425" b="1">
                <a:solidFill>
                  <a:srgbClr val="111827"/>
                </a:solidFill>
                <a:latin typeface="Arial"/>
                <a:ea typeface="Arial"/>
                <a:cs typeface="Arial"/>
              </a:rPr>
              <a:t>U-style</a:t>
            </a:r>
          </a:p>
        </p:txBody>
      </p:sp>
      <p:sp>
        <p:nvSpPr>
          <p:cNvPr id="16" name="cell-0-1">
            <a:extLst xmlns:a="http://schemas.openxmlformats.org/drawingml/2006/main">
              <a:ext uri="{FF2B5EF4-FFF2-40B4-BE49-F238E27FC236}">
                <a16:creationId xmlns:a16="http://schemas.microsoft.com/office/drawing/2014/main" id="{4E29A345-4E26-4E23-828B-D59935891943}"/>
              </a:ext>
            </a:extLst>
          </p:cNvPr>
          <p:cNvSpPr>
            <a:spLocks xmlns:a="http://schemas.openxmlformats.org/drawingml/2006/main" noGrp="1"/>
          </p:cNvSpPr>
          <p:nvPr/>
        </p:nvSpPr>
        <p:spPr>
          <a:xfrm xmlns:a="http://schemas.openxmlformats.org/drawingml/2006/main">
            <a:off x="2876550" y="2714625"/>
            <a:ext cx="2971800" cy="685800"/>
          </a:xfrm>
          <a:prstGeom xmlns:a="http://schemas.openxmlformats.org/drawingml/2006/main" prst="roundRect">
            <a:avLst>
              <a:gd name="adj" fmla="val 16667"/>
            </a:avLst>
          </a:prstGeom>
          <a:solidFill xmlns:a="http://schemas.openxmlformats.org/drawingml/2006/main">
            <a:srgbClr val="F1F3F6"/>
          </a:solidFill>
          <a:ln xmlns:a="http://schemas.openxmlformats.org/drawingml/2006/main" w="9525">
            <a:solidFill>
              <a:srgbClr val="D9DEE7"/>
            </a:solidFill>
            <a:prstDash val="solid"/>
          </a:ln>
        </p:spPr>
      </p:sp>
      <p:sp>
        <p:nvSpPr>
          <p:cNvPr id="17" name="cellt-0-1">
            <a:extLst xmlns:a="http://schemas.openxmlformats.org/drawingml/2006/main">
              <a:ext uri="{FF2B5EF4-FFF2-40B4-BE49-F238E27FC236}">
                <a16:creationId xmlns:a16="http://schemas.microsoft.com/office/drawing/2014/main" id="{E1DEF7C0-1961-4478-AECF-D49B8D8F8249}"/>
              </a:ext>
            </a:extLst>
          </p:cNvPr>
          <p:cNvSpPr>
            <a:spLocks xmlns:a="http://schemas.openxmlformats.org/drawingml/2006/main" noGrp="1"/>
          </p:cNvSpPr>
          <p:nvPr/>
        </p:nvSpPr>
        <p:spPr>
          <a:xfrm xmlns:a="http://schemas.openxmlformats.org/drawingml/2006/main">
            <a:off x="3019425" y="2876550"/>
            <a:ext cx="26860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111827"/>
                </a:solidFill>
                <a:latin typeface="Arial"/>
                <a:ea typeface="Arial"/>
                <a:cs typeface="Arial"/>
              </a:defRPr>
            </a:pPr>
            <a:r>
              <a:rPr sz="1425" b="0">
                <a:solidFill>
                  <a:srgbClr val="111827"/>
                </a:solidFill>
                <a:latin typeface="Arial"/>
                <a:ea typeface="Arial"/>
                <a:cs typeface="Arial"/>
              </a:rPr>
              <a:t>Plain</a:t>
            </a:r>
          </a:p>
        </p:txBody>
      </p:sp>
      <p:sp>
        <p:nvSpPr>
          <p:cNvPr id="18" name="cell-0-2">
            <a:extLst xmlns:a="http://schemas.openxmlformats.org/drawingml/2006/main">
              <a:ext uri="{FF2B5EF4-FFF2-40B4-BE49-F238E27FC236}">
                <a16:creationId xmlns:a16="http://schemas.microsoft.com/office/drawing/2014/main" id="{0D324D56-A0C6-4DC0-AC88-E88C13602376}"/>
              </a:ext>
            </a:extLst>
          </p:cNvPr>
          <p:cNvSpPr>
            <a:spLocks xmlns:a="http://schemas.openxmlformats.org/drawingml/2006/main" noGrp="1"/>
          </p:cNvSpPr>
          <p:nvPr/>
        </p:nvSpPr>
        <p:spPr>
          <a:xfrm xmlns:a="http://schemas.openxmlformats.org/drawingml/2006/main">
            <a:off x="5848350" y="2714625"/>
            <a:ext cx="2762250" cy="685800"/>
          </a:xfrm>
          <a:prstGeom xmlns:a="http://schemas.openxmlformats.org/drawingml/2006/main" prst="roundRect">
            <a:avLst>
              <a:gd name="adj" fmla="val 16667"/>
            </a:avLst>
          </a:prstGeom>
          <a:solidFill xmlns:a="http://schemas.openxmlformats.org/drawingml/2006/main">
            <a:srgbClr val="F1F3F6"/>
          </a:solidFill>
          <a:ln xmlns:a="http://schemas.openxmlformats.org/drawingml/2006/main" w="9525">
            <a:solidFill>
              <a:srgbClr val="D9DEE7"/>
            </a:solidFill>
            <a:prstDash val="solid"/>
          </a:ln>
        </p:spPr>
      </p:sp>
      <p:sp>
        <p:nvSpPr>
          <p:cNvPr id="19" name="cellt-0-2">
            <a:extLst xmlns:a="http://schemas.openxmlformats.org/drawingml/2006/main">
              <a:ext uri="{FF2B5EF4-FFF2-40B4-BE49-F238E27FC236}">
                <a16:creationId xmlns:a16="http://schemas.microsoft.com/office/drawing/2014/main" id="{1DB266D0-E0E8-4E82-BF83-BBD22DEBEBD5}"/>
              </a:ext>
            </a:extLst>
          </p:cNvPr>
          <p:cNvSpPr>
            <a:spLocks xmlns:a="http://schemas.openxmlformats.org/drawingml/2006/main" noGrp="1"/>
          </p:cNvSpPr>
          <p:nvPr/>
        </p:nvSpPr>
        <p:spPr>
          <a:xfrm xmlns:a="http://schemas.openxmlformats.org/drawingml/2006/main">
            <a:off x="5991225" y="2876550"/>
            <a:ext cx="247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111827"/>
                </a:solidFill>
                <a:latin typeface="Arial"/>
                <a:ea typeface="Arial"/>
                <a:cs typeface="Arial"/>
              </a:defRPr>
            </a:pPr>
            <a:r>
              <a:rPr sz="1425" b="0">
                <a:solidFill>
                  <a:srgbClr val="111827"/>
                </a:solidFill>
                <a:latin typeface="Arial"/>
                <a:ea typeface="Arial"/>
                <a:cs typeface="Arial"/>
              </a:rPr>
              <a:t>ReLU</a:t>
            </a:r>
          </a:p>
        </p:txBody>
      </p:sp>
      <p:sp>
        <p:nvSpPr>
          <p:cNvPr id="20" name="cell-0-3">
            <a:extLst xmlns:a="http://schemas.openxmlformats.org/drawingml/2006/main">
              <a:ext uri="{FF2B5EF4-FFF2-40B4-BE49-F238E27FC236}">
                <a16:creationId xmlns:a16="http://schemas.microsoft.com/office/drawing/2014/main" id="{0CC5F21A-451C-44C5-95D1-526D40F828E6}"/>
              </a:ext>
            </a:extLst>
          </p:cNvPr>
          <p:cNvSpPr>
            <a:spLocks xmlns:a="http://schemas.openxmlformats.org/drawingml/2006/main" noGrp="1"/>
          </p:cNvSpPr>
          <p:nvPr/>
        </p:nvSpPr>
        <p:spPr>
          <a:xfrm xmlns:a="http://schemas.openxmlformats.org/drawingml/2006/main">
            <a:off x="8610600" y="2714625"/>
            <a:ext cx="3181350" cy="685800"/>
          </a:xfrm>
          <a:prstGeom xmlns:a="http://schemas.openxmlformats.org/drawingml/2006/main" prst="roundRect">
            <a:avLst>
              <a:gd name="adj" fmla="val 16667"/>
            </a:avLst>
          </a:prstGeom>
          <a:solidFill xmlns:a="http://schemas.openxmlformats.org/drawingml/2006/main">
            <a:srgbClr val="F1F3F6"/>
          </a:solidFill>
          <a:ln xmlns:a="http://schemas.openxmlformats.org/drawingml/2006/main" w="9525">
            <a:solidFill>
              <a:srgbClr val="D9DEE7"/>
            </a:solidFill>
            <a:prstDash val="solid"/>
          </a:ln>
        </p:spPr>
      </p:sp>
      <p:sp>
        <p:nvSpPr>
          <p:cNvPr id="21" name="cellt-0-3">
            <a:extLst xmlns:a="http://schemas.openxmlformats.org/drawingml/2006/main">
              <a:ext uri="{FF2B5EF4-FFF2-40B4-BE49-F238E27FC236}">
                <a16:creationId xmlns:a16="http://schemas.microsoft.com/office/drawing/2014/main" id="{C18B30CF-4FDB-4E14-83DC-AEE1012BEC1D}"/>
              </a:ext>
            </a:extLst>
          </p:cNvPr>
          <p:cNvSpPr>
            <a:spLocks xmlns:a="http://schemas.openxmlformats.org/drawingml/2006/main" noGrp="1"/>
          </p:cNvSpPr>
          <p:nvPr/>
        </p:nvSpPr>
        <p:spPr>
          <a:xfrm xmlns:a="http://schemas.openxmlformats.org/drawingml/2006/main">
            <a:off x="8753475" y="2876550"/>
            <a:ext cx="2895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111827"/>
                </a:solidFill>
                <a:latin typeface="Arial"/>
                <a:ea typeface="Arial"/>
                <a:cs typeface="Arial"/>
              </a:defRPr>
            </a:pPr>
            <a:r>
              <a:rPr sz="1425" b="0">
                <a:solidFill>
                  <a:srgbClr val="111827"/>
                </a:solidFill>
                <a:latin typeface="Arial"/>
                <a:ea typeface="Arial"/>
                <a:cs typeface="Arial"/>
              </a:rPr>
              <a:t>Historical reference condition</a:t>
            </a:r>
          </a:p>
        </p:txBody>
      </p:sp>
      <p:sp>
        <p:nvSpPr>
          <p:cNvPr id="22" name="cell-1-0">
            <a:extLst xmlns:a="http://schemas.openxmlformats.org/drawingml/2006/main">
              <a:ext uri="{FF2B5EF4-FFF2-40B4-BE49-F238E27FC236}">
                <a16:creationId xmlns:a16="http://schemas.microsoft.com/office/drawing/2014/main" id="{E820E457-D7BA-4E52-925F-6D320CF760BF}"/>
              </a:ext>
            </a:extLst>
          </p:cNvPr>
          <p:cNvSpPr>
            <a:spLocks xmlns:a="http://schemas.openxmlformats.org/drawingml/2006/main" noGrp="1"/>
          </p:cNvSpPr>
          <p:nvPr/>
        </p:nvSpPr>
        <p:spPr>
          <a:xfrm xmlns:a="http://schemas.openxmlformats.org/drawingml/2006/main">
            <a:off x="400050" y="3400425"/>
            <a:ext cx="247650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D9DEE7"/>
            </a:solidFill>
            <a:prstDash val="solid"/>
          </a:ln>
        </p:spPr>
      </p:sp>
      <p:sp>
        <p:nvSpPr>
          <p:cNvPr id="23" name="cellt-1-0">
            <a:extLst xmlns:a="http://schemas.openxmlformats.org/drawingml/2006/main">
              <a:ext uri="{FF2B5EF4-FFF2-40B4-BE49-F238E27FC236}">
                <a16:creationId xmlns:a16="http://schemas.microsoft.com/office/drawing/2014/main" id="{8799F7BE-48BD-47CC-AD4A-ADE3DBBAC771}"/>
              </a:ext>
            </a:extLst>
          </p:cNvPr>
          <p:cNvSpPr>
            <a:spLocks xmlns:a="http://schemas.openxmlformats.org/drawingml/2006/main" noGrp="1"/>
          </p:cNvSpPr>
          <p:nvPr/>
        </p:nvSpPr>
        <p:spPr>
          <a:xfrm xmlns:a="http://schemas.openxmlformats.org/drawingml/2006/main">
            <a:off x="542925" y="3562350"/>
            <a:ext cx="2190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a:solidFill>
                  <a:srgbClr val="111827"/>
                </a:solidFill>
                <a:latin typeface="Arial"/>
                <a:ea typeface="Arial"/>
                <a:cs typeface="Arial"/>
              </a:defRPr>
            </a:pPr>
            <a:r>
              <a:rPr sz="1425" b="1">
                <a:solidFill>
                  <a:srgbClr val="111827"/>
                </a:solidFill>
                <a:latin typeface="Arial"/>
                <a:ea typeface="Arial"/>
                <a:cs typeface="Arial"/>
              </a:rPr>
              <a:t>Plain-PReLU</a:t>
            </a:r>
          </a:p>
        </p:txBody>
      </p:sp>
      <p:sp>
        <p:nvSpPr>
          <p:cNvPr id="24" name="cell-1-1">
            <a:extLst xmlns:a="http://schemas.openxmlformats.org/drawingml/2006/main">
              <a:ext uri="{FF2B5EF4-FFF2-40B4-BE49-F238E27FC236}">
                <a16:creationId xmlns:a16="http://schemas.microsoft.com/office/drawing/2014/main" id="{18214E89-C1AF-4C47-B1BB-FA7F5E9AE225}"/>
              </a:ext>
            </a:extLst>
          </p:cNvPr>
          <p:cNvSpPr>
            <a:spLocks xmlns:a="http://schemas.openxmlformats.org/drawingml/2006/main" noGrp="1"/>
          </p:cNvSpPr>
          <p:nvPr/>
        </p:nvSpPr>
        <p:spPr>
          <a:xfrm xmlns:a="http://schemas.openxmlformats.org/drawingml/2006/main">
            <a:off x="2876550" y="3400425"/>
            <a:ext cx="297180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D9DEE7"/>
            </a:solidFill>
            <a:prstDash val="solid"/>
          </a:ln>
        </p:spPr>
      </p:sp>
      <p:sp>
        <p:nvSpPr>
          <p:cNvPr id="25" name="cellt-1-1">
            <a:extLst xmlns:a="http://schemas.openxmlformats.org/drawingml/2006/main">
              <a:ext uri="{FF2B5EF4-FFF2-40B4-BE49-F238E27FC236}">
                <a16:creationId xmlns:a16="http://schemas.microsoft.com/office/drawing/2014/main" id="{76ACF2AD-305D-4D6F-BE86-DAEA2E32CCA9}"/>
              </a:ext>
            </a:extLst>
          </p:cNvPr>
          <p:cNvSpPr>
            <a:spLocks xmlns:a="http://schemas.openxmlformats.org/drawingml/2006/main" noGrp="1"/>
          </p:cNvSpPr>
          <p:nvPr/>
        </p:nvSpPr>
        <p:spPr>
          <a:xfrm xmlns:a="http://schemas.openxmlformats.org/drawingml/2006/main">
            <a:off x="3019425" y="3562350"/>
            <a:ext cx="26860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111827"/>
                </a:solidFill>
                <a:latin typeface="Arial"/>
                <a:ea typeface="Arial"/>
                <a:cs typeface="Arial"/>
              </a:defRPr>
            </a:pPr>
            <a:r>
              <a:rPr sz="1425" b="0">
                <a:solidFill>
                  <a:srgbClr val="111827"/>
                </a:solidFill>
                <a:latin typeface="Arial"/>
                <a:ea typeface="Arial"/>
                <a:cs typeface="Arial"/>
              </a:rPr>
              <a:t>Plain</a:t>
            </a:r>
          </a:p>
        </p:txBody>
      </p:sp>
      <p:sp>
        <p:nvSpPr>
          <p:cNvPr id="26" name="cell-1-2">
            <a:extLst xmlns:a="http://schemas.openxmlformats.org/drawingml/2006/main">
              <a:ext uri="{FF2B5EF4-FFF2-40B4-BE49-F238E27FC236}">
                <a16:creationId xmlns:a16="http://schemas.microsoft.com/office/drawing/2014/main" id="{66E491AA-3F64-47A7-BC91-1275A77E0B4B}"/>
              </a:ext>
            </a:extLst>
          </p:cNvPr>
          <p:cNvSpPr>
            <a:spLocks xmlns:a="http://schemas.openxmlformats.org/drawingml/2006/main" noGrp="1"/>
          </p:cNvSpPr>
          <p:nvPr/>
        </p:nvSpPr>
        <p:spPr>
          <a:xfrm xmlns:a="http://schemas.openxmlformats.org/drawingml/2006/main">
            <a:off x="5848350" y="3400425"/>
            <a:ext cx="2762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D9DEE7"/>
            </a:solidFill>
            <a:prstDash val="solid"/>
          </a:ln>
        </p:spPr>
      </p:sp>
      <p:sp>
        <p:nvSpPr>
          <p:cNvPr id="27" name="cellt-1-2">
            <a:extLst xmlns:a="http://schemas.openxmlformats.org/drawingml/2006/main">
              <a:ext uri="{FF2B5EF4-FFF2-40B4-BE49-F238E27FC236}">
                <a16:creationId xmlns:a16="http://schemas.microsoft.com/office/drawing/2014/main" id="{BC1FCAF1-186A-4D6B-9194-97C52E5EFE95}"/>
              </a:ext>
            </a:extLst>
          </p:cNvPr>
          <p:cNvSpPr>
            <a:spLocks xmlns:a="http://schemas.openxmlformats.org/drawingml/2006/main" noGrp="1"/>
          </p:cNvSpPr>
          <p:nvPr/>
        </p:nvSpPr>
        <p:spPr>
          <a:xfrm xmlns:a="http://schemas.openxmlformats.org/drawingml/2006/main">
            <a:off x="5991225" y="3562350"/>
            <a:ext cx="247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111827"/>
                </a:solidFill>
                <a:latin typeface="Arial"/>
                <a:ea typeface="Arial"/>
                <a:cs typeface="Arial"/>
              </a:defRPr>
            </a:pPr>
            <a:r>
              <a:rPr sz="1425" b="0">
                <a:solidFill>
                  <a:srgbClr val="111827"/>
                </a:solidFill>
                <a:latin typeface="Arial"/>
                <a:ea typeface="Arial"/>
                <a:cs typeface="Arial"/>
              </a:rPr>
              <a:t>PReLU</a:t>
            </a:r>
          </a:p>
        </p:txBody>
      </p:sp>
      <p:sp>
        <p:nvSpPr>
          <p:cNvPr id="28" name="cell-1-3">
            <a:extLst xmlns:a="http://schemas.openxmlformats.org/drawingml/2006/main">
              <a:ext uri="{FF2B5EF4-FFF2-40B4-BE49-F238E27FC236}">
                <a16:creationId xmlns:a16="http://schemas.microsoft.com/office/drawing/2014/main" id="{7F3E3AB1-D08E-4371-B73E-980D88172B76}"/>
              </a:ext>
            </a:extLst>
          </p:cNvPr>
          <p:cNvSpPr>
            <a:spLocks xmlns:a="http://schemas.openxmlformats.org/drawingml/2006/main" noGrp="1"/>
          </p:cNvSpPr>
          <p:nvPr/>
        </p:nvSpPr>
        <p:spPr>
          <a:xfrm xmlns:a="http://schemas.openxmlformats.org/drawingml/2006/main">
            <a:off x="8610600" y="3400425"/>
            <a:ext cx="31813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D9DEE7"/>
            </a:solidFill>
            <a:prstDash val="solid"/>
          </a:ln>
        </p:spPr>
      </p:sp>
      <p:sp>
        <p:nvSpPr>
          <p:cNvPr id="29" name="cellt-1-3">
            <a:extLst xmlns:a="http://schemas.openxmlformats.org/drawingml/2006/main">
              <a:ext uri="{FF2B5EF4-FFF2-40B4-BE49-F238E27FC236}">
                <a16:creationId xmlns:a16="http://schemas.microsoft.com/office/drawing/2014/main" id="{BF4DADEC-90A2-42B2-99FC-C63221CE60E3}"/>
              </a:ext>
            </a:extLst>
          </p:cNvPr>
          <p:cNvSpPr>
            <a:spLocks xmlns:a="http://schemas.openxmlformats.org/drawingml/2006/main" noGrp="1"/>
          </p:cNvSpPr>
          <p:nvPr/>
        </p:nvSpPr>
        <p:spPr>
          <a:xfrm xmlns:a="http://schemas.openxmlformats.org/drawingml/2006/main">
            <a:off x="8753475" y="3562350"/>
            <a:ext cx="2895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111827"/>
                </a:solidFill>
                <a:latin typeface="Arial"/>
                <a:ea typeface="Arial"/>
                <a:cs typeface="Arial"/>
              </a:defRPr>
            </a:pPr>
            <a:r>
              <a:rPr sz="1425" b="0">
                <a:solidFill>
                  <a:srgbClr val="111827"/>
                </a:solidFill>
                <a:latin typeface="Arial"/>
                <a:ea typeface="Arial"/>
                <a:cs typeface="Arial"/>
              </a:rPr>
              <a:t>Activation-only change</a:t>
            </a:r>
          </a:p>
        </p:txBody>
      </p:sp>
      <p:sp>
        <p:nvSpPr>
          <p:cNvPr id="30" name="cell-2-0">
            <a:extLst xmlns:a="http://schemas.openxmlformats.org/drawingml/2006/main">
              <a:ext uri="{FF2B5EF4-FFF2-40B4-BE49-F238E27FC236}">
                <a16:creationId xmlns:a16="http://schemas.microsoft.com/office/drawing/2014/main" id="{EB7D02EF-916D-458D-9F57-CBF73E127902}"/>
              </a:ext>
            </a:extLst>
          </p:cNvPr>
          <p:cNvSpPr>
            <a:spLocks xmlns:a="http://schemas.openxmlformats.org/drawingml/2006/main" noGrp="1"/>
          </p:cNvSpPr>
          <p:nvPr/>
        </p:nvSpPr>
        <p:spPr>
          <a:xfrm xmlns:a="http://schemas.openxmlformats.org/drawingml/2006/main">
            <a:off x="400050" y="4086225"/>
            <a:ext cx="2476500" cy="685800"/>
          </a:xfrm>
          <a:prstGeom xmlns:a="http://schemas.openxmlformats.org/drawingml/2006/main" prst="roundRect">
            <a:avLst>
              <a:gd name="adj" fmla="val 16667"/>
            </a:avLst>
          </a:prstGeom>
          <a:solidFill xmlns:a="http://schemas.openxmlformats.org/drawingml/2006/main">
            <a:srgbClr val="E7F7F3"/>
          </a:solidFill>
          <a:ln xmlns:a="http://schemas.openxmlformats.org/drawingml/2006/main" w="9525">
            <a:solidFill>
              <a:srgbClr val="D9DEE7"/>
            </a:solidFill>
            <a:prstDash val="solid"/>
          </a:ln>
        </p:spPr>
      </p:sp>
      <p:sp>
        <p:nvSpPr>
          <p:cNvPr id="31" name="cellt-2-0">
            <a:extLst xmlns:a="http://schemas.openxmlformats.org/drawingml/2006/main">
              <a:ext uri="{FF2B5EF4-FFF2-40B4-BE49-F238E27FC236}">
                <a16:creationId xmlns:a16="http://schemas.microsoft.com/office/drawing/2014/main" id="{ADCC57B5-4ABA-45E4-8C46-F22D99D9E7B3}"/>
              </a:ext>
            </a:extLst>
          </p:cNvPr>
          <p:cNvSpPr>
            <a:spLocks xmlns:a="http://schemas.openxmlformats.org/drawingml/2006/main" noGrp="1"/>
          </p:cNvSpPr>
          <p:nvPr/>
        </p:nvSpPr>
        <p:spPr>
          <a:xfrm xmlns:a="http://schemas.openxmlformats.org/drawingml/2006/main">
            <a:off x="542925" y="4248150"/>
            <a:ext cx="2190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a:solidFill>
                  <a:srgbClr val="0F766E"/>
                </a:solidFill>
                <a:latin typeface="Arial"/>
                <a:ea typeface="Arial"/>
                <a:cs typeface="Arial"/>
              </a:defRPr>
            </a:pPr>
            <a:r>
              <a:rPr sz="1425" b="1">
                <a:solidFill>
                  <a:srgbClr val="0F766E"/>
                </a:solidFill>
                <a:latin typeface="Arial"/>
                <a:ea typeface="Arial"/>
                <a:cs typeface="Arial"/>
              </a:rPr>
              <a:t>Residual-ReLU</a:t>
            </a:r>
          </a:p>
        </p:txBody>
      </p:sp>
      <p:sp>
        <p:nvSpPr>
          <p:cNvPr id="32" name="cell-2-1">
            <a:extLst xmlns:a="http://schemas.openxmlformats.org/drawingml/2006/main">
              <a:ext uri="{FF2B5EF4-FFF2-40B4-BE49-F238E27FC236}">
                <a16:creationId xmlns:a16="http://schemas.microsoft.com/office/drawing/2014/main" id="{F89685E7-1A65-4298-B6C2-CB767D3BAFE7}"/>
              </a:ext>
            </a:extLst>
          </p:cNvPr>
          <p:cNvSpPr>
            <a:spLocks xmlns:a="http://schemas.openxmlformats.org/drawingml/2006/main" noGrp="1"/>
          </p:cNvSpPr>
          <p:nvPr/>
        </p:nvSpPr>
        <p:spPr>
          <a:xfrm xmlns:a="http://schemas.openxmlformats.org/drawingml/2006/main">
            <a:off x="2876550" y="4086225"/>
            <a:ext cx="2971800" cy="685800"/>
          </a:xfrm>
          <a:prstGeom xmlns:a="http://schemas.openxmlformats.org/drawingml/2006/main" prst="roundRect">
            <a:avLst>
              <a:gd name="adj" fmla="val 16667"/>
            </a:avLst>
          </a:prstGeom>
          <a:solidFill xmlns:a="http://schemas.openxmlformats.org/drawingml/2006/main">
            <a:srgbClr val="E7F7F3"/>
          </a:solidFill>
          <a:ln xmlns:a="http://schemas.openxmlformats.org/drawingml/2006/main" w="9525">
            <a:solidFill>
              <a:srgbClr val="D9DEE7"/>
            </a:solidFill>
            <a:prstDash val="solid"/>
          </a:ln>
        </p:spPr>
      </p:sp>
      <p:sp>
        <p:nvSpPr>
          <p:cNvPr id="33" name="cellt-2-1">
            <a:extLst xmlns:a="http://schemas.openxmlformats.org/drawingml/2006/main">
              <a:ext uri="{FF2B5EF4-FFF2-40B4-BE49-F238E27FC236}">
                <a16:creationId xmlns:a16="http://schemas.microsoft.com/office/drawing/2014/main" id="{8C5F4F7F-6161-4BEC-AD06-67F66805EFDA}"/>
              </a:ext>
            </a:extLst>
          </p:cNvPr>
          <p:cNvSpPr>
            <a:spLocks xmlns:a="http://schemas.openxmlformats.org/drawingml/2006/main" noGrp="1"/>
          </p:cNvSpPr>
          <p:nvPr/>
        </p:nvSpPr>
        <p:spPr>
          <a:xfrm xmlns:a="http://schemas.openxmlformats.org/drawingml/2006/main">
            <a:off x="3019425" y="4248150"/>
            <a:ext cx="26860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a:solidFill>
                  <a:srgbClr val="0F766E"/>
                </a:solidFill>
                <a:latin typeface="Arial"/>
                <a:ea typeface="Arial"/>
                <a:cs typeface="Arial"/>
              </a:defRPr>
            </a:pPr>
            <a:r>
              <a:rPr sz="1425" b="1">
                <a:solidFill>
                  <a:srgbClr val="0F766E"/>
                </a:solidFill>
                <a:latin typeface="Arial"/>
                <a:ea typeface="Arial"/>
                <a:cs typeface="Arial"/>
              </a:rPr>
              <a:t>Projected residual</a:t>
            </a:r>
          </a:p>
        </p:txBody>
      </p:sp>
      <p:sp>
        <p:nvSpPr>
          <p:cNvPr id="34" name="cell-2-2">
            <a:extLst xmlns:a="http://schemas.openxmlformats.org/drawingml/2006/main">
              <a:ext uri="{FF2B5EF4-FFF2-40B4-BE49-F238E27FC236}">
                <a16:creationId xmlns:a16="http://schemas.microsoft.com/office/drawing/2014/main" id="{D5BABC3C-98D3-4D52-94F5-F2F2ECED2CA9}"/>
              </a:ext>
            </a:extLst>
          </p:cNvPr>
          <p:cNvSpPr>
            <a:spLocks xmlns:a="http://schemas.openxmlformats.org/drawingml/2006/main" noGrp="1"/>
          </p:cNvSpPr>
          <p:nvPr/>
        </p:nvSpPr>
        <p:spPr>
          <a:xfrm xmlns:a="http://schemas.openxmlformats.org/drawingml/2006/main">
            <a:off x="5848350" y="4086225"/>
            <a:ext cx="2762250" cy="685800"/>
          </a:xfrm>
          <a:prstGeom xmlns:a="http://schemas.openxmlformats.org/drawingml/2006/main" prst="roundRect">
            <a:avLst>
              <a:gd name="adj" fmla="val 16667"/>
            </a:avLst>
          </a:prstGeom>
          <a:solidFill xmlns:a="http://schemas.openxmlformats.org/drawingml/2006/main">
            <a:srgbClr val="E7F7F3"/>
          </a:solidFill>
          <a:ln xmlns:a="http://schemas.openxmlformats.org/drawingml/2006/main" w="9525">
            <a:solidFill>
              <a:srgbClr val="D9DEE7"/>
            </a:solidFill>
            <a:prstDash val="solid"/>
          </a:ln>
        </p:spPr>
      </p:sp>
      <p:sp>
        <p:nvSpPr>
          <p:cNvPr id="35" name="cellt-2-2">
            <a:extLst xmlns:a="http://schemas.openxmlformats.org/drawingml/2006/main">
              <a:ext uri="{FF2B5EF4-FFF2-40B4-BE49-F238E27FC236}">
                <a16:creationId xmlns:a16="http://schemas.microsoft.com/office/drawing/2014/main" id="{CABE1D7F-2C06-4E79-A542-A19AEA37F213}"/>
              </a:ext>
            </a:extLst>
          </p:cNvPr>
          <p:cNvSpPr>
            <a:spLocks xmlns:a="http://schemas.openxmlformats.org/drawingml/2006/main" noGrp="1"/>
          </p:cNvSpPr>
          <p:nvPr/>
        </p:nvSpPr>
        <p:spPr>
          <a:xfrm xmlns:a="http://schemas.openxmlformats.org/drawingml/2006/main">
            <a:off x="5991225" y="4248150"/>
            <a:ext cx="247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a:solidFill>
                  <a:srgbClr val="0F766E"/>
                </a:solidFill>
                <a:latin typeface="Arial"/>
                <a:ea typeface="Arial"/>
                <a:cs typeface="Arial"/>
              </a:defRPr>
            </a:pPr>
            <a:r>
              <a:rPr sz="1425" b="1">
                <a:solidFill>
                  <a:srgbClr val="0F766E"/>
                </a:solidFill>
                <a:latin typeface="Arial"/>
                <a:ea typeface="Arial"/>
                <a:cs typeface="Arial"/>
              </a:rPr>
              <a:t>ReLU</a:t>
            </a:r>
          </a:p>
        </p:txBody>
      </p:sp>
      <p:sp>
        <p:nvSpPr>
          <p:cNvPr id="36" name="cell-2-3">
            <a:extLst xmlns:a="http://schemas.openxmlformats.org/drawingml/2006/main">
              <a:ext uri="{FF2B5EF4-FFF2-40B4-BE49-F238E27FC236}">
                <a16:creationId xmlns:a16="http://schemas.microsoft.com/office/drawing/2014/main" id="{278A7515-2791-44D8-9DD2-EA8188113845}"/>
              </a:ext>
            </a:extLst>
          </p:cNvPr>
          <p:cNvSpPr>
            <a:spLocks xmlns:a="http://schemas.openxmlformats.org/drawingml/2006/main" noGrp="1"/>
          </p:cNvSpPr>
          <p:nvPr/>
        </p:nvSpPr>
        <p:spPr>
          <a:xfrm xmlns:a="http://schemas.openxmlformats.org/drawingml/2006/main">
            <a:off x="8610600" y="4086225"/>
            <a:ext cx="3181350" cy="685800"/>
          </a:xfrm>
          <a:prstGeom xmlns:a="http://schemas.openxmlformats.org/drawingml/2006/main" prst="roundRect">
            <a:avLst>
              <a:gd name="adj" fmla="val 16667"/>
            </a:avLst>
          </a:prstGeom>
          <a:solidFill xmlns:a="http://schemas.openxmlformats.org/drawingml/2006/main">
            <a:srgbClr val="E7F7F3"/>
          </a:solidFill>
          <a:ln xmlns:a="http://schemas.openxmlformats.org/drawingml/2006/main" w="9525">
            <a:solidFill>
              <a:srgbClr val="D9DEE7"/>
            </a:solidFill>
            <a:prstDash val="solid"/>
          </a:ln>
        </p:spPr>
      </p:sp>
      <p:sp>
        <p:nvSpPr>
          <p:cNvPr id="37" name="cellt-2-3">
            <a:extLst xmlns:a="http://schemas.openxmlformats.org/drawingml/2006/main">
              <a:ext uri="{FF2B5EF4-FFF2-40B4-BE49-F238E27FC236}">
                <a16:creationId xmlns:a16="http://schemas.microsoft.com/office/drawing/2014/main" id="{E243BCEF-D78A-498A-AFB4-ACE7AC453656}"/>
              </a:ext>
            </a:extLst>
          </p:cNvPr>
          <p:cNvSpPr>
            <a:spLocks xmlns:a="http://schemas.openxmlformats.org/drawingml/2006/main" noGrp="1"/>
          </p:cNvSpPr>
          <p:nvPr/>
        </p:nvSpPr>
        <p:spPr>
          <a:xfrm xmlns:a="http://schemas.openxmlformats.org/drawingml/2006/main">
            <a:off x="8753475" y="4248150"/>
            <a:ext cx="2895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a:solidFill>
                  <a:srgbClr val="0F766E"/>
                </a:solidFill>
                <a:latin typeface="Arial"/>
                <a:ea typeface="Arial"/>
                <a:cs typeface="Arial"/>
              </a:defRPr>
            </a:pPr>
            <a:r>
              <a:rPr sz="1425" b="1">
                <a:solidFill>
                  <a:srgbClr val="0F766E"/>
                </a:solidFill>
                <a:latin typeface="Arial"/>
                <a:ea typeface="Arial"/>
                <a:cs typeface="Arial"/>
              </a:rPr>
              <a:t>Topology-only change</a:t>
            </a:r>
          </a:p>
        </p:txBody>
      </p:sp>
      <p:sp>
        <p:nvSpPr>
          <p:cNvPr id="38" name="cell-3-0">
            <a:extLst xmlns:a="http://schemas.openxmlformats.org/drawingml/2006/main">
              <a:ext uri="{FF2B5EF4-FFF2-40B4-BE49-F238E27FC236}">
                <a16:creationId xmlns:a16="http://schemas.microsoft.com/office/drawing/2014/main" id="{48280AB0-726A-4087-BF8F-40EFFBA9E398}"/>
              </a:ext>
            </a:extLst>
          </p:cNvPr>
          <p:cNvSpPr>
            <a:spLocks xmlns:a="http://schemas.openxmlformats.org/drawingml/2006/main" noGrp="1"/>
          </p:cNvSpPr>
          <p:nvPr/>
        </p:nvSpPr>
        <p:spPr>
          <a:xfrm xmlns:a="http://schemas.openxmlformats.org/drawingml/2006/main">
            <a:off x="400050" y="4772025"/>
            <a:ext cx="247650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D9DEE7"/>
            </a:solidFill>
            <a:prstDash val="solid"/>
          </a:ln>
        </p:spPr>
      </p:sp>
      <p:sp>
        <p:nvSpPr>
          <p:cNvPr id="39" name="cellt-3-0">
            <a:extLst xmlns:a="http://schemas.openxmlformats.org/drawingml/2006/main">
              <a:ext uri="{FF2B5EF4-FFF2-40B4-BE49-F238E27FC236}">
                <a16:creationId xmlns:a16="http://schemas.microsoft.com/office/drawing/2014/main" id="{2748CBF1-4952-4FA5-8C0A-24D145B9EF3A}"/>
              </a:ext>
            </a:extLst>
          </p:cNvPr>
          <p:cNvSpPr>
            <a:spLocks xmlns:a="http://schemas.openxmlformats.org/drawingml/2006/main" noGrp="1"/>
          </p:cNvSpPr>
          <p:nvPr/>
        </p:nvSpPr>
        <p:spPr>
          <a:xfrm xmlns:a="http://schemas.openxmlformats.org/drawingml/2006/main">
            <a:off x="542925" y="4933950"/>
            <a:ext cx="2190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a:solidFill>
                  <a:srgbClr val="111827"/>
                </a:solidFill>
                <a:latin typeface="Arial"/>
                <a:ea typeface="Arial"/>
                <a:cs typeface="Arial"/>
              </a:defRPr>
            </a:pPr>
            <a:r>
              <a:rPr sz="1425" b="1">
                <a:solidFill>
                  <a:srgbClr val="111827"/>
                </a:solidFill>
                <a:latin typeface="Arial"/>
                <a:ea typeface="Arial"/>
                <a:cs typeface="Arial"/>
              </a:rPr>
              <a:t>V-style</a:t>
            </a:r>
          </a:p>
        </p:txBody>
      </p:sp>
      <p:sp>
        <p:nvSpPr>
          <p:cNvPr id="40" name="cell-3-1">
            <a:extLst xmlns:a="http://schemas.openxmlformats.org/drawingml/2006/main">
              <a:ext uri="{FF2B5EF4-FFF2-40B4-BE49-F238E27FC236}">
                <a16:creationId xmlns:a16="http://schemas.microsoft.com/office/drawing/2014/main" id="{40D80D1E-C9C4-4365-85F6-18B0F63D590C}"/>
              </a:ext>
            </a:extLst>
          </p:cNvPr>
          <p:cNvSpPr>
            <a:spLocks xmlns:a="http://schemas.openxmlformats.org/drawingml/2006/main" noGrp="1"/>
          </p:cNvSpPr>
          <p:nvPr/>
        </p:nvSpPr>
        <p:spPr>
          <a:xfrm xmlns:a="http://schemas.openxmlformats.org/drawingml/2006/main">
            <a:off x="2876550" y="4772025"/>
            <a:ext cx="297180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D9DEE7"/>
            </a:solidFill>
            <a:prstDash val="solid"/>
          </a:ln>
        </p:spPr>
      </p:sp>
      <p:sp>
        <p:nvSpPr>
          <p:cNvPr id="41" name="cellt-3-1">
            <a:extLst xmlns:a="http://schemas.openxmlformats.org/drawingml/2006/main">
              <a:ext uri="{FF2B5EF4-FFF2-40B4-BE49-F238E27FC236}">
                <a16:creationId xmlns:a16="http://schemas.microsoft.com/office/drawing/2014/main" id="{23B5ED10-2779-4CAC-BE51-A927195B8F37}"/>
              </a:ext>
            </a:extLst>
          </p:cNvPr>
          <p:cNvSpPr>
            <a:spLocks xmlns:a="http://schemas.openxmlformats.org/drawingml/2006/main" noGrp="1"/>
          </p:cNvSpPr>
          <p:nvPr/>
        </p:nvSpPr>
        <p:spPr>
          <a:xfrm xmlns:a="http://schemas.openxmlformats.org/drawingml/2006/main">
            <a:off x="3019425" y="4933950"/>
            <a:ext cx="26860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111827"/>
                </a:solidFill>
                <a:latin typeface="Arial"/>
                <a:ea typeface="Arial"/>
                <a:cs typeface="Arial"/>
              </a:defRPr>
            </a:pPr>
            <a:r>
              <a:rPr sz="1425" b="0">
                <a:solidFill>
                  <a:srgbClr val="111827"/>
                </a:solidFill>
                <a:latin typeface="Arial"/>
                <a:ea typeface="Arial"/>
                <a:cs typeface="Arial"/>
              </a:rPr>
              <a:t>Projected residual</a:t>
            </a:r>
          </a:p>
        </p:txBody>
      </p:sp>
      <p:sp>
        <p:nvSpPr>
          <p:cNvPr id="42" name="cell-3-2">
            <a:extLst xmlns:a="http://schemas.openxmlformats.org/drawingml/2006/main">
              <a:ext uri="{FF2B5EF4-FFF2-40B4-BE49-F238E27FC236}">
                <a16:creationId xmlns:a16="http://schemas.microsoft.com/office/drawing/2014/main" id="{9EF846F0-B2B3-4341-AB42-0EC49A3355E9}"/>
              </a:ext>
            </a:extLst>
          </p:cNvPr>
          <p:cNvSpPr>
            <a:spLocks xmlns:a="http://schemas.openxmlformats.org/drawingml/2006/main" noGrp="1"/>
          </p:cNvSpPr>
          <p:nvPr/>
        </p:nvSpPr>
        <p:spPr>
          <a:xfrm xmlns:a="http://schemas.openxmlformats.org/drawingml/2006/main">
            <a:off x="5848350" y="4772025"/>
            <a:ext cx="2762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D9DEE7"/>
            </a:solidFill>
            <a:prstDash val="solid"/>
          </a:ln>
        </p:spPr>
      </p:sp>
      <p:sp>
        <p:nvSpPr>
          <p:cNvPr id="43" name="cellt-3-2">
            <a:extLst xmlns:a="http://schemas.openxmlformats.org/drawingml/2006/main">
              <a:ext uri="{FF2B5EF4-FFF2-40B4-BE49-F238E27FC236}">
                <a16:creationId xmlns:a16="http://schemas.microsoft.com/office/drawing/2014/main" id="{7DA1706C-FD29-455A-BF42-D03BAC40D32A}"/>
              </a:ext>
            </a:extLst>
          </p:cNvPr>
          <p:cNvSpPr>
            <a:spLocks xmlns:a="http://schemas.openxmlformats.org/drawingml/2006/main" noGrp="1"/>
          </p:cNvSpPr>
          <p:nvPr/>
        </p:nvSpPr>
        <p:spPr>
          <a:xfrm xmlns:a="http://schemas.openxmlformats.org/drawingml/2006/main">
            <a:off x="5991225" y="4933950"/>
            <a:ext cx="247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111827"/>
                </a:solidFill>
                <a:latin typeface="Arial"/>
                <a:ea typeface="Arial"/>
                <a:cs typeface="Arial"/>
              </a:defRPr>
            </a:pPr>
            <a:r>
              <a:rPr sz="1425" b="0">
                <a:solidFill>
                  <a:srgbClr val="111827"/>
                </a:solidFill>
                <a:latin typeface="Arial"/>
                <a:ea typeface="Arial"/>
                <a:cs typeface="Arial"/>
              </a:rPr>
              <a:t>PReLU</a:t>
            </a:r>
          </a:p>
        </p:txBody>
      </p:sp>
      <p:sp>
        <p:nvSpPr>
          <p:cNvPr id="44" name="cell-3-3">
            <a:extLst xmlns:a="http://schemas.openxmlformats.org/drawingml/2006/main">
              <a:ext uri="{FF2B5EF4-FFF2-40B4-BE49-F238E27FC236}">
                <a16:creationId xmlns:a16="http://schemas.microsoft.com/office/drawing/2014/main" id="{6478CD40-1D34-4B55-93A3-B5286C207D92}"/>
              </a:ext>
            </a:extLst>
          </p:cNvPr>
          <p:cNvSpPr>
            <a:spLocks xmlns:a="http://schemas.openxmlformats.org/drawingml/2006/main" noGrp="1"/>
          </p:cNvSpPr>
          <p:nvPr/>
        </p:nvSpPr>
        <p:spPr>
          <a:xfrm xmlns:a="http://schemas.openxmlformats.org/drawingml/2006/main">
            <a:off x="8610600" y="4772025"/>
            <a:ext cx="31813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D9DEE7"/>
            </a:solidFill>
            <a:prstDash val="solid"/>
          </a:ln>
        </p:spPr>
      </p:sp>
      <p:sp>
        <p:nvSpPr>
          <p:cNvPr id="45" name="cellt-3-3">
            <a:extLst xmlns:a="http://schemas.openxmlformats.org/drawingml/2006/main">
              <a:ext uri="{FF2B5EF4-FFF2-40B4-BE49-F238E27FC236}">
                <a16:creationId xmlns:a16="http://schemas.microsoft.com/office/drawing/2014/main" id="{F20F232B-63A4-492B-B7D0-43FE8BFBA642}"/>
              </a:ext>
            </a:extLst>
          </p:cNvPr>
          <p:cNvSpPr>
            <a:spLocks xmlns:a="http://schemas.openxmlformats.org/drawingml/2006/main" noGrp="1"/>
          </p:cNvSpPr>
          <p:nvPr/>
        </p:nvSpPr>
        <p:spPr>
          <a:xfrm xmlns:a="http://schemas.openxmlformats.org/drawingml/2006/main">
            <a:off x="8753475" y="4933950"/>
            <a:ext cx="2895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111827"/>
                </a:solidFill>
                <a:latin typeface="Arial"/>
                <a:ea typeface="Arial"/>
                <a:cs typeface="Arial"/>
              </a:defRPr>
            </a:pPr>
            <a:r>
              <a:rPr sz="1425" b="0">
                <a:solidFill>
                  <a:srgbClr val="111827"/>
                </a:solidFill>
                <a:latin typeface="Arial"/>
                <a:ea typeface="Arial"/>
                <a:cs typeface="Arial"/>
              </a:rPr>
              <a:t>Historical reference condition</a:t>
            </a:r>
          </a:p>
        </p:txBody>
      </p:sp>
      <p:sp>
        <p:nvSpPr>
          <p:cNvPr id="46" name="constants">
            <a:extLst xmlns:a="http://schemas.openxmlformats.org/drawingml/2006/main">
              <a:ext uri="{FF2B5EF4-FFF2-40B4-BE49-F238E27FC236}">
                <a16:creationId xmlns:a16="http://schemas.microsoft.com/office/drawing/2014/main" id="{8D425600-FAE4-484F-AFEC-75EFB6C16DF4}"/>
              </a:ext>
            </a:extLst>
          </p:cNvPr>
          <p:cNvSpPr>
            <a:spLocks xmlns:a="http://schemas.openxmlformats.org/drawingml/2006/main" noGrp="1"/>
          </p:cNvSpPr>
          <p:nvPr/>
        </p:nvSpPr>
        <p:spPr>
          <a:xfrm xmlns:a="http://schemas.openxmlformats.org/drawingml/2006/main">
            <a:off x="523875" y="56388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0">
                <a:solidFill>
                  <a:srgbClr val="5B6472"/>
                </a:solidFill>
                <a:latin typeface="Arial"/>
                <a:ea typeface="Arial"/>
                <a:cs typeface="Arial"/>
              </a:defRPr>
            </a:pPr>
            <a:r>
              <a:rPr sz="1500" b="0">
                <a:solidFill>
                  <a:srgbClr val="5B6472"/>
                </a:solidFill>
                <a:latin typeface="Arial"/>
                <a:ea typeface="Arial"/>
                <a:cs typeface="Arial"/>
              </a:rPr>
              <a:t>Held constant: fold-specific encoder · AP/LAT fusion · 2D→3D lift · decoder skeleton · data split · loss · optimiser · seed · output processing</a:t>
            </a:r>
          </a:p>
        </p:txBody>
      </p:sp>
    </p:spTree>
    <p:extLst>
      <p:ext uri="{BB962C8B-B14F-4D97-AF65-F5344CB8AC3E}">
        <p14:creationId xmlns:p14="http://schemas.microsoft.com/office/powerpoint/2010/main" val="793927369"/>
      </p:ext>
    </p:extLst>
  </p:cSld>
</p:sld>
</file>

<file path=ppt/slides/slide12.xml><?xml version="1.0" encoding="utf-8"?>
<p:sld xmlns:p="http://schemas.openxmlformats.org/presentationml/2006/main">
  <p:cSld>
    <p:bg>
      <p:bgPr>
        <a:solidFill xmlns:a="http://schemas.openxmlformats.org/drawingml/2006/main">
          <a:srgbClr val="FBFBFA"/>
        </a:solidFill>
      </p:bgPr>
    </p:bg>
    <p:spTree>
      <p:nvGrpSpPr>
        <p:cNvPr id="1" name=""/>
        <p:cNvGrpSpPr/>
        <p:nvPr/>
      </p:nvGrpSpPr>
      <p:grpSpPr>
        <a:xfrm xmlns:a="http://schemas.openxmlformats.org/drawingml/2006/main"/>
      </p:grpSpPr>
      <p:sp>
        <p:nvSpPr>
          <p:cNvPr id="20" name="section-12">
            <a:extLst xmlns:a="http://schemas.openxmlformats.org/drawingml/2006/main">
              <a:ext uri="{FF2B5EF4-FFF2-40B4-BE49-F238E27FC236}">
                <a16:creationId xmlns:a16="http://schemas.microsoft.com/office/drawing/2014/main" id="{EB35BEA4-8433-4678-BD17-420E2E021FC6}"/>
              </a:ext>
            </a:extLst>
          </p:cNvPr>
          <p:cNvSpPr>
            <a:spLocks xmlns:a="http://schemas.openxmlformats.org/drawingml/2006/main" noGrp="1"/>
          </p:cNvSpPr>
          <p:nvPr/>
        </p:nvSpPr>
        <p:spPr>
          <a:xfrm xmlns:a="http://schemas.openxmlformats.org/drawingml/2006/main">
            <a:off x="400050" y="238125"/>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563EB"/>
                </a:solidFill>
                <a:latin typeface="Arial"/>
                <a:ea typeface="Arial"/>
                <a:cs typeface="Arial"/>
              </a:defRPr>
            </a:pPr>
            <a:r>
              <a:rPr sz="1125" b="1">
                <a:solidFill>
                  <a:srgbClr val="2563EB"/>
                </a:solidFill>
                <a:latin typeface="Arial"/>
                <a:ea typeface="Arial"/>
                <a:cs typeface="Arial"/>
              </a:rPr>
              <a:t>TECHNICAL APPROACH</a:t>
            </a:r>
          </a:p>
        </p:txBody>
      </p:sp>
      <p:sp>
        <p:nvSpPr>
          <p:cNvPr id="2" name="title-12">
            <a:extLst xmlns:a="http://schemas.openxmlformats.org/drawingml/2006/main">
              <a:ext uri="{FF2B5EF4-FFF2-40B4-BE49-F238E27FC236}">
                <a16:creationId xmlns:a16="http://schemas.microsoft.com/office/drawing/2014/main" id="{E4AB5245-5814-4685-A64A-EDC2E7B0FF33}"/>
              </a:ext>
            </a:extLst>
          </p:cNvPr>
          <p:cNvSpPr>
            <a:spLocks xmlns:a="http://schemas.openxmlformats.org/drawingml/2006/main" noGrp="1"/>
          </p:cNvSpPr>
          <p:nvPr/>
        </p:nvSpPr>
        <p:spPr>
          <a:xfrm xmlns:a="http://schemas.openxmlformats.org/drawingml/2006/main">
            <a:off x="400050" y="552450"/>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525" b="1">
                <a:solidFill>
                  <a:srgbClr val="111827"/>
                </a:solidFill>
                <a:latin typeface="Arial"/>
                <a:ea typeface="Arial"/>
                <a:cs typeface="Arial"/>
              </a:defRPr>
            </a:pPr>
            <a:r>
              <a:rPr sz="3525" b="1">
                <a:solidFill>
                  <a:srgbClr val="111827"/>
                </a:solidFill>
                <a:latin typeface="Arial"/>
                <a:ea typeface="Arial"/>
                <a:cs typeface="Arial"/>
              </a:rPr>
              <a:t>Fairness is enforced before results are compared</a:t>
            </a:r>
          </a:p>
        </p:txBody>
      </p:sp>
      <p:cxnSp>
        <p:nvCxnSpPr>
          <p:cNvPr id="22" name="rule-12"/>
          <p:cNvCxnSpPr/>
          <p:nvPr/>
        </p:nvCxnSpPr>
        <p:spPr>
          <a:xfrm xmlns:a="http://schemas.openxmlformats.org/drawingml/2006/main">
            <a:off x="400050" y="1285875"/>
            <a:ext cx="11391900" cy="0"/>
          </a:xfrm>
          <a:prstGeom xmlns:a="http://schemas.openxmlformats.org/drawingml/2006/main" prst="straightConnector1">
            <a:avLst/>
          </a:prstGeom>
          <a:ln xmlns:a="http://schemas.openxmlformats.org/drawingml/2006/main" w="9525">
            <a:solidFill>
              <a:srgbClr val="D9DEE7"/>
            </a:solidFill>
            <a:prstDash val="solid"/>
          </a:ln>
        </p:spPr>
      </p:cxnSp>
      <p:sp>
        <p:nvSpPr>
          <p:cNvPr id="4" name="source-12">
            <a:extLst xmlns:a="http://schemas.openxmlformats.org/drawingml/2006/main">
              <a:ext uri="{FF2B5EF4-FFF2-40B4-BE49-F238E27FC236}">
                <a16:creationId xmlns:a16="http://schemas.microsoft.com/office/drawing/2014/main" id="{E943E2D9-0A61-4002-AC06-074BF889C932}"/>
              </a:ext>
            </a:extLst>
          </p:cNvPr>
          <p:cNvSpPr>
            <a:spLocks xmlns:a="http://schemas.openxmlformats.org/drawingml/2006/main" noGrp="1"/>
          </p:cNvSpPr>
          <p:nvPr/>
        </p:nvSpPr>
        <p:spPr>
          <a:xfrm xmlns:a="http://schemas.openxmlformats.org/drawingml/2006/main">
            <a:off x="400050" y="6429375"/>
            <a:ext cx="381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5B6472"/>
                </a:solidFill>
                <a:latin typeface="Arial"/>
                <a:ea typeface="Arial"/>
                <a:cs typeface="Arial"/>
              </a:defRPr>
            </a:pPr>
            <a:r>
              <a:rPr sz="900" b="0">
                <a:solidFill>
                  <a:srgbClr val="5B6472"/>
                </a:solidFill>
                <a:latin typeface="Arial"/>
                <a:ea typeface="Arial"/>
                <a:cs typeface="Arial"/>
              </a:rPr>
              <a:t>Report pp. 102–105</a:t>
            </a:r>
          </a:p>
        </p:txBody>
      </p:sp>
      <p:sp>
        <p:nvSpPr>
          <p:cNvPr id="5" name="page-12">
            <a:extLst xmlns:a="http://schemas.openxmlformats.org/drawingml/2006/main">
              <a:ext uri="{FF2B5EF4-FFF2-40B4-BE49-F238E27FC236}">
                <a16:creationId xmlns:a16="http://schemas.microsoft.com/office/drawing/2014/main" id="{6E1D677D-D450-494D-A3BE-53BD27E7AF17}"/>
              </a:ext>
            </a:extLst>
          </p:cNvPr>
          <p:cNvSpPr>
            <a:spLocks xmlns:a="http://schemas.openxmlformats.org/drawingml/2006/main" noGrp="1"/>
          </p:cNvSpPr>
          <p:nvPr/>
        </p:nvSpPr>
        <p:spPr>
          <a:xfrm xmlns:a="http://schemas.openxmlformats.org/drawingml/2006/main">
            <a:off x="11239500" y="6400800"/>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050" b="0">
                <a:solidFill>
                  <a:srgbClr val="5B6472"/>
                </a:solidFill>
                <a:latin typeface="Arial"/>
                <a:ea typeface="Arial"/>
                <a:cs typeface="Arial"/>
              </a:defRPr>
            </a:pPr>
            <a:r>
              <a:rPr sz="1050" b="0">
                <a:solidFill>
                  <a:srgbClr val="5B6472"/>
                </a:solidFill>
                <a:latin typeface="Arial"/>
                <a:ea typeface="Arial"/>
                <a:cs typeface="Arial"/>
              </a:rPr>
              <a:t>12</a:t>
            </a:r>
          </a:p>
        </p:txBody>
      </p:sp>
      <p:cxnSp>
        <p:nvCxnSpPr>
          <p:cNvPr id="25" name="timeline"/>
          <p:cNvCxnSpPr/>
          <p:nvPr/>
        </p:nvCxnSpPr>
        <p:spPr>
          <a:xfrm xmlns:a="http://schemas.openxmlformats.org/drawingml/2006/main">
            <a:off x="723900" y="3276600"/>
            <a:ext cx="10744200" cy="0"/>
          </a:xfrm>
          <a:prstGeom xmlns:a="http://schemas.openxmlformats.org/drawingml/2006/main" prst="straightConnector1">
            <a:avLst/>
          </a:prstGeom>
          <a:ln xmlns:a="http://schemas.openxmlformats.org/drawingml/2006/main" w="19050">
            <a:solidFill>
              <a:srgbClr val="111827"/>
            </a:solidFill>
            <a:prstDash val="solid"/>
          </a:ln>
        </p:spPr>
      </p:cxnSp>
      <p:sp>
        <p:nvSpPr>
          <p:cNvPr id="7" name="time-dot-0">
            <a:extLst xmlns:a="http://schemas.openxmlformats.org/drawingml/2006/main">
              <a:ext uri="{FF2B5EF4-FFF2-40B4-BE49-F238E27FC236}">
                <a16:creationId xmlns:a16="http://schemas.microsoft.com/office/drawing/2014/main" id="{0F83293E-CA09-47A1-B86C-FBA5654FB75D}"/>
              </a:ext>
            </a:extLst>
          </p:cNvPr>
          <p:cNvSpPr>
            <a:spLocks xmlns:a="http://schemas.openxmlformats.org/drawingml/2006/main" noGrp="1"/>
          </p:cNvSpPr>
          <p:nvPr/>
        </p:nvSpPr>
        <p:spPr>
          <a:xfrm xmlns:a="http://schemas.openxmlformats.org/drawingml/2006/main">
            <a:off x="1238250" y="3162300"/>
            <a:ext cx="228600" cy="228600"/>
          </a:xfrm>
          <a:prstGeom xmlns:a="http://schemas.openxmlformats.org/drawingml/2006/main" prst="ellipse">
            <a:avLst/>
          </a:prstGeom>
          <a:solidFill xmlns:a="http://schemas.openxmlformats.org/drawingml/2006/main">
            <a:srgbClr val="2563EB"/>
          </a:solidFill>
          <a:ln xmlns:a="http://schemas.openxmlformats.org/drawingml/2006/main" w="28575">
            <a:solidFill>
              <a:srgbClr val="FFFFFF"/>
            </a:solidFill>
            <a:prstDash val="solid"/>
          </a:ln>
        </p:spPr>
      </p:sp>
      <p:sp>
        <p:nvSpPr>
          <p:cNvPr id="8" name="time-no-0">
            <a:extLst xmlns:a="http://schemas.openxmlformats.org/drawingml/2006/main">
              <a:ext uri="{FF2B5EF4-FFF2-40B4-BE49-F238E27FC236}">
                <a16:creationId xmlns:a16="http://schemas.microsoft.com/office/drawing/2014/main" id="{46CDB152-FB16-4174-8928-F966B50E15B2}"/>
              </a:ext>
            </a:extLst>
          </p:cNvPr>
          <p:cNvSpPr>
            <a:spLocks xmlns:a="http://schemas.openxmlformats.org/drawingml/2006/main" noGrp="1"/>
          </p:cNvSpPr>
          <p:nvPr/>
        </p:nvSpPr>
        <p:spPr>
          <a:xfrm xmlns:a="http://schemas.openxmlformats.org/drawingml/2006/main">
            <a:off x="1190625" y="2667000"/>
            <a:ext cx="762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2563EB"/>
                </a:solidFill>
                <a:latin typeface="Arial"/>
                <a:ea typeface="Arial"/>
                <a:cs typeface="Arial"/>
              </a:defRPr>
            </a:pPr>
            <a:r>
              <a:rPr sz="1350" b="1">
                <a:solidFill>
                  <a:srgbClr val="2563EB"/>
                </a:solidFill>
                <a:latin typeface="Arial"/>
                <a:ea typeface="Arial"/>
                <a:cs typeface="Arial"/>
              </a:rPr>
              <a:t>01</a:t>
            </a:r>
          </a:p>
        </p:txBody>
      </p:sp>
      <p:sp>
        <p:nvSpPr>
          <p:cNvPr id="9" name="time-h-0">
            <a:extLst xmlns:a="http://schemas.openxmlformats.org/drawingml/2006/main">
              <a:ext uri="{FF2B5EF4-FFF2-40B4-BE49-F238E27FC236}">
                <a16:creationId xmlns:a16="http://schemas.microsoft.com/office/drawing/2014/main" id="{6C4CE966-03C9-4C9E-ACDA-9E83D4FE8821}"/>
              </a:ext>
            </a:extLst>
          </p:cNvPr>
          <p:cNvSpPr>
            <a:spLocks xmlns:a="http://schemas.openxmlformats.org/drawingml/2006/main" noGrp="1"/>
          </p:cNvSpPr>
          <p:nvPr/>
        </p:nvSpPr>
        <p:spPr>
          <a:xfrm xmlns:a="http://schemas.openxmlformats.org/drawingml/2006/main">
            <a:off x="1190625" y="3714750"/>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a:solidFill>
                  <a:srgbClr val="111827"/>
                </a:solidFill>
                <a:latin typeface="Arial"/>
                <a:ea typeface="Arial"/>
                <a:cs typeface="Arial"/>
              </a:defRPr>
            </a:pPr>
            <a:r>
              <a:rPr sz="1875" b="1">
                <a:solidFill>
                  <a:srgbClr val="111827"/>
                </a:solidFill>
                <a:latin typeface="Arial"/>
                <a:ea typeface="Arial"/>
                <a:cs typeface="Arial"/>
              </a:rPr>
              <a:t>Train within fold</a:t>
            </a:r>
          </a:p>
        </p:txBody>
      </p:sp>
      <p:sp>
        <p:nvSpPr>
          <p:cNvPr id="10" name="time-b-0">
            <a:extLst xmlns:a="http://schemas.openxmlformats.org/drawingml/2006/main">
              <a:ext uri="{FF2B5EF4-FFF2-40B4-BE49-F238E27FC236}">
                <a16:creationId xmlns:a16="http://schemas.microsoft.com/office/drawing/2014/main" id="{6B4C88CD-1159-4963-B8CD-0B20EABDA191}"/>
              </a:ext>
            </a:extLst>
          </p:cNvPr>
          <p:cNvSpPr>
            <a:spLocks xmlns:a="http://schemas.openxmlformats.org/drawingml/2006/main" noGrp="1"/>
          </p:cNvSpPr>
          <p:nvPr/>
        </p:nvSpPr>
        <p:spPr>
          <a:xfrm xmlns:a="http://schemas.openxmlformats.org/drawingml/2006/main">
            <a:off x="1190625" y="4229100"/>
            <a:ext cx="29527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5B6472"/>
                </a:solidFill>
                <a:latin typeface="Arial"/>
                <a:ea typeface="Arial"/>
                <a:cs typeface="Arial"/>
              </a:defRPr>
            </a:pPr>
            <a:r>
              <a:rPr sz="1575" b="0">
                <a:solidFill>
                  <a:srgbClr val="5B6472"/>
                </a:solidFill>
                <a:latin typeface="Arial"/>
                <a:ea typeface="Arial"/>
                <a:cs typeface="Arial"/>
              </a:rPr>
              <a:t>Exclude test subjects from encoder, fusion and decoder optimisation.</a:t>
            </a:r>
          </a:p>
        </p:txBody>
      </p:sp>
      <p:sp>
        <p:nvSpPr>
          <p:cNvPr id="11" name="time-dot-1">
            <a:extLst xmlns:a="http://schemas.openxmlformats.org/drawingml/2006/main">
              <a:ext uri="{FF2B5EF4-FFF2-40B4-BE49-F238E27FC236}">
                <a16:creationId xmlns:a16="http://schemas.microsoft.com/office/drawing/2014/main" id="{AB91B8CB-81E7-4FDA-9C69-2E84A992DB8D}"/>
              </a:ext>
            </a:extLst>
          </p:cNvPr>
          <p:cNvSpPr>
            <a:spLocks xmlns:a="http://schemas.openxmlformats.org/drawingml/2006/main" noGrp="1"/>
          </p:cNvSpPr>
          <p:nvPr/>
        </p:nvSpPr>
        <p:spPr>
          <a:xfrm xmlns:a="http://schemas.openxmlformats.org/drawingml/2006/main">
            <a:off x="4953000" y="3162300"/>
            <a:ext cx="228600" cy="228600"/>
          </a:xfrm>
          <a:prstGeom xmlns:a="http://schemas.openxmlformats.org/drawingml/2006/main" prst="ellipse">
            <a:avLst/>
          </a:prstGeom>
          <a:solidFill xmlns:a="http://schemas.openxmlformats.org/drawingml/2006/main">
            <a:srgbClr val="2563EB"/>
          </a:solidFill>
          <a:ln xmlns:a="http://schemas.openxmlformats.org/drawingml/2006/main" w="28575">
            <a:solidFill>
              <a:srgbClr val="FFFFFF"/>
            </a:solidFill>
            <a:prstDash val="solid"/>
          </a:ln>
        </p:spPr>
      </p:sp>
      <p:sp>
        <p:nvSpPr>
          <p:cNvPr id="12" name="time-no-1">
            <a:extLst xmlns:a="http://schemas.openxmlformats.org/drawingml/2006/main">
              <a:ext uri="{FF2B5EF4-FFF2-40B4-BE49-F238E27FC236}">
                <a16:creationId xmlns:a16="http://schemas.microsoft.com/office/drawing/2014/main" id="{C4E5F4A2-6B83-4724-B309-4B55CC6A4282}"/>
              </a:ext>
            </a:extLst>
          </p:cNvPr>
          <p:cNvSpPr>
            <a:spLocks xmlns:a="http://schemas.openxmlformats.org/drawingml/2006/main" noGrp="1"/>
          </p:cNvSpPr>
          <p:nvPr/>
        </p:nvSpPr>
        <p:spPr>
          <a:xfrm xmlns:a="http://schemas.openxmlformats.org/drawingml/2006/main">
            <a:off x="4905375" y="2667000"/>
            <a:ext cx="762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2563EB"/>
                </a:solidFill>
                <a:latin typeface="Arial"/>
                <a:ea typeface="Arial"/>
                <a:cs typeface="Arial"/>
              </a:defRPr>
            </a:pPr>
            <a:r>
              <a:rPr sz="1350" b="1">
                <a:solidFill>
                  <a:srgbClr val="2563EB"/>
                </a:solidFill>
                <a:latin typeface="Arial"/>
                <a:ea typeface="Arial"/>
                <a:cs typeface="Arial"/>
              </a:rPr>
              <a:t>02</a:t>
            </a:r>
          </a:p>
        </p:txBody>
      </p:sp>
      <p:sp>
        <p:nvSpPr>
          <p:cNvPr id="13" name="time-h-1">
            <a:extLst xmlns:a="http://schemas.openxmlformats.org/drawingml/2006/main">
              <a:ext uri="{FF2B5EF4-FFF2-40B4-BE49-F238E27FC236}">
                <a16:creationId xmlns:a16="http://schemas.microsoft.com/office/drawing/2014/main" id="{83D70C5A-3706-4CA8-8764-82B49AC0FBD3}"/>
              </a:ext>
            </a:extLst>
          </p:cNvPr>
          <p:cNvSpPr>
            <a:spLocks xmlns:a="http://schemas.openxmlformats.org/drawingml/2006/main" noGrp="1"/>
          </p:cNvSpPr>
          <p:nvPr/>
        </p:nvSpPr>
        <p:spPr>
          <a:xfrm xmlns:a="http://schemas.openxmlformats.org/drawingml/2006/main">
            <a:off x="4905375" y="3714750"/>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a:solidFill>
                  <a:srgbClr val="111827"/>
                </a:solidFill>
                <a:latin typeface="Arial"/>
                <a:ea typeface="Arial"/>
                <a:cs typeface="Arial"/>
              </a:defRPr>
            </a:pPr>
            <a:r>
              <a:rPr sz="1875" b="1">
                <a:solidFill>
                  <a:srgbClr val="111827"/>
                </a:solidFill>
                <a:latin typeface="Arial"/>
                <a:ea typeface="Arial"/>
                <a:cs typeface="Arial"/>
              </a:rPr>
              <a:t>Freeze and match</a:t>
            </a:r>
          </a:p>
        </p:txBody>
      </p:sp>
      <p:sp>
        <p:nvSpPr>
          <p:cNvPr id="14" name="time-b-1">
            <a:extLst xmlns:a="http://schemas.openxmlformats.org/drawingml/2006/main">
              <a:ext uri="{FF2B5EF4-FFF2-40B4-BE49-F238E27FC236}">
                <a16:creationId xmlns:a16="http://schemas.microsoft.com/office/drawing/2014/main" id="{85A87165-5B14-4750-A63B-EE4A759EA9F2}"/>
              </a:ext>
            </a:extLst>
          </p:cNvPr>
          <p:cNvSpPr>
            <a:spLocks xmlns:a="http://schemas.openxmlformats.org/drawingml/2006/main" noGrp="1"/>
          </p:cNvSpPr>
          <p:nvPr/>
        </p:nvSpPr>
        <p:spPr>
          <a:xfrm xmlns:a="http://schemas.openxmlformats.org/drawingml/2006/main">
            <a:off x="4905375" y="4229100"/>
            <a:ext cx="29527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5B6472"/>
                </a:solidFill>
                <a:latin typeface="Arial"/>
                <a:ea typeface="Arial"/>
                <a:cs typeface="Arial"/>
              </a:defRPr>
            </a:pPr>
            <a:r>
              <a:rPr sz="1575" b="0">
                <a:solidFill>
                  <a:srgbClr val="5B6472"/>
                </a:solidFill>
                <a:latin typeface="Arial"/>
                <a:ea typeface="Arial"/>
                <a:cs typeface="Arial"/>
              </a:rPr>
              <a:t>Same front-end hash, initial state, loss, optimiser, seed and schedule.</a:t>
            </a:r>
          </a:p>
        </p:txBody>
      </p:sp>
      <p:sp>
        <p:nvSpPr>
          <p:cNvPr id="15" name="time-dot-2">
            <a:extLst xmlns:a="http://schemas.openxmlformats.org/drawingml/2006/main">
              <a:ext uri="{FF2B5EF4-FFF2-40B4-BE49-F238E27FC236}">
                <a16:creationId xmlns:a16="http://schemas.microsoft.com/office/drawing/2014/main" id="{C2C9E9BA-1A09-4A77-BF6E-235F331EB913}"/>
              </a:ext>
            </a:extLst>
          </p:cNvPr>
          <p:cNvSpPr>
            <a:spLocks xmlns:a="http://schemas.openxmlformats.org/drawingml/2006/main" noGrp="1"/>
          </p:cNvSpPr>
          <p:nvPr/>
        </p:nvSpPr>
        <p:spPr>
          <a:xfrm xmlns:a="http://schemas.openxmlformats.org/drawingml/2006/main">
            <a:off x="8667750" y="3162300"/>
            <a:ext cx="228600" cy="228600"/>
          </a:xfrm>
          <a:prstGeom xmlns:a="http://schemas.openxmlformats.org/drawingml/2006/main" prst="ellipse">
            <a:avLst/>
          </a:prstGeom>
          <a:solidFill xmlns:a="http://schemas.openxmlformats.org/drawingml/2006/main">
            <a:srgbClr val="0F766E"/>
          </a:solidFill>
          <a:ln xmlns:a="http://schemas.openxmlformats.org/drawingml/2006/main" w="28575">
            <a:solidFill>
              <a:srgbClr val="FFFFFF"/>
            </a:solidFill>
            <a:prstDash val="solid"/>
          </a:ln>
        </p:spPr>
      </p:sp>
      <p:sp>
        <p:nvSpPr>
          <p:cNvPr id="16" name="time-no-2">
            <a:extLst xmlns:a="http://schemas.openxmlformats.org/drawingml/2006/main">
              <a:ext uri="{FF2B5EF4-FFF2-40B4-BE49-F238E27FC236}">
                <a16:creationId xmlns:a16="http://schemas.microsoft.com/office/drawing/2014/main" id="{C8FAF714-B3F6-45FE-8516-A39AC92DA4A1}"/>
              </a:ext>
            </a:extLst>
          </p:cNvPr>
          <p:cNvSpPr>
            <a:spLocks xmlns:a="http://schemas.openxmlformats.org/drawingml/2006/main" noGrp="1"/>
          </p:cNvSpPr>
          <p:nvPr/>
        </p:nvSpPr>
        <p:spPr>
          <a:xfrm xmlns:a="http://schemas.openxmlformats.org/drawingml/2006/main">
            <a:off x="8620125" y="2667000"/>
            <a:ext cx="762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2563EB"/>
                </a:solidFill>
                <a:latin typeface="Arial"/>
                <a:ea typeface="Arial"/>
                <a:cs typeface="Arial"/>
              </a:defRPr>
            </a:pPr>
            <a:r>
              <a:rPr sz="1350" b="1">
                <a:solidFill>
                  <a:srgbClr val="2563EB"/>
                </a:solidFill>
                <a:latin typeface="Arial"/>
                <a:ea typeface="Arial"/>
                <a:cs typeface="Arial"/>
              </a:rPr>
              <a:t>03</a:t>
            </a:r>
          </a:p>
        </p:txBody>
      </p:sp>
      <p:sp>
        <p:nvSpPr>
          <p:cNvPr id="17" name="time-h-2">
            <a:extLst xmlns:a="http://schemas.openxmlformats.org/drawingml/2006/main">
              <a:ext uri="{FF2B5EF4-FFF2-40B4-BE49-F238E27FC236}">
                <a16:creationId xmlns:a16="http://schemas.microsoft.com/office/drawing/2014/main" id="{3D6E946B-3A09-41F4-926E-E4ABE22F9DBB}"/>
              </a:ext>
            </a:extLst>
          </p:cNvPr>
          <p:cNvSpPr>
            <a:spLocks xmlns:a="http://schemas.openxmlformats.org/drawingml/2006/main" noGrp="1"/>
          </p:cNvSpPr>
          <p:nvPr/>
        </p:nvSpPr>
        <p:spPr>
          <a:xfrm xmlns:a="http://schemas.openxmlformats.org/drawingml/2006/main">
            <a:off x="8620125" y="3714750"/>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a:solidFill>
                  <a:srgbClr val="111827"/>
                </a:solidFill>
                <a:latin typeface="Arial"/>
                <a:ea typeface="Arial"/>
                <a:cs typeface="Arial"/>
              </a:defRPr>
            </a:pPr>
            <a:r>
              <a:rPr sz="1875" b="1">
                <a:solidFill>
                  <a:srgbClr val="111827"/>
                </a:solidFill>
                <a:latin typeface="Arial"/>
                <a:ea typeface="Arial"/>
                <a:cs typeface="Arial"/>
              </a:rPr>
              <a:t>Evaluate out of fold</a:t>
            </a:r>
          </a:p>
        </p:txBody>
      </p:sp>
      <p:sp>
        <p:nvSpPr>
          <p:cNvPr id="18" name="time-b-2">
            <a:extLst xmlns:a="http://schemas.openxmlformats.org/drawingml/2006/main">
              <a:ext uri="{FF2B5EF4-FFF2-40B4-BE49-F238E27FC236}">
                <a16:creationId xmlns:a16="http://schemas.microsoft.com/office/drawing/2014/main" id="{78683A10-461D-42CB-9C6F-B4BF7F88F7C1}"/>
              </a:ext>
            </a:extLst>
          </p:cNvPr>
          <p:cNvSpPr>
            <a:spLocks xmlns:a="http://schemas.openxmlformats.org/drawingml/2006/main" noGrp="1"/>
          </p:cNvSpPr>
          <p:nvPr/>
        </p:nvSpPr>
        <p:spPr>
          <a:xfrm xmlns:a="http://schemas.openxmlformats.org/drawingml/2006/main">
            <a:off x="8620125" y="4229100"/>
            <a:ext cx="29527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5B6472"/>
                </a:solidFill>
                <a:latin typeface="Arial"/>
                <a:ea typeface="Arial"/>
                <a:cs typeface="Arial"/>
              </a:defRPr>
            </a:pPr>
            <a:r>
              <a:rPr sz="1575" b="0">
                <a:solidFill>
                  <a:srgbClr val="5B6472"/>
                </a:solidFill>
                <a:latin typeface="Arial"/>
                <a:ea typeface="Arial"/>
                <a:cs typeface="Arial"/>
              </a:rPr>
              <a:t>20 runs → 71 knees per arm → 43 subject-level comparisons.</a:t>
            </a:r>
          </a:p>
        </p:txBody>
      </p:sp>
      <p:sp>
        <p:nvSpPr>
          <p:cNvPr id="19" name="metrics-line">
            <a:extLst xmlns:a="http://schemas.openxmlformats.org/drawingml/2006/main">
              <a:ext uri="{FF2B5EF4-FFF2-40B4-BE49-F238E27FC236}">
                <a16:creationId xmlns:a16="http://schemas.microsoft.com/office/drawing/2014/main" id="{218F428E-E452-44FA-94D3-368793168251}"/>
              </a:ext>
            </a:extLst>
          </p:cNvPr>
          <p:cNvSpPr>
            <a:spLocks xmlns:a="http://schemas.openxmlformats.org/drawingml/2006/main" noGrp="1"/>
          </p:cNvSpPr>
          <p:nvPr/>
        </p:nvSpPr>
        <p:spPr>
          <a:xfrm xmlns:a="http://schemas.openxmlformats.org/drawingml/2006/main">
            <a:off x="733425" y="5600700"/>
            <a:ext cx="107251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75" b="1">
                <a:solidFill>
                  <a:srgbClr val="0F766E"/>
                </a:solidFill>
                <a:latin typeface="Arial"/>
                <a:ea typeface="Arial"/>
                <a:cs typeface="Arial"/>
              </a:defRPr>
            </a:pPr>
            <a:r>
              <a:rPr sz="1575" b="1">
                <a:solidFill>
                  <a:srgbClr val="0F766E"/>
                </a:solidFill>
                <a:latin typeface="Arial"/>
                <a:ea typeface="Arial"/>
                <a:cs typeface="Arial"/>
              </a:rPr>
              <a:t>Primary evidence: Dice (overlap) + ASSD in mm (surface) + bone/cohort breakdown + explicit empty-prediction penalties</a:t>
            </a:r>
          </a:p>
        </p:txBody>
      </p:sp>
    </p:spTree>
    <p:extLst>
      <p:ext uri="{BB962C8B-B14F-4D97-AF65-F5344CB8AC3E}">
        <p14:creationId xmlns:p14="http://schemas.microsoft.com/office/powerpoint/2010/main" val="181491936"/>
      </p:ext>
    </p:extLst>
  </p:cSld>
</p:sld>
</file>

<file path=ppt/slides/slide13.xml><?xml version="1.0" encoding="utf-8"?>
<p:sld xmlns:p="http://schemas.openxmlformats.org/presentationml/2006/main">
  <p:cSld>
    <p:bg>
      <p:bgPr>
        <a:solidFill xmlns:a="http://schemas.openxmlformats.org/drawingml/2006/main">
          <a:srgbClr val="FBFBFA"/>
        </a:solidFill>
      </p:bgPr>
    </p:bg>
    <p:spTree>
      <p:nvGrpSpPr>
        <p:cNvPr id="1" name=""/>
        <p:cNvGrpSpPr/>
        <p:nvPr/>
      </p:nvGrpSpPr>
      <p:grpSpPr>
        <a:xfrm xmlns:a="http://schemas.openxmlformats.org/drawingml/2006/main"/>
      </p:grpSpPr>
      <p:sp>
        <p:nvSpPr>
          <p:cNvPr id="13" name="section-13">
            <a:extLst xmlns:a="http://schemas.openxmlformats.org/drawingml/2006/main">
              <a:ext uri="{FF2B5EF4-FFF2-40B4-BE49-F238E27FC236}">
                <a16:creationId xmlns:a16="http://schemas.microsoft.com/office/drawing/2014/main" id="{928209DB-351F-4FBF-B801-51746125BAD6}"/>
              </a:ext>
            </a:extLst>
          </p:cNvPr>
          <p:cNvSpPr>
            <a:spLocks xmlns:a="http://schemas.openxmlformats.org/drawingml/2006/main" noGrp="1"/>
          </p:cNvSpPr>
          <p:nvPr/>
        </p:nvSpPr>
        <p:spPr>
          <a:xfrm xmlns:a="http://schemas.openxmlformats.org/drawingml/2006/main">
            <a:off x="400050" y="238125"/>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563EB"/>
                </a:solidFill>
                <a:latin typeface="Arial"/>
                <a:ea typeface="Arial"/>
                <a:cs typeface="Arial"/>
              </a:defRPr>
            </a:pPr>
            <a:r>
              <a:rPr sz="1125" b="1">
                <a:solidFill>
                  <a:srgbClr val="2563EB"/>
                </a:solidFill>
                <a:latin typeface="Arial"/>
                <a:ea typeface="Arial"/>
                <a:cs typeface="Arial"/>
              </a:rPr>
              <a:t>CRITICAL THINKING</a:t>
            </a:r>
          </a:p>
        </p:txBody>
      </p:sp>
      <p:sp>
        <p:nvSpPr>
          <p:cNvPr id="2" name="title-13">
            <a:extLst xmlns:a="http://schemas.openxmlformats.org/drawingml/2006/main">
              <a:ext uri="{FF2B5EF4-FFF2-40B4-BE49-F238E27FC236}">
                <a16:creationId xmlns:a16="http://schemas.microsoft.com/office/drawing/2014/main" id="{2A420A14-3C52-4567-8DE5-83BEE8FC92DF}"/>
              </a:ext>
            </a:extLst>
          </p:cNvPr>
          <p:cNvSpPr>
            <a:spLocks xmlns:a="http://schemas.openxmlformats.org/drawingml/2006/main" noGrp="1"/>
          </p:cNvSpPr>
          <p:nvPr/>
        </p:nvSpPr>
        <p:spPr>
          <a:xfrm xmlns:a="http://schemas.openxmlformats.org/drawingml/2006/main">
            <a:off x="400050" y="552450"/>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525" b="1">
                <a:solidFill>
                  <a:srgbClr val="111827"/>
                </a:solidFill>
                <a:latin typeface="Arial"/>
                <a:ea typeface="Arial"/>
                <a:cs typeface="Arial"/>
              </a:defRPr>
            </a:pPr>
            <a:r>
              <a:rPr sz="3525" b="1">
                <a:solidFill>
                  <a:srgbClr val="111827"/>
                </a:solidFill>
                <a:latin typeface="Arial"/>
                <a:ea typeface="Arial"/>
                <a:cs typeface="Arial"/>
              </a:rPr>
              <a:t>The shared front end was fair—but small bones set the ceiling</a:t>
            </a:r>
          </a:p>
        </p:txBody>
      </p:sp>
      <p:cxnSp>
        <p:nvCxnSpPr>
          <p:cNvPr id="15" name="rule-13"/>
          <p:cNvCxnSpPr/>
          <p:nvPr/>
        </p:nvCxnSpPr>
        <p:spPr>
          <a:xfrm xmlns:a="http://schemas.openxmlformats.org/drawingml/2006/main">
            <a:off x="400050" y="1285875"/>
            <a:ext cx="11391900" cy="0"/>
          </a:xfrm>
          <a:prstGeom xmlns:a="http://schemas.openxmlformats.org/drawingml/2006/main" prst="straightConnector1">
            <a:avLst/>
          </a:prstGeom>
          <a:ln xmlns:a="http://schemas.openxmlformats.org/drawingml/2006/main" w="9525">
            <a:solidFill>
              <a:srgbClr val="D9DEE7"/>
            </a:solidFill>
            <a:prstDash val="solid"/>
          </a:ln>
        </p:spPr>
      </p:cxnSp>
      <p:sp>
        <p:nvSpPr>
          <p:cNvPr id="4" name="source-13">
            <a:extLst xmlns:a="http://schemas.openxmlformats.org/drawingml/2006/main">
              <a:ext uri="{FF2B5EF4-FFF2-40B4-BE49-F238E27FC236}">
                <a16:creationId xmlns:a16="http://schemas.microsoft.com/office/drawing/2014/main" id="{C329A745-4F16-4710-AA8F-A1D670ACEE68}"/>
              </a:ext>
            </a:extLst>
          </p:cNvPr>
          <p:cNvSpPr>
            <a:spLocks xmlns:a="http://schemas.openxmlformats.org/drawingml/2006/main" noGrp="1"/>
          </p:cNvSpPr>
          <p:nvPr/>
        </p:nvSpPr>
        <p:spPr>
          <a:xfrm xmlns:a="http://schemas.openxmlformats.org/drawingml/2006/main">
            <a:off x="400050" y="6429375"/>
            <a:ext cx="381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5B6472"/>
                </a:solidFill>
                <a:latin typeface="Arial"/>
                <a:ea typeface="Arial"/>
                <a:cs typeface="Arial"/>
              </a:defRPr>
            </a:pPr>
            <a:r>
              <a:rPr sz="900" b="0">
                <a:solidFill>
                  <a:srgbClr val="5B6472"/>
                </a:solidFill>
                <a:latin typeface="Arial"/>
                <a:ea typeface="Arial"/>
                <a:cs typeface="Arial"/>
              </a:rPr>
              <a:t>Report pp. 114–120</a:t>
            </a:r>
          </a:p>
        </p:txBody>
      </p:sp>
      <p:sp>
        <p:nvSpPr>
          <p:cNvPr id="5" name="page-13">
            <a:extLst xmlns:a="http://schemas.openxmlformats.org/drawingml/2006/main">
              <a:ext uri="{FF2B5EF4-FFF2-40B4-BE49-F238E27FC236}">
                <a16:creationId xmlns:a16="http://schemas.microsoft.com/office/drawing/2014/main" id="{A9F3A96E-DE7D-4D9E-952D-D1FDDE5C5CFE}"/>
              </a:ext>
            </a:extLst>
          </p:cNvPr>
          <p:cNvSpPr>
            <a:spLocks xmlns:a="http://schemas.openxmlformats.org/drawingml/2006/main" noGrp="1"/>
          </p:cNvSpPr>
          <p:nvPr/>
        </p:nvSpPr>
        <p:spPr>
          <a:xfrm xmlns:a="http://schemas.openxmlformats.org/drawingml/2006/main">
            <a:off x="11239500" y="6400800"/>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050" b="0">
                <a:solidFill>
                  <a:srgbClr val="5B6472"/>
                </a:solidFill>
                <a:latin typeface="Arial"/>
                <a:ea typeface="Arial"/>
                <a:cs typeface="Arial"/>
              </a:defRPr>
            </a:pPr>
            <a:r>
              <a:rPr sz="1050" b="0">
                <a:solidFill>
                  <a:srgbClr val="5B6472"/>
                </a:solidFill>
                <a:latin typeface="Arial"/>
                <a:ea typeface="Arial"/>
                <a:cs typeface="Arial"/>
              </a:rPr>
              <a:t>13</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696140a27113452f"/>
          <a:stretch xmlns:a="http://schemas.openxmlformats.org/drawingml/2006/main"/>
        </p:blipFill>
        <p:spPr>
          <a:xfrm xmlns:a="http://schemas.openxmlformats.org/drawingml/2006/main">
            <a:off x="400050" y="1852565"/>
            <a:ext cx="7019925" cy="2543271"/>
          </a:xfrm>
          <a:prstGeom xmlns:a="http://schemas.openxmlformats.org/drawingml/2006/main" prst="roundRect">
            <a:avLst>
              <a:gd name="adj" fmla="val 4000"/>
            </a:avLst>
          </a:prstGeom>
        </p:spPr>
      </p:pic>
      <p:sp>
        <p:nvSpPr>
          <p:cNvPr id="7" name="bridge-panel">
            <a:extLst xmlns:a="http://schemas.openxmlformats.org/drawingml/2006/main">
              <a:ext uri="{FF2B5EF4-FFF2-40B4-BE49-F238E27FC236}">
                <a16:creationId xmlns:a16="http://schemas.microsoft.com/office/drawing/2014/main" id="{348ACED7-E9A9-4AAA-8AE9-6C977A072CF2}"/>
              </a:ext>
            </a:extLst>
          </p:cNvPr>
          <p:cNvSpPr>
            <a:spLocks xmlns:a="http://schemas.openxmlformats.org/drawingml/2006/main" noGrp="1"/>
          </p:cNvSpPr>
          <p:nvPr/>
        </p:nvSpPr>
        <p:spPr>
          <a:xfrm xmlns:a="http://schemas.openxmlformats.org/drawingml/2006/main">
            <a:off x="7848600" y="1695450"/>
            <a:ext cx="3943350" cy="1657350"/>
          </a:xfrm>
          <a:prstGeom xmlns:a="http://schemas.openxmlformats.org/drawingml/2006/main" prst="roundRect">
            <a:avLst>
              <a:gd name="adj" fmla="val 6897"/>
            </a:avLst>
          </a:prstGeom>
          <a:solidFill xmlns:a="http://schemas.openxmlformats.org/drawingml/2006/main">
            <a:srgbClr val="F1F3F6"/>
          </a:solidFill>
          <a:ln xmlns:a="http://schemas.openxmlformats.org/drawingml/2006/main" w="0">
            <a:noFill/>
            <a:prstDash val="solid"/>
          </a:ln>
        </p:spPr>
      </p:sp>
      <p:sp>
        <p:nvSpPr>
          <p:cNvPr id="8" name="bridge-value">
            <a:extLst xmlns:a="http://schemas.openxmlformats.org/drawingml/2006/main">
              <a:ext uri="{FF2B5EF4-FFF2-40B4-BE49-F238E27FC236}">
                <a16:creationId xmlns:a16="http://schemas.microsoft.com/office/drawing/2014/main" id="{322329CA-32F5-40B1-B2B9-9C04D5777335}"/>
              </a:ext>
            </a:extLst>
          </p:cNvPr>
          <p:cNvSpPr>
            <a:spLocks xmlns:a="http://schemas.openxmlformats.org/drawingml/2006/main" noGrp="1"/>
          </p:cNvSpPr>
          <p:nvPr/>
        </p:nvSpPr>
        <p:spPr>
          <a:xfrm xmlns:a="http://schemas.openxmlformats.org/drawingml/2006/main">
            <a:off x="8058150" y="1905000"/>
            <a:ext cx="3524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600" b="1">
                <a:solidFill>
                  <a:srgbClr val="2563EB"/>
                </a:solidFill>
                <a:latin typeface="Arial"/>
                <a:ea typeface="Arial"/>
                <a:cs typeface="Arial"/>
              </a:defRPr>
            </a:pPr>
            <a:r>
              <a:rPr sz="3600" b="1">
                <a:solidFill>
                  <a:srgbClr val="2563EB"/>
                </a:solidFill>
                <a:latin typeface="Arial"/>
                <a:ea typeface="Arial"/>
                <a:cs typeface="Arial"/>
              </a:rPr>
              <a:t>0.574</a:t>
            </a:r>
          </a:p>
        </p:txBody>
      </p:sp>
      <p:sp>
        <p:nvSpPr>
          <p:cNvPr id="9" name="bridge-label">
            <a:extLst xmlns:a="http://schemas.openxmlformats.org/drawingml/2006/main">
              <a:ext uri="{FF2B5EF4-FFF2-40B4-BE49-F238E27FC236}">
                <a16:creationId xmlns:a16="http://schemas.microsoft.com/office/drawing/2014/main" id="{21FA2B6A-C8E8-448A-9EA7-A238B4085743}"/>
              </a:ext>
            </a:extLst>
          </p:cNvPr>
          <p:cNvSpPr>
            <a:spLocks xmlns:a="http://schemas.openxmlformats.org/drawingml/2006/main" noGrp="1"/>
          </p:cNvSpPr>
          <p:nvPr/>
        </p:nvSpPr>
        <p:spPr>
          <a:xfrm xmlns:a="http://schemas.openxmlformats.org/drawingml/2006/main">
            <a:off x="8058150" y="2657475"/>
            <a:ext cx="3524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5B6472"/>
                </a:solidFill>
                <a:latin typeface="Arial"/>
                <a:ea typeface="Arial"/>
                <a:cs typeface="Arial"/>
              </a:defRPr>
            </a:pPr>
            <a:r>
              <a:rPr sz="1500" b="0">
                <a:solidFill>
                  <a:srgbClr val="5B6472"/>
                </a:solidFill>
                <a:latin typeface="Arial"/>
                <a:ea typeface="Arial"/>
                <a:cs typeface="Arial"/>
              </a:rPr>
              <a:t>best validation macro-Dice</a:t>
            </a:r>
          </a:p>
        </p:txBody>
      </p:sp>
      <p:sp>
        <p:nvSpPr>
          <p:cNvPr id="10" name="front-end-detail">
            <a:extLst xmlns:a="http://schemas.openxmlformats.org/drawingml/2006/main">
              <a:ext uri="{FF2B5EF4-FFF2-40B4-BE49-F238E27FC236}">
                <a16:creationId xmlns:a16="http://schemas.microsoft.com/office/drawing/2014/main" id="{90EEF1B9-F0BA-4B00-AB0E-4782E11BDF88}"/>
              </a:ext>
            </a:extLst>
          </p:cNvPr>
          <p:cNvSpPr>
            <a:spLocks xmlns:a="http://schemas.openxmlformats.org/drawingml/2006/main" noGrp="1"/>
          </p:cNvSpPr>
          <p:nvPr/>
        </p:nvSpPr>
        <p:spPr>
          <a:xfrm xmlns:a="http://schemas.openxmlformats.org/drawingml/2006/main">
            <a:off x="7848600" y="3695700"/>
            <a:ext cx="39433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75" b="1">
                <a:solidFill>
                  <a:srgbClr val="111827"/>
                </a:solidFill>
                <a:latin typeface="Arial"/>
                <a:ea typeface="Arial"/>
                <a:cs typeface="Arial"/>
              </a:defRPr>
            </a:pPr>
            <a:r>
              <a:rPr sz="1875" b="1">
                <a:solidFill>
                  <a:srgbClr val="111827"/>
                </a:solidFill>
                <a:latin typeface="Arial"/>
                <a:ea typeface="Arial"/>
                <a:cs typeface="Arial"/>
              </a:rPr>
              <a:t>Femur 0.732  ·  Tibia 0.676</a:t>
            </a:r>
          </a:p>
          <a:p xmlns:a="http://schemas.openxmlformats.org/drawingml/2006/main">
            <a:pPr algn="ctr">
              <a:defRPr sz="1875" b="1">
                <a:solidFill>
                  <a:srgbClr val="111827"/>
                </a:solidFill>
                <a:latin typeface="Arial"/>
                <a:ea typeface="Arial"/>
                <a:cs typeface="Arial"/>
              </a:defRPr>
            </a:pPr>
            <a:r>
              <a:rPr sz="1875" b="1">
                <a:solidFill>
                  <a:srgbClr val="111827"/>
                </a:solidFill>
                <a:latin typeface="Arial"/>
                <a:ea typeface="Arial"/>
                <a:cs typeface="Arial"/>
              </a:rPr>
              <a:t>Patella 0.529  ·  Fibula 0.359</a:t>
            </a:r>
          </a:p>
        </p:txBody>
      </p:sp>
      <p:sp>
        <p:nvSpPr>
          <p:cNvPr id="11" name="front-end-meaning">
            <a:extLst xmlns:a="http://schemas.openxmlformats.org/drawingml/2006/main">
              <a:ext uri="{FF2B5EF4-FFF2-40B4-BE49-F238E27FC236}">
                <a16:creationId xmlns:a16="http://schemas.microsoft.com/office/drawing/2014/main" id="{AE6747CC-DBB8-48A2-9798-5219D6185929}"/>
              </a:ext>
            </a:extLst>
          </p:cNvPr>
          <p:cNvSpPr>
            <a:spLocks xmlns:a="http://schemas.openxmlformats.org/drawingml/2006/main" noGrp="1"/>
          </p:cNvSpPr>
          <p:nvPr/>
        </p:nvSpPr>
        <p:spPr>
          <a:xfrm xmlns:a="http://schemas.openxmlformats.org/drawingml/2006/main">
            <a:off x="762000" y="5019675"/>
            <a:ext cx="10668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75" b="0">
                <a:solidFill>
                  <a:srgbClr val="5B6472"/>
                </a:solidFill>
                <a:latin typeface="Arial"/>
                <a:ea typeface="Arial"/>
                <a:cs typeface="Arial"/>
              </a:defRPr>
            </a:pPr>
            <a:r>
              <a:rPr sz="1875" b="0">
                <a:solidFill>
                  <a:srgbClr val="5B6472"/>
                </a:solidFill>
                <a:latin typeface="Arial"/>
                <a:ea typeface="Arial"/>
                <a:cs typeface="Arial"/>
              </a:rPr>
              <a:t>The same size-dependent hierarchy later appears in every decoder—evidence of a pipeline-level limit, not a decoder-only defect.</a:t>
            </a:r>
          </a:p>
        </p:txBody>
      </p:sp>
      <p:sp>
        <p:nvSpPr>
          <p:cNvPr id="12" name="front-end-caveat">
            <a:extLst xmlns:a="http://schemas.openxmlformats.org/drawingml/2006/main">
              <a:ext uri="{FF2B5EF4-FFF2-40B4-BE49-F238E27FC236}">
                <a16:creationId xmlns:a16="http://schemas.microsoft.com/office/drawing/2014/main" id="{91B9EDAC-7942-4CB0-A4DF-DDB139F089E4}"/>
              </a:ext>
            </a:extLst>
          </p:cNvPr>
          <p:cNvSpPr>
            <a:spLocks xmlns:a="http://schemas.openxmlformats.org/drawingml/2006/main" noGrp="1"/>
          </p:cNvSpPr>
          <p:nvPr/>
        </p:nvSpPr>
        <p:spPr>
          <a:xfrm xmlns:a="http://schemas.openxmlformats.org/drawingml/2006/main">
            <a:off x="3009900" y="5876925"/>
            <a:ext cx="619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725" b="1">
                <a:solidFill>
                  <a:srgbClr val="B91C1C"/>
                </a:solidFill>
                <a:latin typeface="Arial"/>
                <a:ea typeface="Arial"/>
                <a:cs typeface="Arial"/>
              </a:defRPr>
            </a:pPr>
            <a:r>
              <a:rPr sz="1725" b="1">
                <a:solidFill>
                  <a:srgbClr val="B91C1C"/>
                </a:solidFill>
                <a:latin typeface="Arial"/>
                <a:ea typeface="Arial"/>
                <a:cs typeface="Arial"/>
              </a:rPr>
              <a:t>Fair representation ≠ high-quality representation</a:t>
            </a:r>
          </a:p>
        </p:txBody>
      </p:sp>
    </p:spTree>
    <p:extLst>
      <p:ext uri="{BB962C8B-B14F-4D97-AF65-F5344CB8AC3E}">
        <p14:creationId xmlns:p14="http://schemas.microsoft.com/office/powerpoint/2010/main" val="1856648085"/>
      </p:ext>
    </p:extLst>
  </p:cSld>
</p:sld>
</file>

<file path=ppt/slides/slide14.xml><?xml version="1.0" encoding="utf-8"?>
<p:sld xmlns:p="http://schemas.openxmlformats.org/presentationml/2006/main">
  <p:cSld>
    <p:bg>
      <p:bgPr>
        <a:solidFill xmlns:a="http://schemas.openxmlformats.org/drawingml/2006/main">
          <a:srgbClr val="FBFBFA"/>
        </a:solidFill>
      </p:bgPr>
    </p:bg>
    <p:spTree>
      <p:nvGrpSpPr>
        <p:cNvPr id="1" name=""/>
        <p:cNvGrpSpPr/>
        <p:nvPr/>
      </p:nvGrpSpPr>
      <p:grpSpPr>
        <a:xfrm xmlns:a="http://schemas.openxmlformats.org/drawingml/2006/main"/>
      </p:grpSpPr>
      <p:sp>
        <p:nvSpPr>
          <p:cNvPr id="14" name="section-14">
            <a:extLst xmlns:a="http://schemas.openxmlformats.org/drawingml/2006/main">
              <a:ext uri="{FF2B5EF4-FFF2-40B4-BE49-F238E27FC236}">
                <a16:creationId xmlns:a16="http://schemas.microsoft.com/office/drawing/2014/main" id="{0B6E1CC4-FE68-4C6C-8212-D8F954237218}"/>
              </a:ext>
            </a:extLst>
          </p:cNvPr>
          <p:cNvSpPr>
            <a:spLocks xmlns:a="http://schemas.openxmlformats.org/drawingml/2006/main" noGrp="1"/>
          </p:cNvSpPr>
          <p:nvPr/>
        </p:nvSpPr>
        <p:spPr>
          <a:xfrm xmlns:a="http://schemas.openxmlformats.org/drawingml/2006/main">
            <a:off x="400050" y="238125"/>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563EB"/>
                </a:solidFill>
                <a:latin typeface="Arial"/>
                <a:ea typeface="Arial"/>
                <a:cs typeface="Arial"/>
              </a:defRPr>
            </a:pPr>
            <a:r>
              <a:rPr sz="1125" b="1">
                <a:solidFill>
                  <a:srgbClr val="2563EB"/>
                </a:solidFill>
                <a:latin typeface="Arial"/>
                <a:ea typeface="Arial"/>
                <a:cs typeface="Arial"/>
              </a:rPr>
              <a:t>CRITICAL THINKING</a:t>
            </a:r>
          </a:p>
        </p:txBody>
      </p:sp>
      <p:sp>
        <p:nvSpPr>
          <p:cNvPr id="2" name="title-14">
            <a:extLst xmlns:a="http://schemas.openxmlformats.org/drawingml/2006/main">
              <a:ext uri="{FF2B5EF4-FFF2-40B4-BE49-F238E27FC236}">
                <a16:creationId xmlns:a16="http://schemas.microsoft.com/office/drawing/2014/main" id="{36CA73BD-F4C1-45F2-9F38-FB954EDCD914}"/>
              </a:ext>
            </a:extLst>
          </p:cNvPr>
          <p:cNvSpPr>
            <a:spLocks xmlns:a="http://schemas.openxmlformats.org/drawingml/2006/main" noGrp="1"/>
          </p:cNvSpPr>
          <p:nvPr/>
        </p:nvSpPr>
        <p:spPr>
          <a:xfrm xmlns:a="http://schemas.openxmlformats.org/drawingml/2006/main">
            <a:off x="400050" y="552450"/>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525" b="1">
                <a:solidFill>
                  <a:srgbClr val="111827"/>
                </a:solidFill>
                <a:latin typeface="Arial"/>
                <a:ea typeface="Arial"/>
                <a:cs typeface="Arial"/>
              </a:defRPr>
            </a:pPr>
            <a:r>
              <a:rPr sz="3525" b="1">
                <a:solidFill>
                  <a:srgbClr val="111827"/>
                </a:solidFill>
                <a:latin typeface="Arial"/>
                <a:ea typeface="Arial"/>
                <a:cs typeface="Arial"/>
              </a:rPr>
              <a:t>Residual-ReLU leads the controlled decoder test</a:t>
            </a:r>
          </a:p>
        </p:txBody>
      </p:sp>
      <p:cxnSp>
        <p:nvCxnSpPr>
          <p:cNvPr id="16" name="rule-14"/>
          <p:cNvCxnSpPr/>
          <p:nvPr/>
        </p:nvCxnSpPr>
        <p:spPr>
          <a:xfrm xmlns:a="http://schemas.openxmlformats.org/drawingml/2006/main">
            <a:off x="400050" y="1285875"/>
            <a:ext cx="11391900" cy="0"/>
          </a:xfrm>
          <a:prstGeom xmlns:a="http://schemas.openxmlformats.org/drawingml/2006/main" prst="straightConnector1">
            <a:avLst/>
          </a:prstGeom>
          <a:ln xmlns:a="http://schemas.openxmlformats.org/drawingml/2006/main" w="9525">
            <a:solidFill>
              <a:srgbClr val="D9DEE7"/>
            </a:solidFill>
            <a:prstDash val="solid"/>
          </a:ln>
        </p:spPr>
      </p:cxnSp>
      <p:sp>
        <p:nvSpPr>
          <p:cNvPr id="4" name="source-14">
            <a:extLst xmlns:a="http://schemas.openxmlformats.org/drawingml/2006/main">
              <a:ext uri="{FF2B5EF4-FFF2-40B4-BE49-F238E27FC236}">
                <a16:creationId xmlns:a16="http://schemas.microsoft.com/office/drawing/2014/main" id="{91E728A9-0944-454C-8D65-245753F38CC5}"/>
              </a:ext>
            </a:extLst>
          </p:cNvPr>
          <p:cNvSpPr>
            <a:spLocks xmlns:a="http://schemas.openxmlformats.org/drawingml/2006/main" noGrp="1"/>
          </p:cNvSpPr>
          <p:nvPr/>
        </p:nvSpPr>
        <p:spPr>
          <a:xfrm xmlns:a="http://schemas.openxmlformats.org/drawingml/2006/main">
            <a:off x="400050" y="6429375"/>
            <a:ext cx="381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5B6472"/>
                </a:solidFill>
                <a:latin typeface="Arial"/>
                <a:ea typeface="Arial"/>
                <a:cs typeface="Arial"/>
              </a:defRPr>
            </a:pPr>
            <a:r>
              <a:rPr sz="900" b="0">
                <a:solidFill>
                  <a:srgbClr val="5B6472"/>
                </a:solidFill>
                <a:latin typeface="Arial"/>
                <a:ea typeface="Arial"/>
                <a:cs typeface="Arial"/>
              </a:rPr>
              <a:t>Report pp. 123–126</a:t>
            </a:r>
          </a:p>
        </p:txBody>
      </p:sp>
      <p:sp>
        <p:nvSpPr>
          <p:cNvPr id="5" name="page-14">
            <a:extLst xmlns:a="http://schemas.openxmlformats.org/drawingml/2006/main">
              <a:ext uri="{FF2B5EF4-FFF2-40B4-BE49-F238E27FC236}">
                <a16:creationId xmlns:a16="http://schemas.microsoft.com/office/drawing/2014/main" id="{F4AE4735-58EC-4707-969D-FF5A0D8186D5}"/>
              </a:ext>
            </a:extLst>
          </p:cNvPr>
          <p:cNvSpPr>
            <a:spLocks xmlns:a="http://schemas.openxmlformats.org/drawingml/2006/main" noGrp="1"/>
          </p:cNvSpPr>
          <p:nvPr/>
        </p:nvSpPr>
        <p:spPr>
          <a:xfrm xmlns:a="http://schemas.openxmlformats.org/drawingml/2006/main">
            <a:off x="11239500" y="6400800"/>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050" b="0">
                <a:solidFill>
                  <a:srgbClr val="5B6472"/>
                </a:solidFill>
                <a:latin typeface="Arial"/>
                <a:ea typeface="Arial"/>
                <a:cs typeface="Arial"/>
              </a:defRPr>
            </a:pPr>
            <a:r>
              <a:rPr sz="1050" b="0">
                <a:solidFill>
                  <a:srgbClr val="5B6472"/>
                </a:solidFill>
                <a:latin typeface="Arial"/>
                <a:ea typeface="Arial"/>
                <a:cs typeface="Arial"/>
              </a:rPr>
              <a:t>14</a:t>
            </a:r>
          </a:p>
        </p:txBody>
      </p:sp>
      <p:graphicFrame>
        <p:nvGraphicFramePr>
          <p:cNvPr id="19" name="Chart"/>
          <p:cNvGraphicFramePr/>
          <p:nvPr/>
        </p:nvGraphicFramePr>
        <p:xfrm>
          <a:off xmlns:a="http://schemas.openxmlformats.org/drawingml/2006/main" x="400050" y="1866900"/>
          <a:ext xmlns:a="http://schemas.openxmlformats.org/drawingml/2006/main" cx="5619750" cy="4152900"/>
        </p:xfrm>
        <a:graphic xmlns:a="http://schemas.openxmlformats.org/drawingml/2006/main">
          <a:graphicData uri="http://schemas.openxmlformats.org/drawingml/2006/chart">
            <c:chart xmlns:r="http://schemas.openxmlformats.org/officeDocument/2006/relationships" xmlns:c="http://schemas.openxmlformats.org/drawingml/2006/chart" r:id="Rbb74c8a3499e4320"/>
          </a:graphicData>
        </a:graphic>
      </p:graphicFrame>
      <p:sp>
        <p:nvSpPr>
          <p:cNvPr id="7" name="dice-gain-panel">
            <a:extLst xmlns:a="http://schemas.openxmlformats.org/drawingml/2006/main">
              <a:ext uri="{FF2B5EF4-FFF2-40B4-BE49-F238E27FC236}">
                <a16:creationId xmlns:a16="http://schemas.microsoft.com/office/drawing/2014/main" id="{3FE0DFD7-4AEC-41E5-BC3F-C9469E24BA43}"/>
              </a:ext>
            </a:extLst>
          </p:cNvPr>
          <p:cNvSpPr>
            <a:spLocks xmlns:a="http://schemas.openxmlformats.org/drawingml/2006/main" noGrp="1"/>
          </p:cNvSpPr>
          <p:nvPr/>
        </p:nvSpPr>
        <p:spPr>
          <a:xfrm xmlns:a="http://schemas.openxmlformats.org/drawingml/2006/main">
            <a:off x="6429375" y="1695450"/>
            <a:ext cx="5362575" cy="1657350"/>
          </a:xfrm>
          <a:prstGeom xmlns:a="http://schemas.openxmlformats.org/drawingml/2006/main" prst="roundRect">
            <a:avLst>
              <a:gd name="adj" fmla="val 6897"/>
            </a:avLst>
          </a:prstGeom>
          <a:solidFill xmlns:a="http://schemas.openxmlformats.org/drawingml/2006/main">
            <a:srgbClr val="F1F3F6"/>
          </a:solidFill>
          <a:ln xmlns:a="http://schemas.openxmlformats.org/drawingml/2006/main" w="0">
            <a:noFill/>
            <a:prstDash val="solid"/>
          </a:ln>
        </p:spPr>
      </p:sp>
      <p:sp>
        <p:nvSpPr>
          <p:cNvPr id="8" name="dice-gain-value">
            <a:extLst xmlns:a="http://schemas.openxmlformats.org/drawingml/2006/main">
              <a:ext uri="{FF2B5EF4-FFF2-40B4-BE49-F238E27FC236}">
                <a16:creationId xmlns:a16="http://schemas.microsoft.com/office/drawing/2014/main" id="{2851D8C1-358D-411A-9865-DDDBA5D277C6}"/>
              </a:ext>
            </a:extLst>
          </p:cNvPr>
          <p:cNvSpPr>
            <a:spLocks xmlns:a="http://schemas.openxmlformats.org/drawingml/2006/main" noGrp="1"/>
          </p:cNvSpPr>
          <p:nvPr/>
        </p:nvSpPr>
        <p:spPr>
          <a:xfrm xmlns:a="http://schemas.openxmlformats.org/drawingml/2006/main">
            <a:off x="6638925" y="1905000"/>
            <a:ext cx="49434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600" b="1">
                <a:solidFill>
                  <a:srgbClr val="0F766E"/>
                </a:solidFill>
                <a:latin typeface="Arial"/>
                <a:ea typeface="Arial"/>
                <a:cs typeface="Arial"/>
              </a:defRPr>
            </a:pPr>
            <a:r>
              <a:rPr sz="3600" b="1">
                <a:solidFill>
                  <a:srgbClr val="0F766E"/>
                </a:solidFill>
                <a:latin typeface="Arial"/>
                <a:ea typeface="Arial"/>
                <a:cs typeface="Arial"/>
              </a:rPr>
              <a:t>+0.049</a:t>
            </a:r>
          </a:p>
        </p:txBody>
      </p:sp>
      <p:sp>
        <p:nvSpPr>
          <p:cNvPr id="9" name="dice-gain-label">
            <a:extLst xmlns:a="http://schemas.openxmlformats.org/drawingml/2006/main">
              <a:ext uri="{FF2B5EF4-FFF2-40B4-BE49-F238E27FC236}">
                <a16:creationId xmlns:a16="http://schemas.microsoft.com/office/drawing/2014/main" id="{3CD5D453-377E-4F00-8CD9-4E0B5A8DF70F}"/>
              </a:ext>
            </a:extLst>
          </p:cNvPr>
          <p:cNvSpPr>
            <a:spLocks xmlns:a="http://schemas.openxmlformats.org/drawingml/2006/main" noGrp="1"/>
          </p:cNvSpPr>
          <p:nvPr/>
        </p:nvSpPr>
        <p:spPr>
          <a:xfrm xmlns:a="http://schemas.openxmlformats.org/drawingml/2006/main">
            <a:off x="6638925" y="2657475"/>
            <a:ext cx="49434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5B6472"/>
                </a:solidFill>
                <a:latin typeface="Arial"/>
                <a:ea typeface="Arial"/>
                <a:cs typeface="Arial"/>
              </a:defRPr>
            </a:pPr>
            <a:r>
              <a:rPr sz="1500" b="0">
                <a:solidFill>
                  <a:srgbClr val="5B6472"/>
                </a:solidFill>
                <a:latin typeface="Arial"/>
                <a:ea typeface="Arial"/>
                <a:cs typeface="Arial"/>
              </a:rPr>
              <a:t>Dice: residual added under ReLU</a:t>
            </a:r>
          </a:p>
        </p:txBody>
      </p:sp>
      <p:sp>
        <p:nvSpPr>
          <p:cNvPr id="10" name="assd-gain-panel">
            <a:extLst xmlns:a="http://schemas.openxmlformats.org/drawingml/2006/main">
              <a:ext uri="{FF2B5EF4-FFF2-40B4-BE49-F238E27FC236}">
                <a16:creationId xmlns:a16="http://schemas.microsoft.com/office/drawing/2014/main" id="{D99D70A7-6E0E-4D4B-9800-19DD4BC62C56}"/>
              </a:ext>
            </a:extLst>
          </p:cNvPr>
          <p:cNvSpPr>
            <a:spLocks xmlns:a="http://schemas.openxmlformats.org/drawingml/2006/main" noGrp="1"/>
          </p:cNvSpPr>
          <p:nvPr/>
        </p:nvSpPr>
        <p:spPr>
          <a:xfrm xmlns:a="http://schemas.openxmlformats.org/drawingml/2006/main">
            <a:off x="6429375" y="3524250"/>
            <a:ext cx="5362575" cy="1657350"/>
          </a:xfrm>
          <a:prstGeom xmlns:a="http://schemas.openxmlformats.org/drawingml/2006/main" prst="roundRect">
            <a:avLst>
              <a:gd name="adj" fmla="val 6897"/>
            </a:avLst>
          </a:prstGeom>
          <a:solidFill xmlns:a="http://schemas.openxmlformats.org/drawingml/2006/main">
            <a:srgbClr val="F1F3F6"/>
          </a:solidFill>
          <a:ln xmlns:a="http://schemas.openxmlformats.org/drawingml/2006/main" w="0">
            <a:noFill/>
            <a:prstDash val="solid"/>
          </a:ln>
        </p:spPr>
      </p:sp>
      <p:sp>
        <p:nvSpPr>
          <p:cNvPr id="11" name="assd-gain-value">
            <a:extLst xmlns:a="http://schemas.openxmlformats.org/drawingml/2006/main">
              <a:ext uri="{FF2B5EF4-FFF2-40B4-BE49-F238E27FC236}">
                <a16:creationId xmlns:a16="http://schemas.microsoft.com/office/drawing/2014/main" id="{4CE8F4B7-8B45-4FE6-BB2A-361214E4BBDA}"/>
              </a:ext>
            </a:extLst>
          </p:cNvPr>
          <p:cNvSpPr>
            <a:spLocks xmlns:a="http://schemas.openxmlformats.org/drawingml/2006/main" noGrp="1"/>
          </p:cNvSpPr>
          <p:nvPr/>
        </p:nvSpPr>
        <p:spPr>
          <a:xfrm xmlns:a="http://schemas.openxmlformats.org/drawingml/2006/main">
            <a:off x="6638925" y="3733800"/>
            <a:ext cx="49434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600" b="1">
                <a:solidFill>
                  <a:srgbClr val="0F766E"/>
                </a:solidFill>
                <a:latin typeface="Arial"/>
                <a:ea typeface="Arial"/>
                <a:cs typeface="Arial"/>
              </a:defRPr>
            </a:pPr>
            <a:r>
              <a:rPr sz="3600" b="1">
                <a:solidFill>
                  <a:srgbClr val="0F766E"/>
                </a:solidFill>
                <a:latin typeface="Arial"/>
                <a:ea typeface="Arial"/>
                <a:cs typeface="Arial"/>
              </a:rPr>
              <a:t>−2.44 mm</a:t>
            </a:r>
          </a:p>
        </p:txBody>
      </p:sp>
      <p:sp>
        <p:nvSpPr>
          <p:cNvPr id="12" name="assd-gain-label">
            <a:extLst xmlns:a="http://schemas.openxmlformats.org/drawingml/2006/main">
              <a:ext uri="{FF2B5EF4-FFF2-40B4-BE49-F238E27FC236}">
                <a16:creationId xmlns:a16="http://schemas.microsoft.com/office/drawing/2014/main" id="{6A1B5338-3BFD-4BF6-B89F-8C9368754AA2}"/>
              </a:ext>
            </a:extLst>
          </p:cNvPr>
          <p:cNvSpPr>
            <a:spLocks xmlns:a="http://schemas.openxmlformats.org/drawingml/2006/main" noGrp="1"/>
          </p:cNvSpPr>
          <p:nvPr/>
        </p:nvSpPr>
        <p:spPr>
          <a:xfrm xmlns:a="http://schemas.openxmlformats.org/drawingml/2006/main">
            <a:off x="6638925" y="4486275"/>
            <a:ext cx="49434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5B6472"/>
                </a:solidFill>
                <a:latin typeface="Arial"/>
                <a:ea typeface="Arial"/>
                <a:cs typeface="Arial"/>
              </a:defRPr>
            </a:pPr>
            <a:r>
              <a:rPr sz="1500" b="0">
                <a:solidFill>
                  <a:srgbClr val="5B6472"/>
                </a:solidFill>
                <a:latin typeface="Arial"/>
                <a:ea typeface="Arial"/>
                <a:cs typeface="Arial"/>
              </a:rPr>
              <a:t>ASSD: residual added under ReLU</a:t>
            </a:r>
          </a:p>
        </p:txBody>
      </p:sp>
      <p:sp>
        <p:nvSpPr>
          <p:cNvPr id="13" name="cost">
            <a:extLst xmlns:a="http://schemas.openxmlformats.org/drawingml/2006/main">
              <a:ext uri="{FF2B5EF4-FFF2-40B4-BE49-F238E27FC236}">
                <a16:creationId xmlns:a16="http://schemas.microsoft.com/office/drawing/2014/main" id="{A804A258-A67E-4EC5-8E54-9CA917054FBF}"/>
              </a:ext>
            </a:extLst>
          </p:cNvPr>
          <p:cNvSpPr>
            <a:spLocks xmlns:a="http://schemas.openxmlformats.org/drawingml/2006/main" noGrp="1"/>
          </p:cNvSpPr>
          <p:nvPr/>
        </p:nvSpPr>
        <p:spPr>
          <a:xfrm xmlns:a="http://schemas.openxmlformats.org/drawingml/2006/main">
            <a:off x="6429375" y="5438775"/>
            <a:ext cx="5362575"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75" b="0">
                <a:solidFill>
                  <a:srgbClr val="5B6472"/>
                </a:solidFill>
                <a:latin typeface="Arial"/>
                <a:ea typeface="Arial"/>
                <a:cs typeface="Arial"/>
              </a:defRPr>
            </a:pPr>
            <a:r>
              <a:rPr sz="1575" b="0">
                <a:solidFill>
                  <a:srgbClr val="5B6472"/>
                </a:solidFill>
                <a:latin typeface="Arial"/>
                <a:ea typeface="Arial"/>
                <a:cs typeface="Arial"/>
              </a:rPr>
              <a:t>≈2.1% more decoder parameters</a:t>
            </a:r>
          </a:p>
          <a:p xmlns:a="http://schemas.openxmlformats.org/drawingml/2006/main">
            <a:pPr algn="ctr">
              <a:defRPr sz="1575" b="0">
                <a:solidFill>
                  <a:srgbClr val="5B6472"/>
                </a:solidFill>
                <a:latin typeface="Arial"/>
                <a:ea typeface="Arial"/>
                <a:cs typeface="Arial"/>
              </a:defRPr>
            </a:pPr>
            <a:r>
              <a:rPr sz="1575" b="0">
                <a:solidFill>
                  <a:srgbClr val="5B6472"/>
                </a:solidFill>
                <a:latin typeface="Arial"/>
                <a:ea typeface="Arial"/>
                <a:cs typeface="Arial"/>
              </a:rPr>
              <a:t>Training time remained ~37.5–38.3 minutes/run</a:t>
            </a:r>
          </a:p>
        </p:txBody>
      </p:sp>
    </p:spTree>
    <p:extLst>
      <p:ext uri="{BB962C8B-B14F-4D97-AF65-F5344CB8AC3E}">
        <p14:creationId xmlns:p14="http://schemas.microsoft.com/office/powerpoint/2010/main" val="1164215873"/>
      </p:ext>
    </p:extLst>
  </p:cSld>
</p:sld>
</file>

<file path=ppt/slides/slide15.xml><?xml version="1.0" encoding="utf-8"?>
<p:sld xmlns:p="http://schemas.openxmlformats.org/presentationml/2006/main">
  <p:cSld>
    <p:bg>
      <p:bgPr>
        <a:solidFill xmlns:a="http://schemas.openxmlformats.org/drawingml/2006/main">
          <a:srgbClr val="FBFBFA"/>
        </a:solidFill>
      </p:bgPr>
    </p:bg>
    <p:spTree>
      <p:nvGrpSpPr>
        <p:cNvPr id="1" name=""/>
        <p:cNvGrpSpPr/>
        <p:nvPr/>
      </p:nvGrpSpPr>
      <p:grpSpPr>
        <a:xfrm xmlns:a="http://schemas.openxmlformats.org/drawingml/2006/main"/>
      </p:grpSpPr>
      <p:sp>
        <p:nvSpPr>
          <p:cNvPr id="13" name="section-15">
            <a:extLst xmlns:a="http://schemas.openxmlformats.org/drawingml/2006/main">
              <a:ext uri="{FF2B5EF4-FFF2-40B4-BE49-F238E27FC236}">
                <a16:creationId xmlns:a16="http://schemas.microsoft.com/office/drawing/2014/main" id="{0B98B6C6-1174-4B36-88D0-24F75E959D7D}"/>
              </a:ext>
            </a:extLst>
          </p:cNvPr>
          <p:cNvSpPr>
            <a:spLocks xmlns:a="http://schemas.openxmlformats.org/drawingml/2006/main" noGrp="1"/>
          </p:cNvSpPr>
          <p:nvPr/>
        </p:nvSpPr>
        <p:spPr>
          <a:xfrm xmlns:a="http://schemas.openxmlformats.org/drawingml/2006/main">
            <a:off x="400050" y="238125"/>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563EB"/>
                </a:solidFill>
                <a:latin typeface="Arial"/>
                <a:ea typeface="Arial"/>
                <a:cs typeface="Arial"/>
              </a:defRPr>
            </a:pPr>
            <a:r>
              <a:rPr sz="1125" b="1">
                <a:solidFill>
                  <a:srgbClr val="2563EB"/>
                </a:solidFill>
                <a:latin typeface="Arial"/>
                <a:ea typeface="Arial"/>
                <a:cs typeface="Arial"/>
              </a:rPr>
              <a:t>CRITICAL THINKING</a:t>
            </a:r>
          </a:p>
        </p:txBody>
      </p:sp>
      <p:sp>
        <p:nvSpPr>
          <p:cNvPr id="2" name="title-15">
            <a:extLst xmlns:a="http://schemas.openxmlformats.org/drawingml/2006/main">
              <a:ext uri="{FF2B5EF4-FFF2-40B4-BE49-F238E27FC236}">
                <a16:creationId xmlns:a16="http://schemas.microsoft.com/office/drawing/2014/main" id="{E4D77536-5254-4F0C-9EFF-0CBA7F80624E}"/>
              </a:ext>
            </a:extLst>
          </p:cNvPr>
          <p:cNvSpPr>
            <a:spLocks xmlns:a="http://schemas.openxmlformats.org/drawingml/2006/main" noGrp="1"/>
          </p:cNvSpPr>
          <p:nvPr/>
        </p:nvSpPr>
        <p:spPr>
          <a:xfrm xmlns:a="http://schemas.openxmlformats.org/drawingml/2006/main">
            <a:off x="400050" y="552450"/>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525" b="1">
                <a:solidFill>
                  <a:srgbClr val="111827"/>
                </a:solidFill>
                <a:latin typeface="Arial"/>
                <a:ea typeface="Arial"/>
                <a:cs typeface="Arial"/>
              </a:defRPr>
            </a:pPr>
            <a:r>
              <a:rPr sz="3525" b="1">
                <a:solidFill>
                  <a:srgbClr val="111827"/>
                </a:solidFill>
                <a:latin typeface="Arial"/>
                <a:ea typeface="Arial"/>
                <a:cs typeface="Arial"/>
              </a:rPr>
              <a:t>Fold 4 lowered accuracy—not the conclusion</a:t>
            </a:r>
          </a:p>
        </p:txBody>
      </p:sp>
      <p:cxnSp>
        <p:nvCxnSpPr>
          <p:cNvPr id="15" name="rule-15"/>
          <p:cNvCxnSpPr/>
          <p:nvPr/>
        </p:nvCxnSpPr>
        <p:spPr>
          <a:xfrm xmlns:a="http://schemas.openxmlformats.org/drawingml/2006/main">
            <a:off x="400050" y="1285875"/>
            <a:ext cx="11391900" cy="0"/>
          </a:xfrm>
          <a:prstGeom xmlns:a="http://schemas.openxmlformats.org/drawingml/2006/main" prst="straightConnector1">
            <a:avLst/>
          </a:prstGeom>
          <a:ln xmlns:a="http://schemas.openxmlformats.org/drawingml/2006/main" w="9525">
            <a:solidFill>
              <a:srgbClr val="D9DEE7"/>
            </a:solidFill>
            <a:prstDash val="solid"/>
          </a:ln>
        </p:spPr>
      </p:cxnSp>
      <p:sp>
        <p:nvSpPr>
          <p:cNvPr id="4" name="source-15">
            <a:extLst xmlns:a="http://schemas.openxmlformats.org/drawingml/2006/main">
              <a:ext uri="{FF2B5EF4-FFF2-40B4-BE49-F238E27FC236}">
                <a16:creationId xmlns:a16="http://schemas.microsoft.com/office/drawing/2014/main" id="{AD88406D-66C7-451A-BAFA-F2971D87D72F}"/>
              </a:ext>
            </a:extLst>
          </p:cNvPr>
          <p:cNvSpPr>
            <a:spLocks xmlns:a="http://schemas.openxmlformats.org/drawingml/2006/main" noGrp="1"/>
          </p:cNvSpPr>
          <p:nvPr/>
        </p:nvSpPr>
        <p:spPr>
          <a:xfrm xmlns:a="http://schemas.openxmlformats.org/drawingml/2006/main">
            <a:off x="400050" y="6429375"/>
            <a:ext cx="381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5B6472"/>
                </a:solidFill>
                <a:latin typeface="Arial"/>
                <a:ea typeface="Arial"/>
                <a:cs typeface="Arial"/>
              </a:defRPr>
            </a:pPr>
            <a:r>
              <a:rPr sz="900" b="0">
                <a:solidFill>
                  <a:srgbClr val="5B6472"/>
                </a:solidFill>
                <a:latin typeface="Arial"/>
                <a:ea typeface="Arial"/>
                <a:cs typeface="Arial"/>
              </a:rPr>
              <a:t>Report pp. 116-118, 127-128</a:t>
            </a:r>
          </a:p>
        </p:txBody>
      </p:sp>
      <p:sp>
        <p:nvSpPr>
          <p:cNvPr id="5" name="page-15">
            <a:extLst xmlns:a="http://schemas.openxmlformats.org/drawingml/2006/main">
              <a:ext uri="{FF2B5EF4-FFF2-40B4-BE49-F238E27FC236}">
                <a16:creationId xmlns:a16="http://schemas.microsoft.com/office/drawing/2014/main" id="{257F5213-E876-4FDC-8649-9707A2CD9872}"/>
              </a:ext>
            </a:extLst>
          </p:cNvPr>
          <p:cNvSpPr>
            <a:spLocks xmlns:a="http://schemas.openxmlformats.org/drawingml/2006/main" noGrp="1"/>
          </p:cNvSpPr>
          <p:nvPr/>
        </p:nvSpPr>
        <p:spPr>
          <a:xfrm xmlns:a="http://schemas.openxmlformats.org/drawingml/2006/main">
            <a:off x="11239500" y="6400800"/>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050" b="0">
                <a:solidFill>
                  <a:srgbClr val="5B6472"/>
                </a:solidFill>
                <a:latin typeface="Arial"/>
                <a:ea typeface="Arial"/>
                <a:cs typeface="Arial"/>
              </a:defRPr>
            </a:pPr>
            <a:r>
              <a:rPr sz="1050" b="0">
                <a:solidFill>
                  <a:srgbClr val="5B6472"/>
                </a:solidFill>
                <a:latin typeface="Arial"/>
                <a:ea typeface="Arial"/>
                <a:cs typeface="Arial"/>
              </a:rPr>
              <a:t>15</a:t>
            </a:r>
          </a:p>
        </p:txBody>
      </p:sp>
      <p:graphicFrame>
        <p:nvGraphicFramePr>
          <p:cNvPr id="18" name="Chart"/>
          <p:cNvGraphicFramePr/>
          <p:nvPr/>
        </p:nvGraphicFramePr>
        <p:xfrm>
          <a:off xmlns:a="http://schemas.openxmlformats.org/drawingml/2006/main" x="400050" y="1790700"/>
          <a:ext xmlns:a="http://schemas.openxmlformats.org/drawingml/2006/main" cx="6572250" cy="4191000"/>
        </p:xfrm>
        <a:graphic xmlns:a="http://schemas.openxmlformats.org/drawingml/2006/main">
          <a:graphicData uri="http://schemas.openxmlformats.org/drawingml/2006/chart">
            <c:chart xmlns:r="http://schemas.openxmlformats.org/officeDocument/2006/relationships" xmlns:c="http://schemas.openxmlformats.org/drawingml/2006/chart" r:id="Rdd352cfd1d824968"/>
          </a:graphicData>
        </a:graphic>
      </p:graphicFrame>
      <p:sp>
        <p:nvSpPr>
          <p:cNvPr id="7" name="f4-h1">
            <a:extLst xmlns:a="http://schemas.openxmlformats.org/drawingml/2006/main">
              <a:ext uri="{FF2B5EF4-FFF2-40B4-BE49-F238E27FC236}">
                <a16:creationId xmlns:a16="http://schemas.microsoft.com/office/drawing/2014/main" id="{3F2570E7-8909-4C33-BC28-F316ABC4250F}"/>
              </a:ext>
            </a:extLst>
          </p:cNvPr>
          <p:cNvSpPr>
            <a:spLocks xmlns:a="http://schemas.openxmlformats.org/drawingml/2006/main" noGrp="1"/>
          </p:cNvSpPr>
          <p:nvPr/>
        </p:nvSpPr>
        <p:spPr>
          <a:xfrm xmlns:a="http://schemas.openxmlformats.org/drawingml/2006/main">
            <a:off x="7381875" y="1762125"/>
            <a:ext cx="4000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a:solidFill>
                  <a:srgbClr val="B91C1C"/>
                </a:solidFill>
                <a:latin typeface="Arial"/>
                <a:ea typeface="Arial"/>
                <a:cs typeface="Arial"/>
              </a:defRPr>
            </a:pPr>
            <a:r>
              <a:rPr sz="1875" b="1">
                <a:solidFill>
                  <a:srgbClr val="B91C1C"/>
                </a:solidFill>
                <a:latin typeface="Arial"/>
                <a:ea typeface="Arial"/>
                <a:cs typeface="Arial"/>
              </a:rPr>
              <a:t>Why Fold 4 was weak</a:t>
            </a:r>
          </a:p>
        </p:txBody>
      </p:sp>
      <p:sp>
        <p:nvSpPr>
          <p:cNvPr id="8" name="f4-b1">
            <a:extLst xmlns:a="http://schemas.openxmlformats.org/drawingml/2006/main">
              <a:ext uri="{FF2B5EF4-FFF2-40B4-BE49-F238E27FC236}">
                <a16:creationId xmlns:a16="http://schemas.microsoft.com/office/drawing/2014/main" id="{99FEF182-E09F-45B9-87F4-B8621DD2B601}"/>
              </a:ext>
            </a:extLst>
          </p:cNvPr>
          <p:cNvSpPr>
            <a:spLocks xmlns:a="http://schemas.openxmlformats.org/drawingml/2006/main" noGrp="1"/>
          </p:cNvSpPr>
          <p:nvPr/>
        </p:nvSpPr>
        <p:spPr>
          <a:xfrm xmlns:a="http://schemas.openxmlformats.org/drawingml/2006/main">
            <a:off x="7381875" y="2181225"/>
            <a:ext cx="40957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5B6472"/>
                </a:solidFill>
                <a:latin typeface="Arial"/>
                <a:ea typeface="Arial"/>
                <a:cs typeface="Arial"/>
              </a:defRPr>
            </a:pPr>
            <a:r>
              <a:rPr sz="1500" b="0">
                <a:solidFill>
                  <a:srgbClr val="5B6472"/>
                </a:solidFill>
                <a:latin typeface="Arial"/>
                <a:ea typeface="Arial"/>
                <a:cs typeface="Arial"/>
              </a:rPr>
              <a:t>P2 pairing margin was 0.000079, only 5/9 subjects were positive, and feature retrieval/dimensionality were poorer. All decoders therefore reached their lowest Dice.</a:t>
            </a:r>
          </a:p>
        </p:txBody>
      </p:sp>
      <p:cxnSp>
        <p:nvCxnSpPr>
          <p:cNvPr id="21" name="f4-rule1"/>
          <p:cNvCxnSpPr/>
          <p:nvPr/>
        </p:nvCxnSpPr>
        <p:spPr>
          <a:xfrm xmlns:a="http://schemas.openxmlformats.org/drawingml/2006/main">
            <a:off x="7381875" y="3476625"/>
            <a:ext cx="4095750" cy="0"/>
          </a:xfrm>
          <a:prstGeom xmlns:a="http://schemas.openxmlformats.org/drawingml/2006/main" prst="straightConnector1">
            <a:avLst/>
          </a:prstGeom>
          <a:ln xmlns:a="http://schemas.openxmlformats.org/drawingml/2006/main" w="9525">
            <a:solidFill>
              <a:srgbClr val="D9DEE7"/>
            </a:solidFill>
            <a:prstDash val="solid"/>
          </a:ln>
        </p:spPr>
      </p:cxnSp>
      <p:sp>
        <p:nvSpPr>
          <p:cNvPr id="10" name="f4-h2">
            <a:extLst xmlns:a="http://schemas.openxmlformats.org/drawingml/2006/main">
              <a:ext uri="{FF2B5EF4-FFF2-40B4-BE49-F238E27FC236}">
                <a16:creationId xmlns:a16="http://schemas.microsoft.com/office/drawing/2014/main" id="{526AB031-52A2-4708-AAC9-831AFE2A2B1D}"/>
              </a:ext>
            </a:extLst>
          </p:cNvPr>
          <p:cNvSpPr>
            <a:spLocks xmlns:a="http://schemas.openxmlformats.org/drawingml/2006/main" noGrp="1"/>
          </p:cNvSpPr>
          <p:nvPr/>
        </p:nvSpPr>
        <p:spPr>
          <a:xfrm xmlns:a="http://schemas.openxmlformats.org/drawingml/2006/main">
            <a:off x="7381875" y="3705225"/>
            <a:ext cx="4000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a:solidFill>
                  <a:srgbClr val="0F766E"/>
                </a:solidFill>
                <a:latin typeface="Arial"/>
                <a:ea typeface="Arial"/>
                <a:cs typeface="Arial"/>
              </a:defRPr>
            </a:pPr>
            <a:r>
              <a:rPr sz="1875" b="1">
                <a:solidFill>
                  <a:srgbClr val="0F766E"/>
                </a:solidFill>
                <a:latin typeface="Arial"/>
                <a:ea typeface="Arial"/>
                <a:cs typeface="Arial"/>
              </a:rPr>
              <a:t>What was done</a:t>
            </a:r>
          </a:p>
        </p:txBody>
      </p:sp>
      <p:sp>
        <p:nvSpPr>
          <p:cNvPr id="11" name="f4-b2">
            <a:extLst xmlns:a="http://schemas.openxmlformats.org/drawingml/2006/main">
              <a:ext uri="{FF2B5EF4-FFF2-40B4-BE49-F238E27FC236}">
                <a16:creationId xmlns:a16="http://schemas.microsoft.com/office/drawing/2014/main" id="{AB89EA49-0A4F-4BFF-AC85-4E860B77B0CA}"/>
              </a:ext>
            </a:extLst>
          </p:cNvPr>
          <p:cNvSpPr>
            <a:spLocks xmlns:a="http://schemas.openxmlformats.org/drawingml/2006/main" noGrp="1"/>
          </p:cNvSpPr>
          <p:nvPr/>
        </p:nvSpPr>
        <p:spPr>
          <a:xfrm xmlns:a="http://schemas.openxmlformats.org/drawingml/2006/main">
            <a:off x="7381875" y="4124325"/>
            <a:ext cx="40957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5B6472"/>
                </a:solidFill>
                <a:latin typeface="Arial"/>
                <a:ea typeface="Arial"/>
                <a:cs typeface="Arial"/>
              </a:defRPr>
            </a:pPr>
            <a:r>
              <a:rPr sz="1500" b="0">
                <a:solidFill>
                  <a:srgbClr val="5B6472"/>
                </a:solidFill>
                <a:latin typeface="Arial"/>
                <a:ea typeface="Arial"/>
                <a:cs typeface="Arial"/>
              </a:rPr>
              <a:t>Fold 4 was retained and reported. Removing it changed the residual Dice gain only from about 0.044 to 0.043, so the decoder ordering remained robust.</a:t>
            </a:r>
          </a:p>
        </p:txBody>
      </p:sp>
      <p:sp>
        <p:nvSpPr>
          <p:cNvPr id="12" name="f4-surface">
            <a:extLst xmlns:a="http://schemas.openxmlformats.org/drawingml/2006/main">
              <a:ext uri="{FF2B5EF4-FFF2-40B4-BE49-F238E27FC236}">
                <a16:creationId xmlns:a16="http://schemas.microsoft.com/office/drawing/2014/main" id="{32140EF9-4F90-4AF8-B5CE-9A10EA58251C}"/>
              </a:ext>
            </a:extLst>
          </p:cNvPr>
          <p:cNvSpPr>
            <a:spLocks xmlns:a="http://schemas.openxmlformats.org/drawingml/2006/main" noGrp="1"/>
          </p:cNvSpPr>
          <p:nvPr/>
        </p:nvSpPr>
        <p:spPr>
          <a:xfrm xmlns:a="http://schemas.openxmlformats.org/drawingml/2006/main">
            <a:off x="7334250" y="5438775"/>
            <a:ext cx="41910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D97706"/>
                </a:solidFill>
                <a:latin typeface="Arial"/>
                <a:ea typeface="Arial"/>
                <a:cs typeface="Arial"/>
              </a:defRPr>
            </a:pPr>
            <a:r>
              <a:rPr sz="1350" b="1">
                <a:solidFill>
                  <a:srgbClr val="D97706"/>
                </a:solidFill>
                <a:latin typeface="Arial"/>
                <a:ea typeface="Arial"/>
                <a:cs typeface="Arial"/>
              </a:rPr>
              <a:t>Surface caution: a separate Fold-2 empty-patella case produced ~177 mm subject ASSD and was retained to avoid optimistic results.</a:t>
            </a:r>
          </a:p>
        </p:txBody>
      </p:sp>
    </p:spTree>
    <p:extLst>
      <p:ext uri="{BB962C8B-B14F-4D97-AF65-F5344CB8AC3E}">
        <p14:creationId xmlns:p14="http://schemas.microsoft.com/office/powerpoint/2010/main" val="617250845"/>
      </p:ext>
    </p:extLst>
  </p:cSld>
</p:sld>
</file>

<file path=ppt/slides/slide16.xml><?xml version="1.0" encoding="utf-8"?>
<p:sld xmlns:p="http://schemas.openxmlformats.org/presentationml/2006/main">
  <p:cSld>
    <p:bg>
      <p:bgPr>
        <a:solidFill xmlns:a="http://schemas.openxmlformats.org/drawingml/2006/main">
          <a:srgbClr val="FBFBFA"/>
        </a:solidFill>
      </p:bgPr>
    </p:bg>
    <p:spTree>
      <p:nvGrpSpPr>
        <p:cNvPr id="1" name=""/>
        <p:cNvGrpSpPr/>
        <p:nvPr/>
      </p:nvGrpSpPr>
      <p:grpSpPr>
        <a:xfrm xmlns:a="http://schemas.openxmlformats.org/drawingml/2006/main"/>
      </p:grpSpPr>
      <p:sp>
        <p:nvSpPr>
          <p:cNvPr id="12" name="section-16">
            <a:extLst xmlns:a="http://schemas.openxmlformats.org/drawingml/2006/main">
              <a:ext uri="{FF2B5EF4-FFF2-40B4-BE49-F238E27FC236}">
                <a16:creationId xmlns:a16="http://schemas.microsoft.com/office/drawing/2014/main" id="{6E45AF38-8773-489C-8840-D1426FE30644}"/>
              </a:ext>
            </a:extLst>
          </p:cNvPr>
          <p:cNvSpPr>
            <a:spLocks xmlns:a="http://schemas.openxmlformats.org/drawingml/2006/main" noGrp="1"/>
          </p:cNvSpPr>
          <p:nvPr/>
        </p:nvSpPr>
        <p:spPr>
          <a:xfrm xmlns:a="http://schemas.openxmlformats.org/drawingml/2006/main">
            <a:off x="400050" y="238125"/>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563EB"/>
                </a:solidFill>
                <a:latin typeface="Arial"/>
                <a:ea typeface="Arial"/>
                <a:cs typeface="Arial"/>
              </a:defRPr>
            </a:pPr>
            <a:r>
              <a:rPr sz="1125" b="1">
                <a:solidFill>
                  <a:srgbClr val="2563EB"/>
                </a:solidFill>
                <a:latin typeface="Arial"/>
                <a:ea typeface="Arial"/>
                <a:cs typeface="Arial"/>
              </a:rPr>
              <a:t>CRITICAL THINKING</a:t>
            </a:r>
          </a:p>
        </p:txBody>
      </p:sp>
      <p:sp>
        <p:nvSpPr>
          <p:cNvPr id="2" name="title-16">
            <a:extLst xmlns:a="http://schemas.openxmlformats.org/drawingml/2006/main">
              <a:ext uri="{FF2B5EF4-FFF2-40B4-BE49-F238E27FC236}">
                <a16:creationId xmlns:a16="http://schemas.microsoft.com/office/drawing/2014/main" id="{C46FACED-BC5D-4615-B47F-6A12F766889C}"/>
              </a:ext>
            </a:extLst>
          </p:cNvPr>
          <p:cNvSpPr>
            <a:spLocks xmlns:a="http://schemas.openxmlformats.org/drawingml/2006/main" noGrp="1"/>
          </p:cNvSpPr>
          <p:nvPr/>
        </p:nvSpPr>
        <p:spPr>
          <a:xfrm xmlns:a="http://schemas.openxmlformats.org/drawingml/2006/main">
            <a:off x="400050" y="552450"/>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525" b="1">
                <a:solidFill>
                  <a:srgbClr val="111827"/>
                </a:solidFill>
                <a:latin typeface="Arial"/>
                <a:ea typeface="Arial"/>
                <a:cs typeface="Arial"/>
              </a:defRPr>
            </a:pPr>
            <a:r>
              <a:rPr sz="3525" b="1">
                <a:solidFill>
                  <a:srgbClr val="111827"/>
                </a:solidFill>
                <a:latin typeface="Arial"/>
                <a:ea typeface="Arial"/>
                <a:cs typeface="Arial"/>
              </a:rPr>
              <a:t>Small bones remain the bottleneck</a:t>
            </a:r>
          </a:p>
        </p:txBody>
      </p:sp>
      <p:cxnSp>
        <p:nvCxnSpPr>
          <p:cNvPr id="14" name="rule-16"/>
          <p:cNvCxnSpPr/>
          <p:nvPr/>
        </p:nvCxnSpPr>
        <p:spPr>
          <a:xfrm xmlns:a="http://schemas.openxmlformats.org/drawingml/2006/main">
            <a:off x="400050" y="1285875"/>
            <a:ext cx="11391900" cy="0"/>
          </a:xfrm>
          <a:prstGeom xmlns:a="http://schemas.openxmlformats.org/drawingml/2006/main" prst="straightConnector1">
            <a:avLst/>
          </a:prstGeom>
          <a:ln xmlns:a="http://schemas.openxmlformats.org/drawingml/2006/main" w="9525">
            <a:solidFill>
              <a:srgbClr val="D9DEE7"/>
            </a:solidFill>
            <a:prstDash val="solid"/>
          </a:ln>
        </p:spPr>
      </p:cxnSp>
      <p:sp>
        <p:nvSpPr>
          <p:cNvPr id="4" name="source-16">
            <a:extLst xmlns:a="http://schemas.openxmlformats.org/drawingml/2006/main">
              <a:ext uri="{FF2B5EF4-FFF2-40B4-BE49-F238E27FC236}">
                <a16:creationId xmlns:a16="http://schemas.microsoft.com/office/drawing/2014/main" id="{20D691A2-B4BD-4020-926D-872E9D83F3A7}"/>
              </a:ext>
            </a:extLst>
          </p:cNvPr>
          <p:cNvSpPr>
            <a:spLocks xmlns:a="http://schemas.openxmlformats.org/drawingml/2006/main" noGrp="1"/>
          </p:cNvSpPr>
          <p:nvPr/>
        </p:nvSpPr>
        <p:spPr>
          <a:xfrm xmlns:a="http://schemas.openxmlformats.org/drawingml/2006/main">
            <a:off x="400050" y="6429375"/>
            <a:ext cx="381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5B6472"/>
                </a:solidFill>
                <a:latin typeface="Arial"/>
                <a:ea typeface="Arial"/>
                <a:cs typeface="Arial"/>
              </a:defRPr>
            </a:pPr>
            <a:r>
              <a:rPr sz="900" b="0">
                <a:solidFill>
                  <a:srgbClr val="5B6472"/>
                </a:solidFill>
                <a:latin typeface="Arial"/>
                <a:ea typeface="Arial"/>
                <a:cs typeface="Arial"/>
              </a:rPr>
              <a:t>Report pp. 129–131</a:t>
            </a:r>
          </a:p>
        </p:txBody>
      </p:sp>
      <p:sp>
        <p:nvSpPr>
          <p:cNvPr id="5" name="page-16">
            <a:extLst xmlns:a="http://schemas.openxmlformats.org/drawingml/2006/main">
              <a:ext uri="{FF2B5EF4-FFF2-40B4-BE49-F238E27FC236}">
                <a16:creationId xmlns:a16="http://schemas.microsoft.com/office/drawing/2014/main" id="{3064B532-02FA-4100-9F32-8CDA0C75D653}"/>
              </a:ext>
            </a:extLst>
          </p:cNvPr>
          <p:cNvSpPr>
            <a:spLocks xmlns:a="http://schemas.openxmlformats.org/drawingml/2006/main" noGrp="1"/>
          </p:cNvSpPr>
          <p:nvPr/>
        </p:nvSpPr>
        <p:spPr>
          <a:xfrm xmlns:a="http://schemas.openxmlformats.org/drawingml/2006/main">
            <a:off x="11239500" y="6400800"/>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050" b="0">
                <a:solidFill>
                  <a:srgbClr val="5B6472"/>
                </a:solidFill>
                <a:latin typeface="Arial"/>
                <a:ea typeface="Arial"/>
                <a:cs typeface="Arial"/>
              </a:defRPr>
            </a:pPr>
            <a:r>
              <a:rPr sz="1050" b="0">
                <a:solidFill>
                  <a:srgbClr val="5B6472"/>
                </a:solidFill>
                <a:latin typeface="Arial"/>
                <a:ea typeface="Arial"/>
                <a:cs typeface="Arial"/>
              </a:rPr>
              <a:t>16</a:t>
            </a:r>
          </a:p>
        </p:txBody>
      </p:sp>
      <p:graphicFrame>
        <p:nvGraphicFramePr>
          <p:cNvPr id="17" name="Chart"/>
          <p:cNvGraphicFramePr/>
          <p:nvPr/>
        </p:nvGraphicFramePr>
        <p:xfrm>
          <a:off xmlns:a="http://schemas.openxmlformats.org/drawingml/2006/main" x="400050" y="1695450"/>
          <a:ext xmlns:a="http://schemas.openxmlformats.org/drawingml/2006/main" cx="6496050" cy="4362450"/>
        </p:xfrm>
        <a:graphic xmlns:a="http://schemas.openxmlformats.org/drawingml/2006/main">
          <a:graphicData uri="http://schemas.openxmlformats.org/drawingml/2006/chart">
            <c:chart xmlns:r="http://schemas.openxmlformats.org/officeDocument/2006/relationships" xmlns:c="http://schemas.openxmlformats.org/drawingml/2006/chart" r:id="R3f4ed5b946454b83"/>
          </a:graphicData>
        </a:graphic>
      </p:graphicFrame>
      <p:sp>
        <p:nvSpPr>
          <p:cNvPr id="7" name="bone-callout-1">
            <a:extLst xmlns:a="http://schemas.openxmlformats.org/drawingml/2006/main">
              <a:ext uri="{FF2B5EF4-FFF2-40B4-BE49-F238E27FC236}">
                <a16:creationId xmlns:a16="http://schemas.microsoft.com/office/drawing/2014/main" id="{2816CB4C-1E28-4F31-9334-A04DBAE6104C}"/>
              </a:ext>
            </a:extLst>
          </p:cNvPr>
          <p:cNvSpPr>
            <a:spLocks xmlns:a="http://schemas.openxmlformats.org/drawingml/2006/main" noGrp="1"/>
          </p:cNvSpPr>
          <p:nvPr/>
        </p:nvSpPr>
        <p:spPr>
          <a:xfrm xmlns:a="http://schemas.openxmlformats.org/drawingml/2006/main">
            <a:off x="7353300" y="2009775"/>
            <a:ext cx="3905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a:solidFill>
                  <a:srgbClr val="0F766E"/>
                </a:solidFill>
                <a:latin typeface="Arial"/>
                <a:ea typeface="Arial"/>
                <a:cs typeface="Arial"/>
              </a:defRPr>
            </a:pPr>
            <a:r>
              <a:rPr sz="1875" b="1">
                <a:solidFill>
                  <a:srgbClr val="0F766E"/>
                </a:solidFill>
                <a:latin typeface="Arial"/>
                <a:ea typeface="Arial"/>
                <a:cs typeface="Arial"/>
              </a:rPr>
              <a:t>Fibula</a:t>
            </a:r>
          </a:p>
        </p:txBody>
      </p:sp>
      <p:sp>
        <p:nvSpPr>
          <p:cNvPr id="8" name="bone-callout-2">
            <a:extLst xmlns:a="http://schemas.openxmlformats.org/drawingml/2006/main">
              <a:ext uri="{FF2B5EF4-FFF2-40B4-BE49-F238E27FC236}">
                <a16:creationId xmlns:a16="http://schemas.microsoft.com/office/drawing/2014/main" id="{3D02CC7F-C3A3-4FB1-BE84-69CB678A5B67}"/>
              </a:ext>
            </a:extLst>
          </p:cNvPr>
          <p:cNvSpPr>
            <a:spLocks xmlns:a="http://schemas.openxmlformats.org/drawingml/2006/main" noGrp="1"/>
          </p:cNvSpPr>
          <p:nvPr/>
        </p:nvSpPr>
        <p:spPr>
          <a:xfrm xmlns:a="http://schemas.openxmlformats.org/drawingml/2006/main">
            <a:off x="7353300" y="2466975"/>
            <a:ext cx="39052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a:solidFill>
                  <a:srgbClr val="111827"/>
                </a:solidFill>
                <a:latin typeface="Arial"/>
                <a:ea typeface="Arial"/>
                <a:cs typeface="Arial"/>
              </a:defRPr>
            </a:pPr>
            <a:r>
              <a:rPr sz="1875" b="1">
                <a:solidFill>
                  <a:srgbClr val="111827"/>
                </a:solidFill>
                <a:latin typeface="Arial"/>
                <a:ea typeface="Arial"/>
                <a:cs typeface="Arial"/>
              </a:rPr>
              <a:t>Dice improves 0.106 → 0.183</a:t>
            </a:r>
          </a:p>
          <a:p xmlns:a="http://schemas.openxmlformats.org/drawingml/2006/main">
            <a:pPr algn="l">
              <a:defRPr sz="1875" b="1">
                <a:solidFill>
                  <a:srgbClr val="111827"/>
                </a:solidFill>
                <a:latin typeface="Arial"/>
                <a:ea typeface="Arial"/>
                <a:cs typeface="Arial"/>
              </a:defRPr>
            </a:pPr>
            <a:r>
              <a:rPr sz="1875" b="1">
                <a:solidFill>
                  <a:srgbClr val="111827"/>
                </a:solidFill>
                <a:latin typeface="Arial"/>
                <a:ea typeface="Arial"/>
                <a:cs typeface="Arial"/>
              </a:rPr>
              <a:t>ASSD falls 25.93 → 17.51 mm</a:t>
            </a:r>
          </a:p>
        </p:txBody>
      </p:sp>
      <p:cxnSp>
        <p:nvCxnSpPr>
          <p:cNvPr id="20" name="bone-rule"/>
          <p:cNvCxnSpPr/>
          <p:nvPr/>
        </p:nvCxnSpPr>
        <p:spPr>
          <a:xfrm xmlns:a="http://schemas.openxmlformats.org/drawingml/2006/main">
            <a:off x="7353300" y="3514725"/>
            <a:ext cx="3905250" cy="0"/>
          </a:xfrm>
          <a:prstGeom xmlns:a="http://schemas.openxmlformats.org/drawingml/2006/main" prst="straightConnector1">
            <a:avLst/>
          </a:prstGeom>
          <a:ln xmlns:a="http://schemas.openxmlformats.org/drawingml/2006/main" w="9525">
            <a:solidFill>
              <a:srgbClr val="D9DEE7"/>
            </a:solidFill>
            <a:prstDash val="solid"/>
          </a:ln>
        </p:spPr>
      </p:cxnSp>
      <p:sp>
        <p:nvSpPr>
          <p:cNvPr id="10" name="bone-callout-3">
            <a:extLst xmlns:a="http://schemas.openxmlformats.org/drawingml/2006/main">
              <a:ext uri="{FF2B5EF4-FFF2-40B4-BE49-F238E27FC236}">
                <a16:creationId xmlns:a16="http://schemas.microsoft.com/office/drawing/2014/main" id="{513EDCD7-E20E-42D0-86C5-5D42C3C04ED1}"/>
              </a:ext>
            </a:extLst>
          </p:cNvPr>
          <p:cNvSpPr>
            <a:spLocks xmlns:a="http://schemas.openxmlformats.org/drawingml/2006/main" noGrp="1"/>
          </p:cNvSpPr>
          <p:nvPr/>
        </p:nvSpPr>
        <p:spPr>
          <a:xfrm xmlns:a="http://schemas.openxmlformats.org/drawingml/2006/main">
            <a:off x="7353300" y="3752850"/>
            <a:ext cx="3905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a:solidFill>
                  <a:srgbClr val="D97706"/>
                </a:solidFill>
                <a:latin typeface="Arial"/>
                <a:ea typeface="Arial"/>
                <a:cs typeface="Arial"/>
              </a:defRPr>
            </a:pPr>
            <a:r>
              <a:rPr sz="1875" b="1">
                <a:solidFill>
                  <a:srgbClr val="D97706"/>
                </a:solidFill>
                <a:latin typeface="Arial"/>
                <a:ea typeface="Arial"/>
                <a:cs typeface="Arial"/>
              </a:rPr>
              <a:t>Meaning</a:t>
            </a:r>
          </a:p>
        </p:txBody>
      </p:sp>
      <p:sp>
        <p:nvSpPr>
          <p:cNvPr id="11" name="bone-callout-4">
            <a:extLst xmlns:a="http://schemas.openxmlformats.org/drawingml/2006/main">
              <a:ext uri="{FF2B5EF4-FFF2-40B4-BE49-F238E27FC236}">
                <a16:creationId xmlns:a16="http://schemas.microsoft.com/office/drawing/2014/main" id="{9C5C2980-CB76-4885-B577-19EE30A24DE5}"/>
              </a:ext>
            </a:extLst>
          </p:cNvPr>
          <p:cNvSpPr>
            <a:spLocks xmlns:a="http://schemas.openxmlformats.org/drawingml/2006/main" noGrp="1"/>
          </p:cNvSpPr>
          <p:nvPr/>
        </p:nvSpPr>
        <p:spPr>
          <a:xfrm xmlns:a="http://schemas.openxmlformats.org/drawingml/2006/main">
            <a:off x="7353300" y="4229100"/>
            <a:ext cx="3905250" cy="1295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0">
                <a:solidFill>
                  <a:srgbClr val="5B6472"/>
                </a:solidFill>
                <a:latin typeface="Arial"/>
                <a:ea typeface="Arial"/>
                <a:cs typeface="Arial"/>
              </a:defRPr>
            </a:pPr>
            <a:r>
              <a:rPr sz="1725" b="0">
                <a:solidFill>
                  <a:srgbClr val="5B6472"/>
                </a:solidFill>
                <a:latin typeface="Arial"/>
                <a:ea typeface="Arial"/>
                <a:cs typeface="Arial"/>
              </a:rPr>
              <a:t>A substantial error reduction is not the same as accurate reconstruction. The small-bone ceiling persists.</a:t>
            </a:r>
          </a:p>
        </p:txBody>
      </p:sp>
    </p:spTree>
    <p:extLst>
      <p:ext uri="{BB962C8B-B14F-4D97-AF65-F5344CB8AC3E}">
        <p14:creationId xmlns:p14="http://schemas.microsoft.com/office/powerpoint/2010/main" val="30169745"/>
      </p:ext>
    </p:extLst>
  </p:cSld>
</p:sld>
</file>

<file path=ppt/slides/slide17.xml><?xml version="1.0" encoding="utf-8"?>
<p:sld xmlns:p="http://schemas.openxmlformats.org/presentationml/2006/main">
  <p:cSld>
    <p:bg>
      <p:bgPr>
        <a:solidFill xmlns:a="http://schemas.openxmlformats.org/drawingml/2006/main">
          <a:srgbClr val="FBFBFA"/>
        </a:solidFill>
      </p:bgPr>
    </p:bg>
    <p:spTree>
      <p:nvGrpSpPr>
        <p:cNvPr id="1" name=""/>
        <p:cNvGrpSpPr/>
        <p:nvPr/>
      </p:nvGrpSpPr>
      <p:grpSpPr>
        <a:xfrm xmlns:a="http://schemas.openxmlformats.org/drawingml/2006/main"/>
      </p:grpSpPr>
      <p:sp>
        <p:nvSpPr>
          <p:cNvPr id="12" name="section-17">
            <a:extLst xmlns:a="http://schemas.openxmlformats.org/drawingml/2006/main">
              <a:ext uri="{FF2B5EF4-FFF2-40B4-BE49-F238E27FC236}">
                <a16:creationId xmlns:a16="http://schemas.microsoft.com/office/drawing/2014/main" id="{E31C19FA-F5C4-487C-9A63-CF03A89CB5C9}"/>
              </a:ext>
            </a:extLst>
          </p:cNvPr>
          <p:cNvSpPr>
            <a:spLocks xmlns:a="http://schemas.openxmlformats.org/drawingml/2006/main" noGrp="1"/>
          </p:cNvSpPr>
          <p:nvPr/>
        </p:nvSpPr>
        <p:spPr>
          <a:xfrm xmlns:a="http://schemas.openxmlformats.org/drawingml/2006/main">
            <a:off x="400050" y="238125"/>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563EB"/>
                </a:solidFill>
                <a:latin typeface="Arial"/>
                <a:ea typeface="Arial"/>
                <a:cs typeface="Arial"/>
              </a:defRPr>
            </a:pPr>
            <a:r>
              <a:rPr sz="1125" b="1">
                <a:solidFill>
                  <a:srgbClr val="2563EB"/>
                </a:solidFill>
                <a:latin typeface="Arial"/>
                <a:ea typeface="Arial"/>
                <a:cs typeface="Arial"/>
              </a:rPr>
              <a:t>CRITICAL THINKING</a:t>
            </a:r>
          </a:p>
        </p:txBody>
      </p:sp>
      <p:sp>
        <p:nvSpPr>
          <p:cNvPr id="2" name="title-17">
            <a:extLst xmlns:a="http://schemas.openxmlformats.org/drawingml/2006/main">
              <a:ext uri="{FF2B5EF4-FFF2-40B4-BE49-F238E27FC236}">
                <a16:creationId xmlns:a16="http://schemas.microsoft.com/office/drawing/2014/main" id="{D091736A-87EA-4470-9020-5E86DAE9EB31}"/>
              </a:ext>
            </a:extLst>
          </p:cNvPr>
          <p:cNvSpPr>
            <a:spLocks xmlns:a="http://schemas.openxmlformats.org/drawingml/2006/main" noGrp="1"/>
          </p:cNvSpPr>
          <p:nvPr/>
        </p:nvSpPr>
        <p:spPr>
          <a:xfrm xmlns:a="http://schemas.openxmlformats.org/drawingml/2006/main">
            <a:off x="400050" y="552450"/>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525" b="1">
                <a:solidFill>
                  <a:srgbClr val="111827"/>
                </a:solidFill>
                <a:latin typeface="Arial"/>
                <a:ea typeface="Arial"/>
                <a:cs typeface="Arial"/>
              </a:defRPr>
            </a:pPr>
            <a:r>
              <a:rPr sz="3525" b="1">
                <a:solidFill>
                  <a:srgbClr val="111827"/>
                </a:solidFill>
                <a:latin typeface="Arial"/>
                <a:ea typeface="Arial"/>
                <a:cs typeface="Arial"/>
              </a:rPr>
              <a:t>Fractured anatomy remains harder across every decoder</a:t>
            </a:r>
          </a:p>
        </p:txBody>
      </p:sp>
      <p:cxnSp>
        <p:nvCxnSpPr>
          <p:cNvPr id="14" name="rule-17"/>
          <p:cNvCxnSpPr/>
          <p:nvPr/>
        </p:nvCxnSpPr>
        <p:spPr>
          <a:xfrm xmlns:a="http://schemas.openxmlformats.org/drawingml/2006/main">
            <a:off x="400050" y="1285875"/>
            <a:ext cx="11391900" cy="0"/>
          </a:xfrm>
          <a:prstGeom xmlns:a="http://schemas.openxmlformats.org/drawingml/2006/main" prst="straightConnector1">
            <a:avLst/>
          </a:prstGeom>
          <a:ln xmlns:a="http://schemas.openxmlformats.org/drawingml/2006/main" w="9525">
            <a:solidFill>
              <a:srgbClr val="D9DEE7"/>
            </a:solidFill>
            <a:prstDash val="solid"/>
          </a:ln>
        </p:spPr>
      </p:cxnSp>
      <p:sp>
        <p:nvSpPr>
          <p:cNvPr id="4" name="source-17">
            <a:extLst xmlns:a="http://schemas.openxmlformats.org/drawingml/2006/main">
              <a:ext uri="{FF2B5EF4-FFF2-40B4-BE49-F238E27FC236}">
                <a16:creationId xmlns:a16="http://schemas.microsoft.com/office/drawing/2014/main" id="{C4946806-27C6-4514-ADF7-CB9DC7CF1F93}"/>
              </a:ext>
            </a:extLst>
          </p:cNvPr>
          <p:cNvSpPr>
            <a:spLocks xmlns:a="http://schemas.openxmlformats.org/drawingml/2006/main" noGrp="1"/>
          </p:cNvSpPr>
          <p:nvPr/>
        </p:nvSpPr>
        <p:spPr>
          <a:xfrm xmlns:a="http://schemas.openxmlformats.org/drawingml/2006/main">
            <a:off x="400050" y="6429375"/>
            <a:ext cx="381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5B6472"/>
                </a:solidFill>
                <a:latin typeface="Arial"/>
                <a:ea typeface="Arial"/>
                <a:cs typeface="Arial"/>
              </a:defRPr>
            </a:pPr>
            <a:r>
              <a:rPr sz="900" b="0">
                <a:solidFill>
                  <a:srgbClr val="5B6472"/>
                </a:solidFill>
                <a:latin typeface="Arial"/>
                <a:ea typeface="Arial"/>
                <a:cs typeface="Arial"/>
              </a:rPr>
              <a:t>Report pp. 132–134</a:t>
            </a:r>
          </a:p>
        </p:txBody>
      </p:sp>
      <p:sp>
        <p:nvSpPr>
          <p:cNvPr id="5" name="page-17">
            <a:extLst xmlns:a="http://schemas.openxmlformats.org/drawingml/2006/main">
              <a:ext uri="{FF2B5EF4-FFF2-40B4-BE49-F238E27FC236}">
                <a16:creationId xmlns:a16="http://schemas.microsoft.com/office/drawing/2014/main" id="{3DD5430A-CC2B-4F49-AC9B-7C17B1621C9F}"/>
              </a:ext>
            </a:extLst>
          </p:cNvPr>
          <p:cNvSpPr>
            <a:spLocks xmlns:a="http://schemas.openxmlformats.org/drawingml/2006/main" noGrp="1"/>
          </p:cNvSpPr>
          <p:nvPr/>
        </p:nvSpPr>
        <p:spPr>
          <a:xfrm xmlns:a="http://schemas.openxmlformats.org/drawingml/2006/main">
            <a:off x="11239500" y="6400800"/>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050" b="0">
                <a:solidFill>
                  <a:srgbClr val="5B6472"/>
                </a:solidFill>
                <a:latin typeface="Arial"/>
                <a:ea typeface="Arial"/>
                <a:cs typeface="Arial"/>
              </a:defRPr>
            </a:pPr>
            <a:r>
              <a:rPr sz="1050" b="0">
                <a:solidFill>
                  <a:srgbClr val="5B6472"/>
                </a:solidFill>
                <a:latin typeface="Arial"/>
                <a:ea typeface="Arial"/>
                <a:cs typeface="Arial"/>
              </a:rPr>
              <a:t>17</a:t>
            </a:r>
          </a:p>
        </p:txBody>
      </p:sp>
      <p:graphicFrame>
        <p:nvGraphicFramePr>
          <p:cNvPr id="17" name="Chart"/>
          <p:cNvGraphicFramePr/>
          <p:nvPr/>
        </p:nvGraphicFramePr>
        <p:xfrm>
          <a:off xmlns:a="http://schemas.openxmlformats.org/drawingml/2006/main" x="400050" y="1695450"/>
          <a:ext xmlns:a="http://schemas.openxmlformats.org/drawingml/2006/main" cx="6381750" cy="4362450"/>
        </p:xfrm>
        <a:graphic xmlns:a="http://schemas.openxmlformats.org/drawingml/2006/main">
          <a:graphicData uri="http://schemas.openxmlformats.org/drawingml/2006/chart">
            <c:chart xmlns:r="http://schemas.openxmlformats.org/officeDocument/2006/relationships" xmlns:c="http://schemas.openxmlformats.org/drawingml/2006/chart" r:id="Re0072acdde0a4182"/>
          </a:graphicData>
        </a:graphic>
      </p:graphicFrame>
      <p:sp>
        <p:nvSpPr>
          <p:cNvPr id="7" name="fract-best-panel">
            <a:extLst xmlns:a="http://schemas.openxmlformats.org/drawingml/2006/main">
              <a:ext uri="{FF2B5EF4-FFF2-40B4-BE49-F238E27FC236}">
                <a16:creationId xmlns:a16="http://schemas.microsoft.com/office/drawing/2014/main" id="{B7A7CED1-F9C9-43E5-9AD8-6E5CA9E8AAD5}"/>
              </a:ext>
            </a:extLst>
          </p:cNvPr>
          <p:cNvSpPr>
            <a:spLocks xmlns:a="http://schemas.openxmlformats.org/drawingml/2006/main" noGrp="1"/>
          </p:cNvSpPr>
          <p:nvPr/>
        </p:nvSpPr>
        <p:spPr>
          <a:xfrm xmlns:a="http://schemas.openxmlformats.org/drawingml/2006/main">
            <a:off x="7239000" y="1714500"/>
            <a:ext cx="4552950" cy="1657350"/>
          </a:xfrm>
          <a:prstGeom xmlns:a="http://schemas.openxmlformats.org/drawingml/2006/main" prst="roundRect">
            <a:avLst>
              <a:gd name="adj" fmla="val 6897"/>
            </a:avLst>
          </a:prstGeom>
          <a:solidFill xmlns:a="http://schemas.openxmlformats.org/drawingml/2006/main">
            <a:srgbClr val="F1F3F6"/>
          </a:solidFill>
          <a:ln xmlns:a="http://schemas.openxmlformats.org/drawingml/2006/main" w="0">
            <a:noFill/>
            <a:prstDash val="solid"/>
          </a:ln>
        </p:spPr>
      </p:sp>
      <p:sp>
        <p:nvSpPr>
          <p:cNvPr id="8" name="fract-best-value">
            <a:extLst xmlns:a="http://schemas.openxmlformats.org/drawingml/2006/main">
              <a:ext uri="{FF2B5EF4-FFF2-40B4-BE49-F238E27FC236}">
                <a16:creationId xmlns:a16="http://schemas.microsoft.com/office/drawing/2014/main" id="{1A9935DF-1AE9-4DDE-B4A6-4E5B039D4AE0}"/>
              </a:ext>
            </a:extLst>
          </p:cNvPr>
          <p:cNvSpPr>
            <a:spLocks xmlns:a="http://schemas.openxmlformats.org/drawingml/2006/main" noGrp="1"/>
          </p:cNvSpPr>
          <p:nvPr/>
        </p:nvSpPr>
        <p:spPr>
          <a:xfrm xmlns:a="http://schemas.openxmlformats.org/drawingml/2006/main">
            <a:off x="7448550" y="1924050"/>
            <a:ext cx="41338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600" b="1">
                <a:solidFill>
                  <a:srgbClr val="D97706"/>
                </a:solidFill>
                <a:latin typeface="Arial"/>
                <a:ea typeface="Arial"/>
                <a:cs typeface="Arial"/>
              </a:defRPr>
            </a:pPr>
            <a:r>
              <a:rPr sz="3600" b="1">
                <a:solidFill>
                  <a:srgbClr val="D97706"/>
                </a:solidFill>
                <a:latin typeface="Arial"/>
                <a:ea typeface="Arial"/>
                <a:cs typeface="Arial"/>
              </a:rPr>
              <a:t>0.377</a:t>
            </a:r>
          </a:p>
        </p:txBody>
      </p:sp>
      <p:sp>
        <p:nvSpPr>
          <p:cNvPr id="9" name="fract-best-label">
            <a:extLst xmlns:a="http://schemas.openxmlformats.org/drawingml/2006/main">
              <a:ext uri="{FF2B5EF4-FFF2-40B4-BE49-F238E27FC236}">
                <a16:creationId xmlns:a16="http://schemas.microsoft.com/office/drawing/2014/main" id="{4763EF73-A041-470D-AE1D-08D473E650F6}"/>
              </a:ext>
            </a:extLst>
          </p:cNvPr>
          <p:cNvSpPr>
            <a:spLocks xmlns:a="http://schemas.openxmlformats.org/drawingml/2006/main" noGrp="1"/>
          </p:cNvSpPr>
          <p:nvPr/>
        </p:nvSpPr>
        <p:spPr>
          <a:xfrm xmlns:a="http://schemas.openxmlformats.org/drawingml/2006/main">
            <a:off x="7448550" y="2676525"/>
            <a:ext cx="41338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5B6472"/>
                </a:solidFill>
                <a:latin typeface="Arial"/>
                <a:ea typeface="Arial"/>
                <a:cs typeface="Arial"/>
              </a:defRPr>
            </a:pPr>
            <a:r>
              <a:rPr sz="1500" b="0">
                <a:solidFill>
                  <a:srgbClr val="5B6472"/>
                </a:solidFill>
                <a:latin typeface="Arial"/>
                <a:ea typeface="Arial"/>
                <a:cs typeface="Arial"/>
              </a:rPr>
              <a:t>best fractured-cohort Dice</a:t>
            </a:r>
          </a:p>
        </p:txBody>
      </p:sp>
      <p:sp>
        <p:nvSpPr>
          <p:cNvPr id="10" name="fract-benefit">
            <a:extLst xmlns:a="http://schemas.openxmlformats.org/drawingml/2006/main">
              <a:ext uri="{FF2B5EF4-FFF2-40B4-BE49-F238E27FC236}">
                <a16:creationId xmlns:a16="http://schemas.microsoft.com/office/drawing/2014/main" id="{F7A9C78C-72B1-441D-BF1B-454121675171}"/>
              </a:ext>
            </a:extLst>
          </p:cNvPr>
          <p:cNvSpPr>
            <a:spLocks xmlns:a="http://schemas.openxmlformats.org/drawingml/2006/main" noGrp="1"/>
          </p:cNvSpPr>
          <p:nvPr/>
        </p:nvSpPr>
        <p:spPr>
          <a:xfrm xmlns:a="http://schemas.openxmlformats.org/drawingml/2006/main">
            <a:off x="7429500" y="3667125"/>
            <a:ext cx="41719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75" b="1">
                <a:solidFill>
                  <a:srgbClr val="111827"/>
                </a:solidFill>
                <a:latin typeface="Arial"/>
                <a:ea typeface="Arial"/>
                <a:cs typeface="Arial"/>
              </a:defRPr>
            </a:pPr>
            <a:r>
              <a:rPr sz="1875" b="1">
                <a:solidFill>
                  <a:srgbClr val="111827"/>
                </a:solidFill>
                <a:latin typeface="Arial"/>
                <a:ea typeface="Arial"/>
                <a:cs typeface="Arial"/>
              </a:rPr>
              <a:t>Residual-ReLU vs U-style</a:t>
            </a:r>
          </a:p>
          <a:p xmlns:a="http://schemas.openxmlformats.org/drawingml/2006/main">
            <a:pPr algn="ctr">
              <a:defRPr sz="1875" b="1">
                <a:solidFill>
                  <a:srgbClr val="111827"/>
                </a:solidFill>
                <a:latin typeface="Arial"/>
                <a:ea typeface="Arial"/>
                <a:cs typeface="Arial"/>
              </a:defRPr>
            </a:pPr>
            <a:r>
              <a:rPr sz="1875" b="1">
                <a:solidFill>
                  <a:srgbClr val="111827"/>
                </a:solidFill>
                <a:latin typeface="Arial"/>
                <a:ea typeface="Arial"/>
                <a:cs typeface="Arial"/>
              </a:rPr>
              <a:t>+0.041 Dice  ·  −3.28 mm ASSD</a:t>
            </a:r>
          </a:p>
        </p:txBody>
      </p:sp>
      <p:sp>
        <p:nvSpPr>
          <p:cNvPr id="11" name="fract-caveat">
            <a:extLst xmlns:a="http://schemas.openxmlformats.org/drawingml/2006/main">
              <a:ext uri="{FF2B5EF4-FFF2-40B4-BE49-F238E27FC236}">
                <a16:creationId xmlns:a16="http://schemas.microsoft.com/office/drawing/2014/main" id="{3C8B53F0-2E1D-49F8-85AB-50BBF012969A}"/>
              </a:ext>
            </a:extLst>
          </p:cNvPr>
          <p:cNvSpPr>
            <a:spLocks xmlns:a="http://schemas.openxmlformats.org/drawingml/2006/main" noGrp="1"/>
          </p:cNvSpPr>
          <p:nvPr/>
        </p:nvSpPr>
        <p:spPr>
          <a:xfrm xmlns:a="http://schemas.openxmlformats.org/drawingml/2006/main">
            <a:off x="7286625" y="4791075"/>
            <a:ext cx="44577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650" b="0">
                <a:solidFill>
                  <a:srgbClr val="B91C1C"/>
                </a:solidFill>
                <a:latin typeface="Arial"/>
                <a:ea typeface="Arial"/>
                <a:cs typeface="Arial"/>
              </a:defRPr>
            </a:pPr>
            <a:r>
              <a:rPr sz="1650" b="0">
                <a:solidFill>
                  <a:srgbClr val="B91C1C"/>
                </a:solidFill>
                <a:latin typeface="Arial"/>
                <a:ea typeface="Arial"/>
                <a:cs typeface="Arial"/>
              </a:rPr>
              <a:t>Caution: fracture status is confounded with dataset and scanner domain; this is a cohort difference, not a causal fracture effect.</a:t>
            </a:r>
          </a:p>
        </p:txBody>
      </p:sp>
    </p:spTree>
    <p:extLst>
      <p:ext uri="{BB962C8B-B14F-4D97-AF65-F5344CB8AC3E}">
        <p14:creationId xmlns:p14="http://schemas.microsoft.com/office/powerpoint/2010/main" val="65857776"/>
      </p:ext>
    </p:extLst>
  </p:cSld>
</p:sld>
</file>

<file path=ppt/slides/slide18.xml><?xml version="1.0" encoding="utf-8"?>
<p:sld xmlns:p="http://schemas.openxmlformats.org/presentationml/2006/main">
  <p:cSld>
    <p:bg>
      <p:bgPr>
        <a:solidFill xmlns:a="http://schemas.openxmlformats.org/drawingml/2006/main">
          <a:srgbClr val="FBFBFA"/>
        </a:solidFill>
      </p:bgPr>
    </p:bg>
    <p:spTree>
      <p:nvGrpSpPr>
        <p:cNvPr id="1" name=""/>
        <p:cNvGrpSpPr/>
        <p:nvPr/>
      </p:nvGrpSpPr>
      <p:grpSpPr>
        <a:xfrm xmlns:a="http://schemas.openxmlformats.org/drawingml/2006/main"/>
      </p:grpSpPr>
      <p:sp>
        <p:nvSpPr>
          <p:cNvPr id="14" name="section-18">
            <a:extLst xmlns:a="http://schemas.openxmlformats.org/drawingml/2006/main">
              <a:ext uri="{FF2B5EF4-FFF2-40B4-BE49-F238E27FC236}">
                <a16:creationId xmlns:a16="http://schemas.microsoft.com/office/drawing/2014/main" id="{BDE4D0EB-140C-4BE4-9A5C-A218D956527D}"/>
              </a:ext>
            </a:extLst>
          </p:cNvPr>
          <p:cNvSpPr>
            <a:spLocks xmlns:a="http://schemas.openxmlformats.org/drawingml/2006/main" noGrp="1"/>
          </p:cNvSpPr>
          <p:nvPr/>
        </p:nvSpPr>
        <p:spPr>
          <a:xfrm xmlns:a="http://schemas.openxmlformats.org/drawingml/2006/main">
            <a:off x="400050" y="238125"/>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563EB"/>
                </a:solidFill>
                <a:latin typeface="Arial"/>
                <a:ea typeface="Arial"/>
                <a:cs typeface="Arial"/>
              </a:defRPr>
            </a:pPr>
            <a:r>
              <a:rPr sz="1125" b="1">
                <a:solidFill>
                  <a:srgbClr val="2563EB"/>
                </a:solidFill>
                <a:latin typeface="Arial"/>
                <a:ea typeface="Arial"/>
                <a:cs typeface="Arial"/>
              </a:rPr>
              <a:t>CRITICAL THINKING</a:t>
            </a:r>
          </a:p>
        </p:txBody>
      </p:sp>
      <p:sp>
        <p:nvSpPr>
          <p:cNvPr id="2" name="title-18">
            <a:extLst xmlns:a="http://schemas.openxmlformats.org/drawingml/2006/main">
              <a:ext uri="{FF2B5EF4-FFF2-40B4-BE49-F238E27FC236}">
                <a16:creationId xmlns:a16="http://schemas.microsoft.com/office/drawing/2014/main" id="{CC164CD8-25D9-45DE-A794-2E34428CC4C7}"/>
              </a:ext>
            </a:extLst>
          </p:cNvPr>
          <p:cNvSpPr>
            <a:spLocks xmlns:a="http://schemas.openxmlformats.org/drawingml/2006/main" noGrp="1"/>
          </p:cNvSpPr>
          <p:nvPr/>
        </p:nvSpPr>
        <p:spPr>
          <a:xfrm xmlns:a="http://schemas.openxmlformats.org/drawingml/2006/main">
            <a:off x="400050" y="552450"/>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525" b="1">
                <a:solidFill>
                  <a:srgbClr val="111827"/>
                </a:solidFill>
                <a:latin typeface="Arial"/>
                <a:ea typeface="Arial"/>
                <a:cs typeface="Arial"/>
              </a:defRPr>
            </a:pPr>
            <a:r>
              <a:rPr sz="3525" b="1">
                <a:solidFill>
                  <a:srgbClr val="111827"/>
                </a:solidFill>
                <a:latin typeface="Arial"/>
                <a:ea typeface="Arial"/>
                <a:cs typeface="Arial"/>
              </a:rPr>
              <a:t>Geometry-inconsistent lifting is the plausible system bottleneck</a:t>
            </a:r>
          </a:p>
        </p:txBody>
      </p:sp>
      <p:cxnSp>
        <p:nvCxnSpPr>
          <p:cNvPr id="16" name="rule-18"/>
          <p:cNvCxnSpPr/>
          <p:nvPr/>
        </p:nvCxnSpPr>
        <p:spPr>
          <a:xfrm xmlns:a="http://schemas.openxmlformats.org/drawingml/2006/main">
            <a:off x="400050" y="1285875"/>
            <a:ext cx="11391900" cy="0"/>
          </a:xfrm>
          <a:prstGeom xmlns:a="http://schemas.openxmlformats.org/drawingml/2006/main" prst="straightConnector1">
            <a:avLst/>
          </a:prstGeom>
          <a:ln xmlns:a="http://schemas.openxmlformats.org/drawingml/2006/main" w="9525">
            <a:solidFill>
              <a:srgbClr val="D9DEE7"/>
            </a:solidFill>
            <a:prstDash val="solid"/>
          </a:ln>
        </p:spPr>
      </p:cxnSp>
      <p:sp>
        <p:nvSpPr>
          <p:cNvPr id="4" name="source-18">
            <a:extLst xmlns:a="http://schemas.openxmlformats.org/drawingml/2006/main">
              <a:ext uri="{FF2B5EF4-FFF2-40B4-BE49-F238E27FC236}">
                <a16:creationId xmlns:a16="http://schemas.microsoft.com/office/drawing/2014/main" id="{F5A92EE0-7FC7-4590-9929-AE73F20733EE}"/>
              </a:ext>
            </a:extLst>
          </p:cNvPr>
          <p:cNvSpPr>
            <a:spLocks xmlns:a="http://schemas.openxmlformats.org/drawingml/2006/main" noGrp="1"/>
          </p:cNvSpPr>
          <p:nvPr/>
        </p:nvSpPr>
        <p:spPr>
          <a:xfrm xmlns:a="http://schemas.openxmlformats.org/drawingml/2006/main">
            <a:off x="400050" y="6429375"/>
            <a:ext cx="381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5B6472"/>
                </a:solidFill>
                <a:latin typeface="Arial"/>
                <a:ea typeface="Arial"/>
                <a:cs typeface="Arial"/>
              </a:defRPr>
            </a:pPr>
            <a:r>
              <a:rPr sz="900" b="0">
                <a:solidFill>
                  <a:srgbClr val="5B6472"/>
                </a:solidFill>
                <a:latin typeface="Arial"/>
                <a:ea typeface="Arial"/>
                <a:cs typeface="Arial"/>
              </a:rPr>
              <a:t>Report pp. 139–143</a:t>
            </a:r>
          </a:p>
        </p:txBody>
      </p:sp>
      <p:sp>
        <p:nvSpPr>
          <p:cNvPr id="5" name="page-18">
            <a:extLst xmlns:a="http://schemas.openxmlformats.org/drawingml/2006/main">
              <a:ext uri="{FF2B5EF4-FFF2-40B4-BE49-F238E27FC236}">
                <a16:creationId xmlns:a16="http://schemas.microsoft.com/office/drawing/2014/main" id="{7BDFE546-91A3-4DB7-8F27-9F3DFCC9335F}"/>
              </a:ext>
            </a:extLst>
          </p:cNvPr>
          <p:cNvSpPr>
            <a:spLocks xmlns:a="http://schemas.openxmlformats.org/drawingml/2006/main" noGrp="1"/>
          </p:cNvSpPr>
          <p:nvPr/>
        </p:nvSpPr>
        <p:spPr>
          <a:xfrm xmlns:a="http://schemas.openxmlformats.org/drawingml/2006/main">
            <a:off x="11239500" y="6400800"/>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050" b="0">
                <a:solidFill>
                  <a:srgbClr val="5B6472"/>
                </a:solidFill>
                <a:latin typeface="Arial"/>
                <a:ea typeface="Arial"/>
                <a:cs typeface="Arial"/>
              </a:defRPr>
            </a:pPr>
            <a:r>
              <a:rPr sz="1050" b="0">
                <a:solidFill>
                  <a:srgbClr val="5B6472"/>
                </a:solidFill>
                <a:latin typeface="Arial"/>
                <a:ea typeface="Arial"/>
                <a:cs typeface="Arial"/>
              </a:rPr>
              <a:t>18</a:t>
            </a:r>
          </a:p>
        </p:txBody>
      </p:sp>
      <p:sp>
        <p:nvSpPr>
          <p:cNvPr id="6" name="current-panel">
            <a:extLst xmlns:a="http://schemas.openxmlformats.org/drawingml/2006/main">
              <a:ext uri="{FF2B5EF4-FFF2-40B4-BE49-F238E27FC236}">
                <a16:creationId xmlns:a16="http://schemas.microsoft.com/office/drawing/2014/main" id="{AABAD319-7E9C-4AAD-9D65-4B4C6621B307}"/>
              </a:ext>
            </a:extLst>
          </p:cNvPr>
          <p:cNvSpPr>
            <a:spLocks xmlns:a="http://schemas.openxmlformats.org/drawingml/2006/main" noGrp="1"/>
          </p:cNvSpPr>
          <p:nvPr/>
        </p:nvSpPr>
        <p:spPr>
          <a:xfrm xmlns:a="http://schemas.openxmlformats.org/drawingml/2006/main">
            <a:off x="400050" y="1800225"/>
            <a:ext cx="5067300" cy="3257550"/>
          </a:xfrm>
          <a:prstGeom xmlns:a="http://schemas.openxmlformats.org/drawingml/2006/main" prst="roundRect">
            <a:avLst>
              <a:gd name="adj" fmla="val 3509"/>
            </a:avLst>
          </a:prstGeom>
          <a:solidFill xmlns:a="http://schemas.openxmlformats.org/drawingml/2006/main">
            <a:srgbClr val="FFF4E8"/>
          </a:solidFill>
          <a:ln xmlns:a="http://schemas.openxmlformats.org/drawingml/2006/main" w="0">
            <a:noFill/>
            <a:prstDash val="solid"/>
          </a:ln>
        </p:spPr>
      </p:sp>
      <p:sp>
        <p:nvSpPr>
          <p:cNvPr id="7" name="current-h">
            <a:extLst xmlns:a="http://schemas.openxmlformats.org/drawingml/2006/main">
              <a:ext uri="{FF2B5EF4-FFF2-40B4-BE49-F238E27FC236}">
                <a16:creationId xmlns:a16="http://schemas.microsoft.com/office/drawing/2014/main" id="{61DD36C9-2A06-45B0-91F2-9463408D5B3C}"/>
              </a:ext>
            </a:extLst>
          </p:cNvPr>
          <p:cNvSpPr>
            <a:spLocks xmlns:a="http://schemas.openxmlformats.org/drawingml/2006/main" noGrp="1"/>
          </p:cNvSpPr>
          <p:nvPr/>
        </p:nvSpPr>
        <p:spPr>
          <a:xfrm xmlns:a="http://schemas.openxmlformats.org/drawingml/2006/main">
            <a:off x="714375" y="2095500"/>
            <a:ext cx="44386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100" b="1">
                <a:solidFill>
                  <a:srgbClr val="D97706"/>
                </a:solidFill>
                <a:latin typeface="Arial"/>
                <a:ea typeface="Arial"/>
                <a:cs typeface="Arial"/>
              </a:defRPr>
            </a:pPr>
            <a:r>
              <a:rPr sz="2100" b="1">
                <a:solidFill>
                  <a:srgbClr val="D97706"/>
                </a:solidFill>
                <a:latin typeface="Arial"/>
                <a:ea typeface="Arial"/>
                <a:cs typeface="Arial"/>
              </a:rPr>
              <a:t>Current lift</a:t>
            </a:r>
          </a:p>
        </p:txBody>
      </p:sp>
      <p:sp>
        <p:nvSpPr>
          <p:cNvPr id="8" name="current-b">
            <a:extLst xmlns:a="http://schemas.openxmlformats.org/drawingml/2006/main">
              <a:ext uri="{FF2B5EF4-FFF2-40B4-BE49-F238E27FC236}">
                <a16:creationId xmlns:a16="http://schemas.microsoft.com/office/drawing/2014/main" id="{1A8B1B88-3312-4725-B193-827B9C13CAED}"/>
              </a:ext>
            </a:extLst>
          </p:cNvPr>
          <p:cNvSpPr>
            <a:spLocks xmlns:a="http://schemas.openxmlformats.org/drawingml/2006/main" noGrp="1"/>
          </p:cNvSpPr>
          <p:nvPr/>
        </p:nvSpPr>
        <p:spPr>
          <a:xfrm xmlns:a="http://schemas.openxmlformats.org/drawingml/2006/main">
            <a:off x="723900" y="2771775"/>
            <a:ext cx="44196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00" b="0">
                <a:solidFill>
                  <a:srgbClr val="111827"/>
                </a:solidFill>
                <a:latin typeface="Arial"/>
                <a:ea typeface="Arial"/>
                <a:cs typeface="Arial"/>
              </a:defRPr>
            </a:pPr>
            <a:r>
              <a:rPr sz="1800" b="0">
                <a:solidFill>
                  <a:srgbClr val="111827"/>
                </a:solidFill>
                <a:latin typeface="Arial"/>
                <a:ea typeface="Arial"/>
                <a:cs typeface="Arial"/>
              </a:rPr>
              <a:t>Finite-source DRRs contain divergent rays</a:t>
            </a:r>
          </a:p>
          <a:p xmlns:a="http://schemas.openxmlformats.org/drawingml/2006/main">
            <a:r>
              <a:t/>
            </a:r>
          </a:p>
          <a:p xmlns:a="http://schemas.openxmlformats.org/drawingml/2006/main">
            <a:pPr algn="ctr">
              <a:defRPr sz="1800" b="0">
                <a:solidFill>
                  <a:srgbClr val="111827"/>
                </a:solidFill>
                <a:latin typeface="Arial"/>
                <a:ea typeface="Arial"/>
                <a:cs typeface="Arial"/>
              </a:defRPr>
            </a:pPr>
            <a:r>
              <a:rPr sz="1800" b="0">
                <a:solidFill>
                  <a:srgbClr val="111827"/>
                </a:solidFill>
                <a:latin typeface="Arial"/>
                <a:ea typeface="Arial"/>
                <a:cs typeface="Arial"/>
              </a:rPr>
              <a:t>But AP/LAT features are copied along Cartesian axes</a:t>
            </a:r>
          </a:p>
          <a:p xmlns:a="http://schemas.openxmlformats.org/drawingml/2006/main">
            <a:r>
              <a:t/>
            </a:r>
          </a:p>
          <a:p xmlns:a="http://schemas.openxmlformats.org/drawingml/2006/main">
            <a:pPr algn="ctr">
              <a:defRPr sz="1800" b="0">
                <a:solidFill>
                  <a:srgbClr val="111827"/>
                </a:solidFill>
                <a:latin typeface="Arial"/>
                <a:ea typeface="Arial"/>
                <a:cs typeface="Arial"/>
              </a:defRPr>
            </a:pPr>
            <a:r>
              <a:rPr sz="1800" b="0">
                <a:solidFill>
                  <a:srgbClr val="111827"/>
                </a:solidFill>
                <a:latin typeface="Arial"/>
                <a:ea typeface="Arial"/>
                <a:cs typeface="Arial"/>
              </a:rPr>
              <a:t>→ fused voxels may not represent the same physical point</a:t>
            </a:r>
          </a:p>
        </p:txBody>
      </p:sp>
      <p:sp>
        <p:nvSpPr>
          <p:cNvPr id="9" name="bottleneck-arrow">
            <a:extLst xmlns:a="http://schemas.openxmlformats.org/drawingml/2006/main">
              <a:ext uri="{FF2B5EF4-FFF2-40B4-BE49-F238E27FC236}">
                <a16:creationId xmlns:a16="http://schemas.microsoft.com/office/drawing/2014/main" id="{CB663D9D-CEB4-47AA-89F4-63354662F5FB}"/>
              </a:ext>
            </a:extLst>
          </p:cNvPr>
          <p:cNvSpPr>
            <a:spLocks xmlns:a="http://schemas.openxmlformats.org/drawingml/2006/main" noGrp="1"/>
          </p:cNvSpPr>
          <p:nvPr/>
        </p:nvSpPr>
        <p:spPr>
          <a:xfrm xmlns:a="http://schemas.openxmlformats.org/drawingml/2006/main">
            <a:off x="5657850" y="2952750"/>
            <a:ext cx="876300" cy="762000"/>
          </a:xfrm>
          <a:prstGeom xmlns:a="http://schemas.openxmlformats.org/drawingml/2006/main" prst="rightArrow">
            <a:avLst/>
          </a:prstGeom>
          <a:solidFill xmlns:a="http://schemas.openxmlformats.org/drawingml/2006/main">
            <a:srgbClr val="2563EB"/>
          </a:solidFill>
          <a:ln xmlns:a="http://schemas.openxmlformats.org/drawingml/2006/main" w="0">
            <a:solidFill>
              <a:srgbClr val="2563EB"/>
            </a:solidFill>
            <a:prstDash val="solid"/>
          </a:ln>
        </p:spPr>
      </p:sp>
      <p:sp>
        <p:nvSpPr>
          <p:cNvPr id="10" name="future-panel">
            <a:extLst xmlns:a="http://schemas.openxmlformats.org/drawingml/2006/main">
              <a:ext uri="{FF2B5EF4-FFF2-40B4-BE49-F238E27FC236}">
                <a16:creationId xmlns:a16="http://schemas.microsoft.com/office/drawing/2014/main" id="{8DBE3582-E554-443B-A59E-49E8EA0B0A33}"/>
              </a:ext>
            </a:extLst>
          </p:cNvPr>
          <p:cNvSpPr>
            <a:spLocks xmlns:a="http://schemas.openxmlformats.org/drawingml/2006/main" noGrp="1"/>
          </p:cNvSpPr>
          <p:nvPr/>
        </p:nvSpPr>
        <p:spPr>
          <a:xfrm xmlns:a="http://schemas.openxmlformats.org/drawingml/2006/main">
            <a:off x="6724650" y="1800225"/>
            <a:ext cx="5067300" cy="3257550"/>
          </a:xfrm>
          <a:prstGeom xmlns:a="http://schemas.openxmlformats.org/drawingml/2006/main" prst="roundRect">
            <a:avLst>
              <a:gd name="adj" fmla="val 3509"/>
            </a:avLst>
          </a:prstGeom>
          <a:solidFill xmlns:a="http://schemas.openxmlformats.org/drawingml/2006/main">
            <a:srgbClr val="E7F7F3"/>
          </a:solidFill>
          <a:ln xmlns:a="http://schemas.openxmlformats.org/drawingml/2006/main" w="0">
            <a:noFill/>
            <a:prstDash val="solid"/>
          </a:ln>
        </p:spPr>
      </p:sp>
      <p:sp>
        <p:nvSpPr>
          <p:cNvPr id="11" name="future-h">
            <a:extLst xmlns:a="http://schemas.openxmlformats.org/drawingml/2006/main">
              <a:ext uri="{FF2B5EF4-FFF2-40B4-BE49-F238E27FC236}">
                <a16:creationId xmlns:a16="http://schemas.microsoft.com/office/drawing/2014/main" id="{0F881448-82F1-439D-963B-04515A359990}"/>
              </a:ext>
            </a:extLst>
          </p:cNvPr>
          <p:cNvSpPr>
            <a:spLocks xmlns:a="http://schemas.openxmlformats.org/drawingml/2006/main" noGrp="1"/>
          </p:cNvSpPr>
          <p:nvPr/>
        </p:nvSpPr>
        <p:spPr>
          <a:xfrm xmlns:a="http://schemas.openxmlformats.org/drawingml/2006/main">
            <a:off x="7038975" y="2095500"/>
            <a:ext cx="44386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100" b="1">
                <a:solidFill>
                  <a:srgbClr val="0F766E"/>
                </a:solidFill>
                <a:latin typeface="Arial"/>
                <a:ea typeface="Arial"/>
                <a:cs typeface="Arial"/>
              </a:defRPr>
            </a:pPr>
            <a:r>
              <a:rPr sz="2100" b="1">
                <a:solidFill>
                  <a:srgbClr val="0F766E"/>
                </a:solidFill>
                <a:latin typeface="Arial"/>
                <a:ea typeface="Arial"/>
                <a:cs typeface="Arial"/>
              </a:rPr>
              <a:t>Matched future test</a:t>
            </a:r>
          </a:p>
        </p:txBody>
      </p:sp>
      <p:sp>
        <p:nvSpPr>
          <p:cNvPr id="12" name="future-b">
            <a:extLst xmlns:a="http://schemas.openxmlformats.org/drawingml/2006/main">
              <a:ext uri="{FF2B5EF4-FFF2-40B4-BE49-F238E27FC236}">
                <a16:creationId xmlns:a16="http://schemas.microsoft.com/office/drawing/2014/main" id="{F89825E8-053F-49C1-B621-4C65F9B75933}"/>
              </a:ext>
            </a:extLst>
          </p:cNvPr>
          <p:cNvSpPr>
            <a:spLocks xmlns:a="http://schemas.openxmlformats.org/drawingml/2006/main" noGrp="1"/>
          </p:cNvSpPr>
          <p:nvPr/>
        </p:nvSpPr>
        <p:spPr>
          <a:xfrm xmlns:a="http://schemas.openxmlformats.org/drawingml/2006/main">
            <a:off x="7048500" y="2771775"/>
            <a:ext cx="44196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00" b="0">
                <a:solidFill>
                  <a:srgbClr val="111827"/>
                </a:solidFill>
                <a:latin typeface="Arial"/>
                <a:ea typeface="Arial"/>
                <a:cs typeface="Arial"/>
              </a:defRPr>
            </a:pPr>
            <a:r>
              <a:rPr sz="1800" b="0">
                <a:solidFill>
                  <a:srgbClr val="111827"/>
                </a:solidFill>
                <a:latin typeface="Arial"/>
                <a:ea typeface="Arial"/>
                <a:cs typeface="Arial"/>
              </a:rPr>
              <a:t>Projection-matrix-aware ray lifting</a:t>
            </a:r>
          </a:p>
          <a:p xmlns:a="http://schemas.openxmlformats.org/drawingml/2006/main">
            <a:r>
              <a:t/>
            </a:r>
          </a:p>
          <a:p xmlns:a="http://schemas.openxmlformats.org/drawingml/2006/main">
            <a:pPr algn="ctr">
              <a:defRPr sz="1800" b="0">
                <a:solidFill>
                  <a:srgbClr val="111827"/>
                </a:solidFill>
                <a:latin typeface="Arial"/>
                <a:ea typeface="Arial"/>
                <a:cs typeface="Arial"/>
              </a:defRPr>
            </a:pPr>
            <a:r>
              <a:rPr sz="1800" b="0">
                <a:solidFill>
                  <a:srgbClr val="111827"/>
                </a:solidFill>
                <a:latin typeface="Arial"/>
                <a:ea typeface="Arial"/>
                <a:cs typeface="Arial"/>
              </a:rPr>
              <a:t>or differentiable DRR reprojection loss</a:t>
            </a:r>
          </a:p>
          <a:p xmlns:a="http://schemas.openxmlformats.org/drawingml/2006/main">
            <a:r>
              <a:t/>
            </a:r>
          </a:p>
          <a:p xmlns:a="http://schemas.openxmlformats.org/drawingml/2006/main">
            <a:pPr algn="ctr">
              <a:defRPr sz="1800" b="0">
                <a:solidFill>
                  <a:srgbClr val="111827"/>
                </a:solidFill>
                <a:latin typeface="Arial"/>
                <a:ea typeface="Arial"/>
                <a:cs typeface="Arial"/>
              </a:defRPr>
            </a:pPr>
            <a:r>
              <a:rPr sz="1800" b="0">
                <a:solidFill>
                  <a:srgbClr val="111827"/>
                </a:solidFill>
                <a:latin typeface="Arial"/>
                <a:ea typeface="Arial"/>
                <a:cs typeface="Arial"/>
              </a:rPr>
              <a:t>Keep encoder, decoder, cohort, folds and training fixed</a:t>
            </a:r>
          </a:p>
        </p:txBody>
      </p:sp>
      <p:sp>
        <p:nvSpPr>
          <p:cNvPr id="13" name="hypothesis">
            <a:extLst xmlns:a="http://schemas.openxmlformats.org/drawingml/2006/main">
              <a:ext uri="{FF2B5EF4-FFF2-40B4-BE49-F238E27FC236}">
                <a16:creationId xmlns:a16="http://schemas.microsoft.com/office/drawing/2014/main" id="{64516A03-4ABC-42AB-9CA3-909BBEE71CBD}"/>
              </a:ext>
            </a:extLst>
          </p:cNvPr>
          <p:cNvSpPr>
            <a:spLocks xmlns:a="http://schemas.openxmlformats.org/drawingml/2006/main" noGrp="1"/>
          </p:cNvSpPr>
          <p:nvPr/>
        </p:nvSpPr>
        <p:spPr>
          <a:xfrm xmlns:a="http://schemas.openxmlformats.org/drawingml/2006/main">
            <a:off x="1314450" y="5467350"/>
            <a:ext cx="95631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725" b="1">
                <a:solidFill>
                  <a:srgbClr val="B91C1C"/>
                </a:solidFill>
                <a:latin typeface="Arial"/>
                <a:ea typeface="Arial"/>
                <a:cs typeface="Arial"/>
              </a:defRPr>
            </a:pPr>
            <a:r>
              <a:rPr sz="1725" b="1">
                <a:solidFill>
                  <a:srgbClr val="B91C1C"/>
                </a:solidFill>
                <a:latin typeface="Arial"/>
                <a:ea typeface="Arial"/>
                <a:cs typeface="Arial"/>
              </a:rPr>
              <a:t>This is a supported hypothesis—not a demonstrated causal result—because no matched lift ablation was run.</a:t>
            </a:r>
          </a:p>
        </p:txBody>
      </p:sp>
    </p:spTree>
    <p:extLst>
      <p:ext uri="{BB962C8B-B14F-4D97-AF65-F5344CB8AC3E}">
        <p14:creationId xmlns:p14="http://schemas.microsoft.com/office/powerpoint/2010/main" val="423005493"/>
      </p:ext>
    </p:extLst>
  </p:cSld>
</p:sld>
</file>

<file path=ppt/slides/slide19.xml><?xml version="1.0" encoding="utf-8"?>
<p:sld xmlns:p="http://schemas.openxmlformats.org/presentationml/2006/main">
  <p:cSld>
    <p:bg>
      <p:bgPr>
        <a:solidFill xmlns:a="http://schemas.openxmlformats.org/drawingml/2006/main">
          <a:srgbClr val="FBFBFA"/>
        </a:solidFill>
      </p:bgPr>
    </p:bg>
    <p:spTree>
      <p:nvGrpSpPr>
        <p:cNvPr id="1" name=""/>
        <p:cNvGrpSpPr/>
        <p:nvPr/>
      </p:nvGrpSpPr>
      <p:grpSpPr>
        <a:xfrm xmlns:a="http://schemas.openxmlformats.org/drawingml/2006/main"/>
      </p:grpSpPr>
      <p:sp>
        <p:nvSpPr>
          <p:cNvPr id="8" name="close-kicker">
            <a:extLst xmlns:a="http://schemas.openxmlformats.org/drawingml/2006/main">
              <a:ext uri="{FF2B5EF4-FFF2-40B4-BE49-F238E27FC236}">
                <a16:creationId xmlns:a16="http://schemas.microsoft.com/office/drawing/2014/main" id="{E6B51C12-09C2-460D-A882-B366FEAE764D}"/>
              </a:ext>
            </a:extLst>
          </p:cNvPr>
          <p:cNvSpPr>
            <a:spLocks xmlns:a="http://schemas.openxmlformats.org/drawingml/2006/main" noGrp="1"/>
          </p:cNvSpPr>
          <p:nvPr/>
        </p:nvSpPr>
        <p:spPr>
          <a:xfrm xmlns:a="http://schemas.openxmlformats.org/drawingml/2006/main">
            <a:off x="400050" y="333375"/>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2563EB"/>
                </a:solidFill>
                <a:latin typeface="Arial"/>
                <a:ea typeface="Arial"/>
                <a:cs typeface="Arial"/>
              </a:defRPr>
            </a:pPr>
            <a:r>
              <a:rPr sz="1275" b="1">
                <a:solidFill>
                  <a:srgbClr val="2563EB"/>
                </a:solidFill>
                <a:latin typeface="Arial"/>
                <a:ea typeface="Arial"/>
                <a:cs typeface="Arial"/>
              </a:rPr>
              <a:t>CONCLUSION</a:t>
            </a:r>
          </a:p>
        </p:txBody>
      </p:sp>
      <p:sp>
        <p:nvSpPr>
          <p:cNvPr id="2" name="close-title">
            <a:extLst xmlns:a="http://schemas.openxmlformats.org/drawingml/2006/main">
              <a:ext uri="{FF2B5EF4-FFF2-40B4-BE49-F238E27FC236}">
                <a16:creationId xmlns:a16="http://schemas.microsoft.com/office/drawing/2014/main" id="{AC901C72-08DE-46E1-85ED-5FC20F5C8CF1}"/>
              </a:ext>
            </a:extLst>
          </p:cNvPr>
          <p:cNvSpPr>
            <a:spLocks xmlns:a="http://schemas.openxmlformats.org/drawingml/2006/main" noGrp="1"/>
          </p:cNvSpPr>
          <p:nvPr/>
        </p:nvSpPr>
        <p:spPr>
          <a:xfrm xmlns:a="http://schemas.openxmlformats.org/drawingml/2006/main">
            <a:off x="400050" y="1219200"/>
            <a:ext cx="10668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4350" b="1">
                <a:solidFill>
                  <a:srgbClr val="111827"/>
                </a:solidFill>
                <a:latin typeface="Arial"/>
                <a:ea typeface="Arial"/>
                <a:cs typeface="Arial"/>
              </a:defRPr>
            </a:pPr>
            <a:r>
              <a:rPr sz="4350" b="1">
                <a:solidFill>
                  <a:srgbClr val="111827"/>
                </a:solidFill>
                <a:latin typeface="Arial"/>
                <a:ea typeface="Arial"/>
                <a:cs typeface="Arial"/>
              </a:rPr>
              <a:t>Residual topology matters more than activation choice</a:t>
            </a:r>
          </a:p>
        </p:txBody>
      </p:sp>
      <p:sp>
        <p:nvSpPr>
          <p:cNvPr id="3" name="close-sub">
            <a:extLst xmlns:a="http://schemas.openxmlformats.org/drawingml/2006/main">
              <a:ext uri="{FF2B5EF4-FFF2-40B4-BE49-F238E27FC236}">
                <a16:creationId xmlns:a16="http://schemas.microsoft.com/office/drawing/2014/main" id="{DAE9E40C-A7AF-4523-BD54-32DA229CAF6A}"/>
              </a:ext>
            </a:extLst>
          </p:cNvPr>
          <p:cNvSpPr>
            <a:spLocks xmlns:a="http://schemas.openxmlformats.org/drawingml/2006/main" noGrp="1"/>
          </p:cNvSpPr>
          <p:nvPr/>
        </p:nvSpPr>
        <p:spPr>
          <a:xfrm xmlns:a="http://schemas.openxmlformats.org/drawingml/2006/main">
            <a:off x="400050" y="2943225"/>
            <a:ext cx="10191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75" b="0">
                <a:solidFill>
                  <a:srgbClr val="5B6472"/>
                </a:solidFill>
                <a:latin typeface="Arial"/>
                <a:ea typeface="Arial"/>
                <a:cs typeface="Arial"/>
              </a:defRPr>
            </a:pPr>
            <a:r>
              <a:rPr sz="2175" b="0">
                <a:solidFill>
                  <a:srgbClr val="5B6472"/>
                </a:solidFill>
                <a:latin typeface="Arial"/>
                <a:ea typeface="Arial"/>
                <a:cs typeface="Arial"/>
              </a:rPr>
              <a:t>Residual-ReLU was the strongest tested condition—but the project establishes a controlled evaluation method, not clinical readiness.</a:t>
            </a:r>
          </a:p>
        </p:txBody>
      </p:sp>
      <p:cxnSp>
        <p:nvCxnSpPr>
          <p:cNvPr id="11" name="close-rule"/>
          <p:cNvCxnSpPr/>
          <p:nvPr/>
        </p:nvCxnSpPr>
        <p:spPr>
          <a:xfrm xmlns:a="http://schemas.openxmlformats.org/drawingml/2006/main">
            <a:off x="400050" y="4238625"/>
            <a:ext cx="11391900" cy="0"/>
          </a:xfrm>
          <a:prstGeom xmlns:a="http://schemas.openxmlformats.org/drawingml/2006/main" prst="straightConnector1">
            <a:avLst/>
          </a:prstGeom>
          <a:ln xmlns:a="http://schemas.openxmlformats.org/drawingml/2006/main" w="9525">
            <a:solidFill>
              <a:srgbClr val="D9DEE7"/>
            </a:solidFill>
            <a:prstDash val="solid"/>
          </a:ln>
        </p:spPr>
      </p:cxnSp>
      <p:sp>
        <p:nvSpPr>
          <p:cNvPr id="5" name="close-next">
            <a:extLst xmlns:a="http://schemas.openxmlformats.org/drawingml/2006/main">
              <a:ext uri="{FF2B5EF4-FFF2-40B4-BE49-F238E27FC236}">
                <a16:creationId xmlns:a16="http://schemas.microsoft.com/office/drawing/2014/main" id="{FFD16CDD-C51A-4678-BE3D-32E59B7F8B71}"/>
              </a:ext>
            </a:extLst>
          </p:cNvPr>
          <p:cNvSpPr>
            <a:spLocks xmlns:a="http://schemas.openxmlformats.org/drawingml/2006/main" noGrp="1"/>
          </p:cNvSpPr>
          <p:nvPr/>
        </p:nvSpPr>
        <p:spPr>
          <a:xfrm xmlns:a="http://schemas.openxmlformats.org/drawingml/2006/main">
            <a:off x="400050" y="4676775"/>
            <a:ext cx="109061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0F766E"/>
                </a:solidFill>
                <a:latin typeface="Arial"/>
                <a:ea typeface="Arial"/>
                <a:cs typeface="Arial"/>
              </a:defRPr>
            </a:pPr>
            <a:r>
              <a:rPr sz="1800" b="1">
                <a:solidFill>
                  <a:srgbClr val="0F766E"/>
                </a:solidFill>
                <a:latin typeface="Arial"/>
                <a:ea typeface="Arial"/>
                <a:cs typeface="Arial"/>
              </a:rPr>
              <a:t>Next: projection-aware lifting  ·  balanced fractured cohorts  ·  expert fracture evaluation  ·  real paired X-ray/CT validation</a:t>
            </a:r>
          </a:p>
        </p:txBody>
      </p:sp>
      <p:sp>
        <p:nvSpPr>
          <p:cNvPr id="6" name="close-boundary">
            <a:extLst xmlns:a="http://schemas.openxmlformats.org/drawingml/2006/main">
              <a:ext uri="{FF2B5EF4-FFF2-40B4-BE49-F238E27FC236}">
                <a16:creationId xmlns:a16="http://schemas.microsoft.com/office/drawing/2014/main" id="{7D37893A-2AB0-4BC3-A594-E63B52F36657}"/>
              </a:ext>
            </a:extLst>
          </p:cNvPr>
          <p:cNvSpPr>
            <a:spLocks xmlns:a="http://schemas.openxmlformats.org/drawingml/2006/main" noGrp="1"/>
          </p:cNvSpPr>
          <p:nvPr/>
        </p:nvSpPr>
        <p:spPr>
          <a:xfrm xmlns:a="http://schemas.openxmlformats.org/drawingml/2006/main">
            <a:off x="400050" y="5657850"/>
            <a:ext cx="109061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111827"/>
                </a:solidFill>
                <a:latin typeface="Arial"/>
                <a:ea typeface="Arial"/>
                <a:cs typeface="Arial"/>
              </a:defRPr>
            </a:pPr>
            <a:r>
              <a:rPr sz="1650" b="0">
                <a:solidFill>
                  <a:srgbClr val="111827"/>
                </a:solidFill>
                <a:latin typeface="Arial"/>
                <a:ea typeface="Arial"/>
                <a:cs typeface="Arial"/>
              </a:rPr>
              <a:t>Best defensible claim: residual decoding uses the available 3D features more effectively, while absolute and fracture-specific performance remain limited.</a:t>
            </a:r>
          </a:p>
        </p:txBody>
      </p:sp>
      <p:sp>
        <p:nvSpPr>
          <p:cNvPr id="7" name="page-19">
            <a:extLst xmlns:a="http://schemas.openxmlformats.org/drawingml/2006/main">
              <a:ext uri="{FF2B5EF4-FFF2-40B4-BE49-F238E27FC236}">
                <a16:creationId xmlns:a16="http://schemas.microsoft.com/office/drawing/2014/main" id="{AA42F98D-D834-4290-9EAB-2820075C10F0}"/>
              </a:ext>
            </a:extLst>
          </p:cNvPr>
          <p:cNvSpPr>
            <a:spLocks xmlns:a="http://schemas.openxmlformats.org/drawingml/2006/main" noGrp="1"/>
          </p:cNvSpPr>
          <p:nvPr/>
        </p:nvSpPr>
        <p:spPr>
          <a:xfrm xmlns:a="http://schemas.openxmlformats.org/drawingml/2006/main">
            <a:off x="11239500" y="6400800"/>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050" b="0">
                <a:solidFill>
                  <a:srgbClr val="5B6472"/>
                </a:solidFill>
                <a:latin typeface="Arial"/>
                <a:ea typeface="Arial"/>
                <a:cs typeface="Arial"/>
              </a:defRPr>
            </a:pPr>
            <a:r>
              <a:rPr sz="1050" b="0">
                <a:solidFill>
                  <a:srgbClr val="5B6472"/>
                </a:solidFill>
                <a:latin typeface="Arial"/>
                <a:ea typeface="Arial"/>
                <a:cs typeface="Arial"/>
              </a:rPr>
              <a:t>19</a:t>
            </a:r>
          </a:p>
        </p:txBody>
      </p:sp>
    </p:spTree>
    <p:extLst>
      <p:ext uri="{BB962C8B-B14F-4D97-AF65-F5344CB8AC3E}">
        <p14:creationId xmlns:p14="http://schemas.microsoft.com/office/powerpoint/2010/main" val="39630850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2026-08-05T18:22:43.7130000Z</dcterms:created>
  <dcterms:modified xsi:type="dcterms:W3CDTF">2026-08-05T18:22:43.7130000Z</dcterms:modified>
</coreProperties>
</file>