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74" r:id="rId15"/>
    <p:sldId id="268" r:id="rId16"/>
    <p:sldId id="269"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24DBC-B845-48AD-B0C8-93AFC80CF2C3}" v="2" dt="2026-08-05T18:29:07.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48" y="1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 Zheng Shao" userId="20e93f1d2f4dfdfb" providerId="LiveId" clId="{CD1C82F4-6EBB-4C48-8215-AD79B87BADE4}"/>
    <pc:docChg chg="addSld modSld sldOrd">
      <pc:chgData name="Chan Zheng Shao" userId="20e93f1d2f4dfdfb" providerId="LiveId" clId="{CD1C82F4-6EBB-4C48-8215-AD79B87BADE4}" dt="2026-08-05T18:29:07.231" v="3"/>
      <pc:docMkLst>
        <pc:docMk/>
      </pc:docMkLst>
      <pc:sldChg chg="add ord setBg">
        <pc:chgData name="Chan Zheng Shao" userId="20e93f1d2f4dfdfb" providerId="LiveId" clId="{CD1C82F4-6EBB-4C48-8215-AD79B87BADE4}" dt="2026-08-05T18:28:24.883" v="2"/>
        <pc:sldMkLst>
          <pc:docMk/>
          <pc:sldMk cId="1440575810" sldId="273"/>
        </pc:sldMkLst>
      </pc:sldChg>
      <pc:sldChg chg="add setBg">
        <pc:chgData name="Chan Zheng Shao" userId="20e93f1d2f4dfdfb" providerId="LiveId" clId="{CD1C82F4-6EBB-4C48-8215-AD79B87BADE4}" dt="2026-08-05T18:29:07.231" v="3"/>
        <pc:sldMkLst>
          <pc:docMk/>
          <pc:sldMk cId="617250845" sldId="274"/>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Mean macro-Dice (%)</c:v>
          </c:tx>
          <c:spPr>
            <a:solidFill>
              <a:srgbClr val="2563EB"/>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U-style</c:v>
              </c:pt>
              <c:pt idx="1">
                <c:v>V-style</c:v>
              </c:pt>
              <c:pt idx="2">
                <c:v>Residual-ReLU</c:v>
              </c:pt>
              <c:pt idx="3">
                <c:v>Plain-PReLU</c:v>
              </c:pt>
            </c:strLit>
          </c:cat>
          <c:val>
            <c:numLit>
              <c:formatCode>General</c:formatCode>
              <c:ptCount val="4"/>
              <c:pt idx="0">
                <c:v>40.6</c:v>
              </c:pt>
              <c:pt idx="1">
                <c:v>44.6</c:v>
              </c:pt>
              <c:pt idx="2">
                <c:v>45.5</c:v>
              </c:pt>
              <c:pt idx="3">
                <c:v>40.6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820-46FC-BEFD-8B19D73E39CA}"/>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EE7"/>
            </a:solidFill>
            <a:prstDash val="solid"/>
          </a:ln>
        </c:spPr>
        <c:txPr>
          <a:bodyPr anchorCtr="1"/>
          <a:lstStyle/>
          <a:p>
            <a:pPr>
              <a:defRPr sz="1350">
                <a:solidFill>
                  <a:srgbClr val="111827"/>
                </a:solidFill>
                <a:latin typeface="Arial"/>
                <a:ea typeface="Arial"/>
                <a:cs typeface="Arial"/>
              </a:defRPr>
            </a:pPr>
            <a:endParaRPr lang="en-US"/>
          </a:p>
        </c:txPr>
        <c:crossAx val="48672768"/>
        <c:crosses val="autoZero"/>
        <c:auto val="1"/>
        <c:lblAlgn val="ctr"/>
        <c:lblOffset val="100"/>
        <c:noMultiLvlLbl val="0"/>
      </c:catAx>
      <c:valAx>
        <c:axId val="48672768"/>
        <c:scaling>
          <c:orientation val="minMax"/>
          <c:max val="48"/>
          <c:min val="35"/>
        </c:scaling>
        <c:delete val="0"/>
        <c:axPos val="l"/>
        <c:majorGridlines>
          <c:spPr>
            <a:ln w="9525">
              <a:solidFill>
                <a:srgbClr val="D9DE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5B6472"/>
                </a:solidFill>
                <a:latin typeface="Arial"/>
                <a:ea typeface="Arial"/>
                <a:cs typeface="Arial"/>
              </a:defRPr>
            </a:pPr>
            <a:endParaRPr lang="en-US"/>
          </a:p>
        </c:txPr>
        <c:crossAx val="48650112"/>
        <c:crosses val="autoZero"/>
        <c:crossBetween val="between"/>
        <c:majorUnit val="5"/>
      </c:valAx>
      <c:spPr>
        <a:noFill/>
      </c:spPr>
    </c:plotArea>
    <c:legend>
      <c:legendPos val="b"/>
      <c:overlay val="0"/>
    </c:legend>
    <c:plotVisOnly val="1"/>
    <c:dispBlanksAs val="zero"/>
    <c:showDLblsOverMax val="1"/>
  </c:chart>
  <c:spPr>
    <a:solidFill>
      <a:srgbClr val="FBFBFA"/>
    </a:solidFill>
    <a:ln w="0">
      <a:solidFill>
        <a:srgbClr val="FBFBFA"/>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U-style</c:v>
          </c:tx>
          <c:spPr>
            <a:ln w="28575">
              <a:solidFill>
                <a:srgbClr val="94A3B8"/>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45</c:v>
              </c:pt>
              <c:pt idx="1">
                <c:v>40.9</c:v>
              </c:pt>
              <c:pt idx="2">
                <c:v>40.799999999999997</c:v>
              </c:pt>
              <c:pt idx="3">
                <c:v>39.5</c:v>
              </c:pt>
              <c:pt idx="4">
                <c:v>36.9</c:v>
              </c:pt>
            </c:numLit>
          </c:val>
          <c:smooth val="1"/>
          <c:extLst>
            <c:ext xmlns:c16="http://schemas.microsoft.com/office/drawing/2014/chart" uri="{C3380CC4-5D6E-409C-BE32-E72D297353CC}">
              <c16:uniqueId val="{00000000-B770-42EF-A8D8-DBEB2060F373}"/>
            </c:ext>
          </c:extLst>
        </c:ser>
        <c:ser>
          <c:idx val="1"/>
          <c:order val="1"/>
          <c:tx>
            <c:v>V-style</c:v>
          </c:tx>
          <c:spPr>
            <a:ln w="28575">
              <a:solidFill>
                <a:srgbClr val="60A5FA"/>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48.1</c:v>
              </c:pt>
              <c:pt idx="1">
                <c:v>43.1</c:v>
              </c:pt>
              <c:pt idx="2">
                <c:v>45.9</c:v>
              </c:pt>
              <c:pt idx="3">
                <c:v>43.6</c:v>
              </c:pt>
              <c:pt idx="4">
                <c:v>41.9</c:v>
              </c:pt>
            </c:numLit>
          </c:val>
          <c:smooth val="1"/>
          <c:extLst>
            <c:ext xmlns:c16="http://schemas.microsoft.com/office/drawing/2014/chart" uri="{C3380CC4-5D6E-409C-BE32-E72D297353CC}">
              <c16:uniqueId val="{00000001-B770-42EF-A8D8-DBEB2060F373}"/>
            </c:ext>
          </c:extLst>
        </c:ser>
        <c:ser>
          <c:idx val="2"/>
          <c:order val="2"/>
          <c:tx>
            <c:v>Residual-ReLU</c:v>
          </c:tx>
          <c:spPr>
            <a:ln w="38100">
              <a:solidFill>
                <a:srgbClr val="0F766E"/>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49.5</c:v>
              </c:pt>
              <c:pt idx="1">
                <c:v>43</c:v>
              </c:pt>
              <c:pt idx="2">
                <c:v>46.9</c:v>
              </c:pt>
              <c:pt idx="3">
                <c:v>45.6</c:v>
              </c:pt>
              <c:pt idx="4">
                <c:v>42.3</c:v>
              </c:pt>
            </c:numLit>
          </c:val>
          <c:smooth val="1"/>
          <c:extLst>
            <c:ext xmlns:c16="http://schemas.microsoft.com/office/drawing/2014/chart" uri="{C3380CC4-5D6E-409C-BE32-E72D297353CC}">
              <c16:uniqueId val="{00000002-B770-42EF-A8D8-DBEB2060F373}"/>
            </c:ext>
          </c:extLst>
        </c:ser>
        <c:ser>
          <c:idx val="3"/>
          <c:order val="3"/>
          <c:tx>
            <c:v>Plain-PReLU</c:v>
          </c:tx>
          <c:spPr>
            <a:ln w="28575">
              <a:solidFill>
                <a:srgbClr val="D97706"/>
              </a:solidFill>
            </a:ln>
          </c:spPr>
          <c:marker>
            <c:symbol val="none"/>
          </c:marker>
          <c:cat>
            <c:strLit>
              <c:ptCount val="5"/>
              <c:pt idx="0">
                <c:v>Fold 0</c:v>
              </c:pt>
              <c:pt idx="1">
                <c:v>Fold 1</c:v>
              </c:pt>
              <c:pt idx="2">
                <c:v>Fold 2</c:v>
              </c:pt>
              <c:pt idx="3">
                <c:v>Fold 3</c:v>
              </c:pt>
              <c:pt idx="4">
                <c:v>Fold 4</c:v>
              </c:pt>
            </c:strLit>
          </c:cat>
          <c:val>
            <c:numLit>
              <c:formatCode>General</c:formatCode>
              <c:ptCount val="5"/>
              <c:pt idx="0">
                <c:v>44.1</c:v>
              </c:pt>
              <c:pt idx="1">
                <c:v>40.5</c:v>
              </c:pt>
              <c:pt idx="2">
                <c:v>40.799999999999997</c:v>
              </c:pt>
              <c:pt idx="3">
                <c:v>39.5</c:v>
              </c:pt>
              <c:pt idx="4">
                <c:v>38.1</c:v>
              </c:pt>
            </c:numLit>
          </c:val>
          <c:smooth val="1"/>
          <c:extLst>
            <c:ext xmlns:c16="http://schemas.microsoft.com/office/drawing/2014/chart" uri="{C3380CC4-5D6E-409C-BE32-E72D297353CC}">
              <c16:uniqueId val="{00000003-B770-42EF-A8D8-DBEB2060F373}"/>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9DEE7"/>
            </a:solidFill>
            <a:prstDash val="solid"/>
          </a:ln>
        </c:spPr>
        <c:txPr>
          <a:bodyPr anchorCtr="1"/>
          <a:lstStyle/>
          <a:p>
            <a:pPr>
              <a:defRPr sz="1200">
                <a:solidFill>
                  <a:srgbClr val="111827"/>
                </a:solidFill>
                <a:latin typeface="Arial"/>
                <a:ea typeface="Arial"/>
                <a:cs typeface="Arial"/>
              </a:defRPr>
            </a:pPr>
            <a:endParaRPr lang="en-US"/>
          </a:p>
        </c:txPr>
        <c:crossAx val="48672768"/>
        <c:crosses val="autoZero"/>
        <c:auto val="1"/>
        <c:lblAlgn val="ctr"/>
        <c:lblOffset val="100"/>
        <c:noMultiLvlLbl val="0"/>
      </c:catAx>
      <c:valAx>
        <c:axId val="48672768"/>
        <c:scaling>
          <c:orientation val="minMax"/>
          <c:max val="52"/>
          <c:min val="34"/>
        </c:scaling>
        <c:delete val="0"/>
        <c:axPos val="l"/>
        <c:majorGridlines>
          <c:spPr>
            <a:ln w="9525">
              <a:solidFill>
                <a:srgbClr val="D9DE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B6472"/>
                </a:solidFill>
                <a:latin typeface="Arial"/>
                <a:ea typeface="Arial"/>
                <a:cs typeface="Arial"/>
              </a:defRPr>
            </a:pPr>
            <a:endParaRPr lang="en-US"/>
          </a:p>
        </c:txPr>
        <c:crossAx val="48650112"/>
        <c:crosses val="autoZero"/>
        <c:crossBetween val="between"/>
        <c:majorUnit val="4"/>
      </c:valAx>
      <c:spPr>
        <a:noFill/>
      </c:spPr>
    </c:plotArea>
    <c:legend>
      <c:legendPos val="b"/>
      <c:overlay val="0"/>
    </c:legend>
    <c:plotVisOnly val="1"/>
    <c:dispBlanksAs val="zero"/>
    <c:showDLblsOverMax val="1"/>
  </c:chart>
  <c:spPr>
    <a:solidFill>
      <a:srgbClr val="FBFBFA"/>
    </a:solidFill>
    <a:ln w="0">
      <a:solidFill>
        <a:srgbClr val="FBFBFA"/>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U-style</c:v>
          </c:tx>
          <c:spPr>
            <a:solidFill>
              <a:srgbClr val="94A3B8"/>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Femur</c:v>
              </c:pt>
              <c:pt idx="1">
                <c:v>Tibia</c:v>
              </c:pt>
              <c:pt idx="2">
                <c:v>Patella</c:v>
              </c:pt>
              <c:pt idx="3">
                <c:v>Fibula</c:v>
              </c:pt>
            </c:strLit>
          </c:cat>
          <c:val>
            <c:numLit>
              <c:formatCode>General</c:formatCode>
              <c:ptCount val="4"/>
              <c:pt idx="0">
                <c:v>59.6</c:v>
              </c:pt>
              <c:pt idx="1">
                <c:v>59.5</c:v>
              </c:pt>
              <c:pt idx="2">
                <c:v>32.799999999999997</c:v>
              </c:pt>
              <c:pt idx="3">
                <c:v>10.6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CBB-46B6-B6D1-A6C4D1CC13A3}"/>
            </c:ext>
          </c:extLst>
        </c:ser>
        <c:ser>
          <c:idx val="1"/>
          <c:order val="1"/>
          <c:tx>
            <c:v>V-style</c:v>
          </c:tx>
          <c:spPr>
            <a:solidFill>
              <a:srgbClr val="60A5FA"/>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Femur</c:v>
              </c:pt>
              <c:pt idx="1">
                <c:v>Tibia</c:v>
              </c:pt>
              <c:pt idx="2">
                <c:v>Patella</c:v>
              </c:pt>
              <c:pt idx="3">
                <c:v>Fibula</c:v>
              </c:pt>
            </c:strLit>
          </c:cat>
          <c:val>
            <c:numLit>
              <c:formatCode>General</c:formatCode>
              <c:ptCount val="4"/>
              <c:pt idx="0">
                <c:v>62</c:v>
              </c:pt>
              <c:pt idx="1">
                <c:v>61.6</c:v>
              </c:pt>
              <c:pt idx="2">
                <c:v>36.700000000000003</c:v>
              </c:pt>
              <c:pt idx="3">
                <c:v>17.8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CBB-46B6-B6D1-A6C4D1CC13A3}"/>
            </c:ext>
          </c:extLst>
        </c:ser>
        <c:ser>
          <c:idx val="2"/>
          <c:order val="2"/>
          <c:tx>
            <c:v>Residual-ReLU</c:v>
          </c:tx>
          <c:spPr>
            <a:solidFill>
              <a:srgbClr val="0F766E"/>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Femur</c:v>
              </c:pt>
              <c:pt idx="1">
                <c:v>Tibia</c:v>
              </c:pt>
              <c:pt idx="2">
                <c:v>Patella</c:v>
              </c:pt>
              <c:pt idx="3">
                <c:v>Fibula</c:v>
              </c:pt>
            </c:strLit>
          </c:cat>
          <c:val>
            <c:numLit>
              <c:formatCode>General</c:formatCode>
              <c:ptCount val="4"/>
              <c:pt idx="0">
                <c:v>63.1</c:v>
              </c:pt>
              <c:pt idx="1">
                <c:v>62.7</c:v>
              </c:pt>
              <c:pt idx="2">
                <c:v>38</c:v>
              </c:pt>
              <c:pt idx="3">
                <c:v>18.3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CBB-46B6-B6D1-A6C4D1CC13A3}"/>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EE7"/>
            </a:solidFill>
            <a:prstDash val="solid"/>
          </a:ln>
        </c:spPr>
        <c:txPr>
          <a:bodyPr anchorCtr="1"/>
          <a:lstStyle/>
          <a:p>
            <a:pPr>
              <a:defRPr sz="1350">
                <a:solidFill>
                  <a:srgbClr val="111827"/>
                </a:solidFill>
                <a:latin typeface="Arial"/>
                <a:ea typeface="Arial"/>
                <a:cs typeface="Arial"/>
              </a:defRPr>
            </a:pPr>
            <a:endParaRPr lang="en-US"/>
          </a:p>
        </c:txPr>
        <c:crossAx val="48672768"/>
        <c:crosses val="autoZero"/>
        <c:auto val="1"/>
        <c:lblAlgn val="ctr"/>
        <c:lblOffset val="100"/>
        <c:noMultiLvlLbl val="0"/>
      </c:catAx>
      <c:valAx>
        <c:axId val="48672768"/>
        <c:scaling>
          <c:orientation val="minMax"/>
          <c:max val="70"/>
          <c:min val="0"/>
        </c:scaling>
        <c:delete val="0"/>
        <c:axPos val="l"/>
        <c:majorGridlines>
          <c:spPr>
            <a:ln w="9525">
              <a:solidFill>
                <a:srgbClr val="D9DE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275">
                <a:solidFill>
                  <a:srgbClr val="5B6472"/>
                </a:solidFill>
                <a:latin typeface="Arial"/>
                <a:ea typeface="Arial"/>
                <a:cs typeface="Arial"/>
              </a:defRPr>
            </a:pPr>
            <a:endParaRPr lang="en-US"/>
          </a:p>
        </c:txPr>
        <c:crossAx val="48650112"/>
        <c:crosses val="autoZero"/>
        <c:crossBetween val="between"/>
        <c:majorUnit val="10"/>
      </c:valAx>
      <c:spPr>
        <a:noFill/>
      </c:spPr>
    </c:plotArea>
    <c:legend>
      <c:legendPos val="b"/>
      <c:overlay val="0"/>
    </c:legend>
    <c:plotVisOnly val="1"/>
    <c:dispBlanksAs val="zero"/>
    <c:showDLblsOverMax val="1"/>
  </c:chart>
  <c:spPr>
    <a:solidFill>
      <a:srgbClr val="FBFBFA"/>
    </a:solidFill>
    <a:ln w="0">
      <a:solidFill>
        <a:srgbClr val="FBFBFA"/>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Healthy Dice (%)</c:v>
          </c:tx>
          <c:spPr>
            <a:solidFill>
              <a:srgbClr val="2563EB"/>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U-style</c:v>
              </c:pt>
              <c:pt idx="1">
                <c:v>V-style</c:v>
              </c:pt>
              <c:pt idx="2">
                <c:v>Residual-
ReLU</c:v>
              </c:pt>
              <c:pt idx="3">
                <c:v>Plain-
PReLU</c:v>
              </c:pt>
            </c:strLit>
          </c:cat>
          <c:val>
            <c:numLit>
              <c:formatCode>General</c:formatCode>
              <c:ptCount val="4"/>
              <c:pt idx="0">
                <c:v>43.7</c:v>
              </c:pt>
              <c:pt idx="1">
                <c:v>48</c:v>
              </c:pt>
              <c:pt idx="2">
                <c:v>48.9</c:v>
              </c:pt>
              <c:pt idx="3">
                <c:v>43.9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0B8-456A-9139-4E022BD5E042}"/>
            </c:ext>
          </c:extLst>
        </c:ser>
        <c:ser>
          <c:idx val="1"/>
          <c:order val="1"/>
          <c:tx>
            <c:v>Fractured Dice (%)</c:v>
          </c:tx>
          <c:spPr>
            <a:solidFill>
              <a:srgbClr val="D97706"/>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U-style</c:v>
              </c:pt>
              <c:pt idx="1">
                <c:v>V-style</c:v>
              </c:pt>
              <c:pt idx="2">
                <c:v>Residual-
ReLU</c:v>
              </c:pt>
              <c:pt idx="3">
                <c:v>Plain-
PReLU</c:v>
              </c:pt>
            </c:strLit>
          </c:cat>
          <c:val>
            <c:numLit>
              <c:formatCode>General</c:formatCode>
              <c:ptCount val="4"/>
              <c:pt idx="0">
                <c:v>33.6</c:v>
              </c:pt>
              <c:pt idx="1">
                <c:v>36.5</c:v>
              </c:pt>
              <c:pt idx="2">
                <c:v>37.700000000000003</c:v>
              </c:pt>
              <c:pt idx="3">
                <c:v>33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0B8-456A-9139-4E022BD5E042}"/>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EE7"/>
            </a:solidFill>
            <a:prstDash val="solid"/>
          </a:ln>
        </c:spPr>
        <c:txPr>
          <a:bodyPr anchorCtr="1"/>
          <a:lstStyle/>
          <a:p>
            <a:pPr>
              <a:defRPr sz="1275">
                <a:solidFill>
                  <a:srgbClr val="111827"/>
                </a:solidFill>
                <a:latin typeface="Arial"/>
                <a:ea typeface="Arial"/>
                <a:cs typeface="Arial"/>
              </a:defRPr>
            </a:pPr>
            <a:endParaRPr lang="en-US"/>
          </a:p>
        </c:txPr>
        <c:crossAx val="48672768"/>
        <c:crosses val="autoZero"/>
        <c:auto val="1"/>
        <c:lblAlgn val="ctr"/>
        <c:lblOffset val="100"/>
        <c:noMultiLvlLbl val="0"/>
      </c:catAx>
      <c:valAx>
        <c:axId val="48672768"/>
        <c:scaling>
          <c:orientation val="minMax"/>
          <c:max val="55"/>
          <c:min val="25"/>
        </c:scaling>
        <c:delete val="0"/>
        <c:axPos val="l"/>
        <c:majorGridlines>
          <c:spPr>
            <a:ln w="9525">
              <a:solidFill>
                <a:srgbClr val="D9DE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275">
                <a:solidFill>
                  <a:srgbClr val="5B6472"/>
                </a:solidFill>
                <a:latin typeface="Arial"/>
                <a:ea typeface="Arial"/>
                <a:cs typeface="Arial"/>
              </a:defRPr>
            </a:pPr>
            <a:endParaRPr lang="en-US"/>
          </a:p>
        </c:txPr>
        <c:crossAx val="48650112"/>
        <c:crosses val="autoZero"/>
        <c:crossBetween val="between"/>
        <c:majorUnit val="10"/>
      </c:valAx>
      <c:spPr>
        <a:noFill/>
      </c:spPr>
    </c:plotArea>
    <c:legend>
      <c:legendPos val="b"/>
      <c:overlay val="0"/>
    </c:legend>
    <c:plotVisOnly val="1"/>
    <c:dispBlanksAs val="zero"/>
    <c:showDLblsOverMax val="1"/>
  </c:chart>
  <c:spPr>
    <a:solidFill>
      <a:srgbClr val="FBFBFA"/>
    </a:solidFill>
    <a:ln w="0">
      <a:solidFill>
        <a:srgbClr val="FBFBFA"/>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0:30</a:t>
            </a:r>
          </a:p>
          <a:p>
            <a:endParaRPr/>
          </a:p>
          <a:p>
            <a:r>
              <a:t>Talk track:</a:t>
            </a:r>
          </a:p>
          <a:p>
            <a:r>
              <a:t>Introduce the project as a controlled computing experiment, not a clinically deployable system. State the central result only as a preview: residual topology mattered more than activation choice.</a:t>
            </a:r>
          </a:p>
          <a:p>
            <a:endParaRPr/>
          </a:p>
          <a:p>
            <a:r>
              <a:t>[Sources]</a:t>
            </a:r>
          </a:p>
          <a:p>
            <a:r>
              <a:t>- 24020059_Capstone_2.docx, pp. 1–2; title page and abstract; Figure 33 on p. 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1:20</a:t>
            </a:r>
          </a:p>
          <a:p>
            <a:endParaRPr/>
          </a:p>
          <a:p>
            <a:r>
              <a:t>Talk track:</a:t>
            </a:r>
          </a:p>
          <a:p>
            <a:r>
              <a:t>Explain why two projections do not uniquely determine a volume. Contrast the accessibility of radiography with CT’s detailed 3D evidence and resource burden. Emphasise the project’s careful adjunct framing.</a:t>
            </a:r>
          </a:p>
          <a:p>
            <a:endParaRPr/>
          </a:p>
          <a:p>
            <a:r>
              <a:t>[Sources]</a:t>
            </a:r>
          </a:p>
          <a:p>
            <a:r>
              <a:t>- 24020059_Capstone_2.docx, pp. 10–11, 22–23; background and domain background; Figure 33 on p. 88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a:t>
            </a:r>
          </a:p>
          <a:p>
            <a:endParaRPr/>
          </a:p>
          <a:p>
            <a:r>
              <a:t>Talk track:</a:t>
            </a:r>
          </a:p>
          <a:p>
            <a:r>
              <a:t>Synthesize the literature rather than listing papers. The key implication is experimental: reported model rankings cannot identify which decoder property caused an improvement. Mention that Dice and clinical/surface accuracy can diverge.</a:t>
            </a:r>
          </a:p>
          <a:p>
            <a:endParaRPr/>
          </a:p>
          <a:p>
            <a:r>
              <a:t>[Sources]</a:t>
            </a:r>
          </a:p>
          <a:p>
            <a:r>
              <a:t>- 24020059_Capstone_2.docx, pp. 20–21, 38–51; literature review introduction, comparative benchmarks, metrics, decoder lineages and research gap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1:10</a:t>
            </a:r>
          </a:p>
          <a:p>
            <a:endParaRPr/>
          </a:p>
          <a:p>
            <a:r>
              <a:t>Talk track:</a:t>
            </a:r>
          </a:p>
          <a:p>
            <a:r>
              <a:t>Read the research question, then connect each objective to a threat to validity: leakage, upstream confounding, metric blindness and unfair model comparison.</a:t>
            </a:r>
          </a:p>
          <a:p>
            <a:endParaRPr/>
          </a:p>
          <a:p>
            <a:r>
              <a:t>[Sources]</a:t>
            </a:r>
          </a:p>
          <a:p>
            <a:r>
              <a:t>- 24020059_Capstone_2.docx, pp. 12–15; problem statement, research question, aim, objectives and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a:t>
            </a:r>
          </a:p>
          <a:p>
            <a:endParaRPr/>
          </a:p>
          <a:p>
            <a:r>
              <a:t>Talk track:</a:t>
            </a:r>
          </a:p>
          <a:p>
            <a:r>
              <a:t>Use the report’s modelling-plan figure to walk left to right. Highlight that the encoder is trained within each fold, then frozen; all arms receive the same feature pyramid, and evaluation uses held-out subjects.</a:t>
            </a:r>
          </a:p>
          <a:p>
            <a:endParaRPr/>
          </a:p>
          <a:p>
            <a:r>
              <a:t>[Sources]</a:t>
            </a:r>
          </a:p>
          <a:p>
            <a:r>
              <a:t>- 24020059_Capstone_2.docx, pp. 58–60, 90–104; CRISP-DM, methodology flow and Figure 34 on p. 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0:55</a:t>
            </a:r>
          </a:p>
          <a:p>
            <a:endParaRPr/>
          </a:p>
          <a:p>
            <a:r>
              <a:t>Talk track:</a:t>
            </a:r>
          </a:p>
          <a:p>
            <a:r>
              <a:t>Explain why subject grouping matters: bilateral knees are correlated and must not cross train/test boundaries. Then acknowledge the 4.5-to-1 imbalance and the dataset-domain confounding.</a:t>
            </a:r>
          </a:p>
          <a:p>
            <a:endParaRPr/>
          </a:p>
          <a:p>
            <a:r>
              <a:t>[Sources]</a:t>
            </a:r>
          </a:p>
          <a:p>
            <a:r>
              <a:t>- 24020059_Capstone_2.docx, pp. 14, 76–77, 110; scope, cohort construction and leakage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1:05</a:t>
            </a:r>
          </a:p>
          <a:p>
            <a:endParaRPr/>
          </a:p>
          <a:p>
            <a:r>
              <a:t>Talk track:</a:t>
            </a:r>
          </a:p>
          <a:p>
            <a:r>
              <a:t>Explain the full target lineage. CT volumes were segmented into the four bones in 3D Slicer, assisted by TotalSegmentator and surface smoothing, then exported as STL meshes. Each surface was transformed into one common LPS grid and voxelised as a separate binary channel. These masks supervise decoder training and act as the held-out reference for Dice and ASSD. State the annotation-validation limitation clearly.</a:t>
            </a:r>
          </a:p>
          <a:p>
            <a:endParaRPr/>
          </a:p>
          <a:p>
            <a:r>
              <a:t>[Sources]</a:t>
            </a:r>
          </a:p>
          <a:p>
            <a:r>
              <a:t>- 24020059_Capstone_2.docx, pp. 83-85, 109-110; four-bone target construction and Figure 37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1:00</a:t>
            </a:r>
          </a:p>
          <a:p>
            <a:endParaRPr/>
          </a:p>
          <a:p>
            <a:r>
              <a:t>Talk track:</a:t>
            </a:r>
          </a:p>
          <a:p>
            <a:r>
              <a:t>Explain how each preprocessing choice protects the experiment from a false architectural result. Note the limitation: meshes and fracture regions were manually prepared without expert clinical validation.</a:t>
            </a:r>
          </a:p>
          <a:p>
            <a:endParaRPr/>
          </a:p>
          <a:p>
            <a:r>
              <a:t>[Sources]</a:t>
            </a:r>
          </a:p>
          <a:p>
            <a:r>
              <a:t>- 24020059_Capstone_2.docx, pp. 78–88; data preparation; Figure 29 on p. 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a:t>
            </a:r>
          </a:p>
          <a:p>
            <a:endParaRPr/>
          </a:p>
          <a:p>
            <a:r>
              <a:t>Talk track:</a:t>
            </a:r>
          </a:p>
          <a:p>
            <a:r>
              <a:t>Show how the two extra arms isolate causal factors descriptively. The residual-ReLU arm asks what happens when topology changes alone; plain-PReLU asks what happens when activation changes alone.</a:t>
            </a:r>
          </a:p>
          <a:p>
            <a:endParaRPr/>
          </a:p>
          <a:p>
            <a:r>
              <a:t>[Sources]</a:t>
            </a:r>
          </a:p>
          <a:p>
            <a:r>
              <a:t>- 24020059_Capstone_2.docx, pp. 59, 98–102; Tables 5, 10 and 11; controlled factorial decoder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1:00</a:t>
            </a:r>
          </a:p>
          <a:p>
            <a:endParaRPr/>
          </a:p>
          <a:p>
            <a:r>
              <a:t>Talk track:</a:t>
            </a:r>
          </a:p>
          <a:p>
            <a:r>
              <a:t>Walk through the evaluation contract. Dice alone is insufficient; ASSD and explicit empty-prediction handling stop catastrophic small-bone failures from disappearing inside an average.</a:t>
            </a:r>
          </a:p>
          <a:p>
            <a:endParaRPr/>
          </a:p>
          <a:p>
            <a:r>
              <a:t>[Sources]</a:t>
            </a:r>
          </a:p>
          <a:p>
            <a:r>
              <a:t>- 24020059_Capstone_2.docx, pp. 102–105; decoder training protocol and controlled out-of-fold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1:15</a:t>
            </a:r>
          </a:p>
          <a:p>
            <a:endParaRPr/>
          </a:p>
          <a:p>
            <a:r>
              <a:t>Talk track:</a:t>
            </a:r>
          </a:p>
          <a:p>
            <a:r>
              <a:t>P1 performs label-free adaptation to DRR appearance by reconstructing masked single views. P2 keeps that objective and adds bidirectional AP-lateral completion so the encoder must learn complementary view information. Report both loss reductions, then state the interpretation boundary: the tasks differ, no CT target enters either phase, and Fold 4 showed much weaker pairing evidence.</a:t>
            </a:r>
          </a:p>
          <a:p>
            <a:endParaRPr/>
          </a:p>
          <a:p>
            <a:r>
              <a:t>[Sources]</a:t>
            </a:r>
          </a:p>
          <a:p>
            <a:r>
              <a:t>- 24020059_Capstone_2.docx, pp. 91-92, 114-118; Figures 40-42 and Table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1:10</a:t>
            </a:r>
          </a:p>
          <a:p>
            <a:endParaRPr/>
          </a:p>
          <a:p>
            <a:r>
              <a:t>Talk track:</a:t>
            </a:r>
          </a:p>
          <a:p>
            <a:r>
              <a:t>Explain that identical front-end checkpoints establish fairness, but do not guarantee that the representation is strong. Fold 4 had weak cross-view evidence, and small bones were already the hardest before decoder comparison.</a:t>
            </a:r>
          </a:p>
          <a:p>
            <a:endParaRPr/>
          </a:p>
          <a:p>
            <a:r>
              <a:t>[Sources]</a:t>
            </a:r>
          </a:p>
          <a:p>
            <a:r>
              <a:t>- 24020059_Capstone_2.docx, pp. 114–120; Figures 40–44; encoder pretraining and shared front-end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1:40</a:t>
            </a:r>
          </a:p>
          <a:p>
            <a:endParaRPr/>
          </a:p>
          <a:p>
            <a:r>
              <a:t>Talk track:</a:t>
            </a:r>
          </a:p>
          <a:p>
            <a:r>
              <a:t>Present the overall subject-level result. V-style beats U-style, but the factorial arms reveal why: residual topology drives the gain. PReLU alone is neutral, and slightly worsens the residual condition. Avoid claiming that full V-Net universally beats 3D U-Net.</a:t>
            </a:r>
          </a:p>
          <a:p>
            <a:endParaRPr/>
          </a:p>
          <a:p>
            <a:r>
              <a:t>[Sources]</a:t>
            </a:r>
          </a:p>
          <a:p>
            <a:r>
              <a:t>- 24020059_Capstone_2.docx, pp. 123–126; Figure 45 and Tables 14–15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a:t>
            </a:r>
          </a:p>
          <a:p>
            <a:endParaRPr/>
          </a:p>
          <a:p>
            <a:r>
              <a:t>Talk track:</a:t>
            </a:r>
          </a:p>
          <a:p>
            <a:r>
              <a:t>Fold 4 had the weakest cross-view evidence and the lowest absolute Dice for every arm, so it exposed a shared-front-end quality ceiling. The fold was not discarded. A leave-Fold-4-out sensitivity check changed the residual advantage only from about 0.044 to 0.043, preserving the descriptive conclusion. Also distinguish the Fold-2 empty-patella surface failure: it explains ASSD inconsistency and was retained under the predefined penalty.</a:t>
            </a:r>
          </a:p>
          <a:p>
            <a:endParaRPr/>
          </a:p>
          <a:p>
            <a:r>
              <a:t>[Sources]</a:t>
            </a:r>
          </a:p>
          <a:p>
            <a:r>
              <a:t>- 24020059_Capstone_2.docx, pp. 116-118, 127-128; Tables 12, 16 and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1:20</a:t>
            </a:r>
          </a:p>
          <a:p>
            <a:endParaRPr/>
          </a:p>
          <a:p>
            <a:r>
              <a:t>Talk track:</a:t>
            </a:r>
          </a:p>
          <a:p>
            <a:r>
              <a:t>Compare large and small bones. The fibula gains are large in relative terms, but its absolute performance remains unsuitable. This distinction demonstrates critical interpretation rather than simply celebrating improvement.</a:t>
            </a:r>
          </a:p>
          <a:p>
            <a:endParaRPr/>
          </a:p>
          <a:p>
            <a:r>
              <a:t>[Sources]</a:t>
            </a:r>
          </a:p>
          <a:p>
            <a:r>
              <a:t>- 24020059_Capstone_2.docx, pp. 129–131; Table 18 and bone-specific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1:20</a:t>
            </a:r>
          </a:p>
          <a:p>
            <a:endParaRPr/>
          </a:p>
          <a:p>
            <a:r>
              <a:t>Talk track:</a:t>
            </a:r>
          </a:p>
          <a:p>
            <a:r>
              <a:t>Show that residual decoding helps both cohorts, yet none closes the fractured performance gap. State the domain-confounding limitation clearly: the result cannot isolate fracture status from dataset acquisition effects.</a:t>
            </a:r>
          </a:p>
          <a:p>
            <a:endParaRPr/>
          </a:p>
          <a:p>
            <a:r>
              <a:t>[Sources]</a:t>
            </a:r>
          </a:p>
          <a:p>
            <a:r>
              <a:t>- 24020059_Capstone_2.docx, pp. 132–134; Table 19 and healthy/fractured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a:t>
            </a:r>
          </a:p>
          <a:p>
            <a:endParaRPr/>
          </a:p>
          <a:p>
            <a:r>
              <a:t>Talk track:</a:t>
            </a:r>
          </a:p>
          <a:p>
            <a:r>
              <a:t>Use the report’s reconstruction interface figure as context, then explain the retained empty-prediction penalty. The alternative pipeline reinforces the central caution: an aggregate improvement can coexist with worse pathological generalisation.</a:t>
            </a:r>
          </a:p>
          <a:p>
            <a:endParaRPr/>
          </a:p>
          <a:p>
            <a:r>
              <a:t>[Sources]</a:t>
            </a:r>
          </a:p>
          <a:p>
            <a:r>
              <a:t>- 24020059_Capstone_2.docx, pp. 127–128, 135–137; Table 17, Figure 45 and Tables 20–21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1:05</a:t>
            </a:r>
          </a:p>
          <a:p>
            <a:endParaRPr/>
          </a:p>
          <a:p>
            <a:r>
              <a:t>Talk track:</a:t>
            </a:r>
          </a:p>
          <a:p>
            <a:r>
              <a:t>Explain the mismatch between finite-source projection geometry and Cartesian feature broadcasting. Be precise that this is a plausible bottleneck, not a causal finding. The proposed experiment changes only the lift.</a:t>
            </a:r>
          </a:p>
          <a:p>
            <a:endParaRPr/>
          </a:p>
          <a:p>
            <a:r>
              <a:t>[Sources]</a:t>
            </a:r>
          </a:p>
          <a:p>
            <a:r>
              <a:t>- 24020059_Capstone_2.docx, pp. 139–143; integrated limitations and projection-aware lifting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0:35</a:t>
            </a:r>
          </a:p>
          <a:p>
            <a:endParaRPr/>
          </a:p>
          <a:p>
            <a:r>
              <a:t>Talk track:</a:t>
            </a:r>
          </a:p>
          <a:p>
            <a:r>
              <a:t>Close by answering the research question directly. Reiterate the boundary between a controlled architecture result and a clinically valid reconstruction system. Invite questions on the experiment, failure analysis or proposed ablations.</a:t>
            </a:r>
          </a:p>
          <a:p>
            <a:endParaRPr/>
          </a:p>
          <a:p>
            <a:r>
              <a:t>[Sources]</a:t>
            </a:r>
          </a:p>
          <a:p>
            <a:r>
              <a:t>- 24020059_Capstone_2.docx, pp. 143–147; future work and conclusion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9" name="title-kicker">
            <a:extLst>
              <a:ext uri="{FF2B5EF4-FFF2-40B4-BE49-F238E27FC236}">
                <a16:creationId xmlns:a16="http://schemas.microsoft.com/office/drawing/2014/main" id="{C52664BF-E185-4858-B703-ACF8DD20A93D}"/>
              </a:ext>
            </a:extLst>
          </p:cNvPr>
          <p:cNvSpPr>
            <a:spLocks noGrp="1"/>
          </p:cNvSpPr>
          <p:nvPr/>
        </p:nvSpPr>
        <p:spPr>
          <a:xfrm>
            <a:off x="400050" y="323850"/>
            <a:ext cx="3429000" cy="285750"/>
          </a:xfrm>
          <a:prstGeom prst="rect">
            <a:avLst/>
          </a:prstGeom>
          <a:noFill/>
          <a:ln w="0">
            <a:noFill/>
            <a:prstDash val="solid"/>
          </a:ln>
        </p:spPr>
        <p:txBody>
          <a:bodyPr anchor="t"/>
          <a:lstStyle/>
          <a:p>
            <a:pPr algn="l">
              <a:defRPr sz="1275" b="1">
                <a:solidFill>
                  <a:srgbClr val="2563EB"/>
                </a:solidFill>
                <a:latin typeface="Arial"/>
                <a:ea typeface="Arial"/>
                <a:cs typeface="Arial"/>
              </a:defRPr>
            </a:pPr>
            <a:r>
              <a:rPr sz="1275" b="1">
                <a:solidFill>
                  <a:srgbClr val="2563EB"/>
                </a:solidFill>
                <a:latin typeface="Arial"/>
                <a:ea typeface="Arial"/>
                <a:cs typeface="Arial"/>
              </a:rPr>
              <a:t>CAPSTONE PROJECT 2</a:t>
            </a:r>
          </a:p>
        </p:txBody>
      </p:sp>
      <p:sp>
        <p:nvSpPr>
          <p:cNvPr id="2" name="title-main">
            <a:extLst>
              <a:ext uri="{FF2B5EF4-FFF2-40B4-BE49-F238E27FC236}">
                <a16:creationId xmlns:a16="http://schemas.microsoft.com/office/drawing/2014/main" id="{F17306F2-2A83-4F9C-98AF-F4BA73AA19D2}"/>
              </a:ext>
            </a:extLst>
          </p:cNvPr>
          <p:cNvSpPr>
            <a:spLocks noGrp="1"/>
          </p:cNvSpPr>
          <p:nvPr/>
        </p:nvSpPr>
        <p:spPr>
          <a:xfrm>
            <a:off x="400050" y="1066800"/>
            <a:ext cx="5429250" cy="2047875"/>
          </a:xfrm>
          <a:prstGeom prst="rect">
            <a:avLst/>
          </a:prstGeom>
          <a:noFill/>
          <a:ln w="0">
            <a:noFill/>
            <a:prstDash val="solid"/>
          </a:ln>
        </p:spPr>
        <p:txBody>
          <a:bodyPr anchor="t"/>
          <a:lstStyle/>
          <a:p>
            <a:pPr algn="l">
              <a:defRPr sz="3750" b="1">
                <a:solidFill>
                  <a:srgbClr val="111827"/>
                </a:solidFill>
                <a:latin typeface="Arial"/>
                <a:ea typeface="Arial"/>
                <a:cs typeface="Arial"/>
              </a:defRPr>
            </a:pPr>
            <a:r>
              <a:rPr sz="3750" b="1">
                <a:solidFill>
                  <a:srgbClr val="111827"/>
                </a:solidFill>
                <a:latin typeface="Arial"/>
                <a:ea typeface="Arial"/>
                <a:cs typeface="Arial"/>
              </a:rPr>
              <a:t>Fracture-Preserving</a:t>
            </a:r>
          </a:p>
          <a:p>
            <a:pPr algn="l">
              <a:defRPr sz="3750" b="1">
                <a:solidFill>
                  <a:srgbClr val="111827"/>
                </a:solidFill>
                <a:latin typeface="Arial"/>
                <a:ea typeface="Arial"/>
                <a:cs typeface="Arial"/>
              </a:defRPr>
            </a:pPr>
            <a:r>
              <a:rPr sz="3750" b="1">
                <a:solidFill>
                  <a:srgbClr val="111827"/>
                </a:solidFill>
                <a:latin typeface="Arial"/>
                <a:ea typeface="Arial"/>
                <a:cs typeface="Arial"/>
              </a:rPr>
              <a:t>3D Knee Reconstruction</a:t>
            </a:r>
          </a:p>
        </p:txBody>
      </p:sp>
      <p:sp>
        <p:nvSpPr>
          <p:cNvPr id="3" name="title-sub">
            <a:extLst>
              <a:ext uri="{FF2B5EF4-FFF2-40B4-BE49-F238E27FC236}">
                <a16:creationId xmlns:a16="http://schemas.microsoft.com/office/drawing/2014/main" id="{67AB9B28-EFCF-4A0C-92D8-D10148118336}"/>
              </a:ext>
            </a:extLst>
          </p:cNvPr>
          <p:cNvSpPr>
            <a:spLocks noGrp="1"/>
          </p:cNvSpPr>
          <p:nvPr/>
        </p:nvSpPr>
        <p:spPr>
          <a:xfrm>
            <a:off x="400050" y="3390900"/>
            <a:ext cx="5286375" cy="990600"/>
          </a:xfrm>
          <a:prstGeom prst="rect">
            <a:avLst/>
          </a:prstGeom>
          <a:noFill/>
          <a:ln w="0">
            <a:noFill/>
            <a:prstDash val="solid"/>
          </a:ln>
        </p:spPr>
        <p:txBody>
          <a:bodyPr anchor="t"/>
          <a:lstStyle/>
          <a:p>
            <a:pPr algn="l">
              <a:defRPr sz="1950" b="0">
                <a:solidFill>
                  <a:srgbClr val="5B6472"/>
                </a:solidFill>
                <a:latin typeface="Arial"/>
                <a:ea typeface="Arial"/>
                <a:cs typeface="Arial"/>
              </a:defRPr>
            </a:pPr>
            <a:r>
              <a:rPr sz="1950" b="0">
                <a:solidFill>
                  <a:srgbClr val="5B6472"/>
                </a:solidFill>
                <a:latin typeface="Arial"/>
                <a:ea typeface="Arial"/>
                <a:cs typeface="Arial"/>
              </a:rPr>
              <a:t>A controlled comparison of U-Net-style and V-Net-style decoder blocks</a:t>
            </a:r>
          </a:p>
        </p:txBody>
      </p:sp>
      <p:sp>
        <p:nvSpPr>
          <p:cNvPr id="4" name="title-meta">
            <a:extLst>
              <a:ext uri="{FF2B5EF4-FFF2-40B4-BE49-F238E27FC236}">
                <a16:creationId xmlns:a16="http://schemas.microsoft.com/office/drawing/2014/main" id="{FBC12BD2-13C6-4955-A93F-78FA32A5065A}"/>
              </a:ext>
            </a:extLst>
          </p:cNvPr>
          <p:cNvSpPr>
            <a:spLocks noGrp="1"/>
          </p:cNvSpPr>
          <p:nvPr/>
        </p:nvSpPr>
        <p:spPr>
          <a:xfrm>
            <a:off x="400050" y="5314950"/>
            <a:ext cx="4953000" cy="6858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CHAN ZHENG SHAO  ·  24020059</a:t>
            </a:r>
          </a:p>
          <a:p>
            <a:pPr algn="l">
              <a:defRPr sz="1425" b="0">
                <a:solidFill>
                  <a:srgbClr val="111827"/>
                </a:solidFill>
                <a:latin typeface="Arial"/>
                <a:ea typeface="Arial"/>
                <a:cs typeface="Arial"/>
              </a:defRPr>
            </a:pPr>
            <a:r>
              <a:rPr sz="1425" b="0">
                <a:solidFill>
                  <a:srgbClr val="111827"/>
                </a:solidFill>
                <a:latin typeface="Arial"/>
                <a:ea typeface="Arial"/>
                <a:cs typeface="Arial"/>
              </a:rPr>
              <a:t>Supervisor: Prof. Ts. Dr Lee Yun Li</a:t>
            </a:r>
          </a:p>
        </p:txBody>
      </p:sp>
      <p:sp>
        <p:nvSpPr>
          <p:cNvPr id="5" name="hero-back">
            <a:extLst>
              <a:ext uri="{FF2B5EF4-FFF2-40B4-BE49-F238E27FC236}">
                <a16:creationId xmlns:a16="http://schemas.microsoft.com/office/drawing/2014/main" id="{9737B385-E1AB-498C-97F2-EAFFA49404F4}"/>
              </a:ext>
            </a:extLst>
          </p:cNvPr>
          <p:cNvSpPr>
            <a:spLocks noGrp="1"/>
          </p:cNvSpPr>
          <p:nvPr/>
        </p:nvSpPr>
        <p:spPr>
          <a:xfrm>
            <a:off x="6238875" y="400050"/>
            <a:ext cx="5562600" cy="5619750"/>
          </a:xfrm>
          <a:prstGeom prst="roundRect">
            <a:avLst>
              <a:gd name="adj" fmla="val 2055"/>
            </a:avLst>
          </a:prstGeom>
          <a:solidFill>
            <a:srgbClr val="EAF5FB"/>
          </a:solidFill>
          <a:ln w="9525">
            <a:solidFill>
              <a:srgbClr val="D9DEE7"/>
            </a:solidFill>
            <a:prstDash val="solid"/>
          </a:ln>
        </p:spPr>
        <p:txBody>
          <a:bodyPr/>
          <a:lstStyle/>
          <a:p>
            <a:endParaRPr lang="en-MY"/>
          </a:p>
        </p:txBody>
      </p:sp>
      <p:pic>
        <p:nvPicPr>
          <p:cNvPr id="14" name="Picture 13"/>
          <p:cNvPicPr>
            <a:picLocks noChangeAspect="1"/>
          </p:cNvPicPr>
          <p:nvPr/>
        </p:nvPicPr>
        <p:blipFill>
          <a:blip r:embed="rId3"/>
          <a:stretch/>
        </p:blipFill>
        <p:spPr>
          <a:xfrm>
            <a:off x="6457950" y="1535727"/>
            <a:ext cx="5124450" cy="2929296"/>
          </a:xfrm>
          <a:prstGeom prst="roundRect">
            <a:avLst>
              <a:gd name="adj" fmla="val 3061"/>
            </a:avLst>
          </a:prstGeom>
        </p:spPr>
      </p:pic>
      <p:sp>
        <p:nvSpPr>
          <p:cNvPr id="7" name="hero-caption">
            <a:extLst>
              <a:ext uri="{FF2B5EF4-FFF2-40B4-BE49-F238E27FC236}">
                <a16:creationId xmlns:a16="http://schemas.microsoft.com/office/drawing/2014/main" id="{577AA0B6-FDB7-4636-87D0-AB942B7E4168}"/>
              </a:ext>
            </a:extLst>
          </p:cNvPr>
          <p:cNvSpPr>
            <a:spLocks noGrp="1"/>
          </p:cNvSpPr>
          <p:nvPr/>
        </p:nvSpPr>
        <p:spPr>
          <a:xfrm>
            <a:off x="6572250" y="5048250"/>
            <a:ext cx="4762500" cy="647700"/>
          </a:xfrm>
          <a:prstGeom prst="rect">
            <a:avLst/>
          </a:prstGeom>
          <a:noFill/>
          <a:ln w="0">
            <a:noFill/>
            <a:prstDash val="solid"/>
          </a:ln>
        </p:spPr>
        <p:txBody>
          <a:bodyPr anchor="t"/>
          <a:lstStyle/>
          <a:p>
            <a:pPr algn="ctr">
              <a:defRPr sz="1725" b="1">
                <a:solidFill>
                  <a:srgbClr val="0F766E"/>
                </a:solidFill>
                <a:latin typeface="Arial"/>
                <a:ea typeface="Arial"/>
                <a:cs typeface="Arial"/>
              </a:defRPr>
            </a:pPr>
            <a:r>
              <a:rPr sz="1725" b="1">
                <a:solidFill>
                  <a:srgbClr val="0F766E"/>
                </a:solidFill>
                <a:latin typeface="Arial"/>
                <a:ea typeface="Arial"/>
                <a:cs typeface="Arial"/>
              </a:rPr>
              <a:t>Paired AP + lateral projections</a:t>
            </a:r>
          </a:p>
          <a:p>
            <a:pPr algn="ctr">
              <a:defRPr sz="1725" b="1">
                <a:solidFill>
                  <a:srgbClr val="0F766E"/>
                </a:solidFill>
                <a:latin typeface="Arial"/>
                <a:ea typeface="Arial"/>
                <a:cs typeface="Arial"/>
              </a:defRPr>
            </a:pPr>
            <a:r>
              <a:rPr sz="1725" b="1">
                <a:solidFill>
                  <a:srgbClr val="0F766E"/>
                </a:solidFill>
                <a:latin typeface="Arial"/>
                <a:ea typeface="Arial"/>
                <a:cs typeface="Arial"/>
              </a:rPr>
              <a:t>→ four-bone 3D occupancy</a:t>
            </a:r>
          </a:p>
        </p:txBody>
      </p:sp>
      <p:sp>
        <p:nvSpPr>
          <p:cNvPr id="8" name="page-1">
            <a:extLst>
              <a:ext uri="{FF2B5EF4-FFF2-40B4-BE49-F238E27FC236}">
                <a16:creationId xmlns:a16="http://schemas.microsoft.com/office/drawing/2014/main" id="{6BD82667-09FD-42A5-AC38-BE93EE098794}"/>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01</a:t>
            </a:r>
          </a:p>
        </p:txBody>
      </p:sp>
    </p:spTree>
    <p:extLst>
      <p:ext uri="{BB962C8B-B14F-4D97-AF65-F5344CB8AC3E}">
        <p14:creationId xmlns:p14="http://schemas.microsoft.com/office/powerpoint/2010/main" val="226093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4" name="section-2">
            <a:extLst>
              <a:ext uri="{FF2B5EF4-FFF2-40B4-BE49-F238E27FC236}">
                <a16:creationId xmlns:a16="http://schemas.microsoft.com/office/drawing/2014/main" id="{FE0E9AFB-58B6-4F1A-9C0F-3C223E145E27}"/>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TOPIC KNOWLEDGE</a:t>
            </a:r>
          </a:p>
        </p:txBody>
      </p:sp>
      <p:sp>
        <p:nvSpPr>
          <p:cNvPr id="2" name="title-2">
            <a:extLst>
              <a:ext uri="{FF2B5EF4-FFF2-40B4-BE49-F238E27FC236}">
                <a16:creationId xmlns:a16="http://schemas.microsoft.com/office/drawing/2014/main" id="{05A3684D-7EDD-459A-8D20-52CD1E35E54E}"/>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Two X-rays are accessible—but 3D fracture morphology remains ambiguous</a:t>
            </a:r>
          </a:p>
        </p:txBody>
      </p:sp>
      <p:cxnSp>
        <p:nvCxnSpPr>
          <p:cNvPr id="16" name="rule-2"/>
          <p:cNvCxnSpPr/>
          <p:nvPr/>
        </p:nvCxnSpPr>
        <p:spPr>
          <a:xfrm>
            <a:off x="400050" y="1285875"/>
            <a:ext cx="11391900" cy="0"/>
          </a:xfrm>
          <a:prstGeom prst="straightConnector1">
            <a:avLst/>
          </a:prstGeom>
          <a:ln w="9525">
            <a:solidFill>
              <a:srgbClr val="D9DEE7"/>
            </a:solidFill>
            <a:prstDash val="solid"/>
          </a:ln>
        </p:spPr>
      </p:cxnSp>
      <p:sp>
        <p:nvSpPr>
          <p:cNvPr id="4" name="source-2">
            <a:extLst>
              <a:ext uri="{FF2B5EF4-FFF2-40B4-BE49-F238E27FC236}">
                <a16:creationId xmlns:a16="http://schemas.microsoft.com/office/drawing/2014/main" id="{D4BBA508-116D-49C5-8001-142F2FF768AF}"/>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10–11, 22–23</a:t>
            </a:r>
          </a:p>
        </p:txBody>
      </p:sp>
      <p:sp>
        <p:nvSpPr>
          <p:cNvPr id="5" name="page-2">
            <a:extLst>
              <a:ext uri="{FF2B5EF4-FFF2-40B4-BE49-F238E27FC236}">
                <a16:creationId xmlns:a16="http://schemas.microsoft.com/office/drawing/2014/main" id="{F7E983B4-5D6D-45FD-BC03-97C99DD6D10E}"/>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02</a:t>
            </a:r>
          </a:p>
        </p:txBody>
      </p:sp>
      <p:pic>
        <p:nvPicPr>
          <p:cNvPr id="19" name="Picture 18"/>
          <p:cNvPicPr>
            <a:picLocks noChangeAspect="1"/>
          </p:cNvPicPr>
          <p:nvPr/>
        </p:nvPicPr>
        <p:blipFill>
          <a:blip r:embed="rId3"/>
          <a:stretch/>
        </p:blipFill>
        <p:spPr>
          <a:xfrm>
            <a:off x="406963" y="1695450"/>
            <a:ext cx="5415423" cy="3095625"/>
          </a:xfrm>
          <a:prstGeom prst="roundRect">
            <a:avLst>
              <a:gd name="adj" fmla="val 3692"/>
            </a:avLst>
          </a:prstGeom>
        </p:spPr>
      </p:pic>
      <p:sp>
        <p:nvSpPr>
          <p:cNvPr id="7" name="projection-caption">
            <a:extLst>
              <a:ext uri="{FF2B5EF4-FFF2-40B4-BE49-F238E27FC236}">
                <a16:creationId xmlns:a16="http://schemas.microsoft.com/office/drawing/2014/main" id="{57B62067-4235-455E-A4F3-AC65CBCAC785}"/>
              </a:ext>
            </a:extLst>
          </p:cNvPr>
          <p:cNvSpPr>
            <a:spLocks noGrp="1"/>
          </p:cNvSpPr>
          <p:nvPr/>
        </p:nvSpPr>
        <p:spPr>
          <a:xfrm>
            <a:off x="523875" y="4953000"/>
            <a:ext cx="5191125" cy="876300"/>
          </a:xfrm>
          <a:prstGeom prst="rect">
            <a:avLst/>
          </a:prstGeom>
          <a:noFill/>
          <a:ln w="0">
            <a:noFill/>
            <a:prstDash val="solid"/>
          </a:ln>
        </p:spPr>
        <p:txBody>
          <a:bodyPr anchor="t"/>
          <a:lstStyle/>
          <a:p>
            <a:pPr algn="l">
              <a:defRPr sz="1800" b="0">
                <a:solidFill>
                  <a:srgbClr val="5B6472"/>
                </a:solidFill>
                <a:latin typeface="Arial"/>
                <a:ea typeface="Arial"/>
                <a:cs typeface="Arial"/>
              </a:defRPr>
            </a:pPr>
            <a:r>
              <a:rPr sz="1800" b="0">
                <a:solidFill>
                  <a:srgbClr val="5B6472"/>
                </a:solidFill>
                <a:latin typeface="Arial"/>
                <a:ea typeface="Arial"/>
                <a:cs typeface="Arial"/>
              </a:rPr>
              <a:t>Each view loses depth; overlap means several 3D anatomies can produce similar projections.</a:t>
            </a:r>
          </a:p>
        </p:txBody>
      </p:sp>
      <p:sp>
        <p:nvSpPr>
          <p:cNvPr id="8" name="gap-1-dot">
            <a:extLst>
              <a:ext uri="{FF2B5EF4-FFF2-40B4-BE49-F238E27FC236}">
                <a16:creationId xmlns:a16="http://schemas.microsoft.com/office/drawing/2014/main" id="{72A2D564-A459-4962-B13C-2E21484D4784}"/>
              </a:ext>
            </a:extLst>
          </p:cNvPr>
          <p:cNvSpPr>
            <a:spLocks noGrp="1"/>
          </p:cNvSpPr>
          <p:nvPr/>
        </p:nvSpPr>
        <p:spPr>
          <a:xfrm>
            <a:off x="6267450" y="1828800"/>
            <a:ext cx="95250" cy="95250"/>
          </a:xfrm>
          <a:prstGeom prst="ellipse">
            <a:avLst/>
          </a:prstGeom>
          <a:solidFill>
            <a:srgbClr val="2563EB"/>
          </a:solidFill>
          <a:ln w="0">
            <a:solidFill>
              <a:srgbClr val="2563EB"/>
            </a:solidFill>
            <a:prstDash val="solid"/>
          </a:ln>
        </p:spPr>
        <p:txBody>
          <a:bodyPr/>
          <a:lstStyle/>
          <a:p>
            <a:endParaRPr lang="en-MY"/>
          </a:p>
        </p:txBody>
      </p:sp>
      <p:sp>
        <p:nvSpPr>
          <p:cNvPr id="9" name="gap-1-text">
            <a:extLst>
              <a:ext uri="{FF2B5EF4-FFF2-40B4-BE49-F238E27FC236}">
                <a16:creationId xmlns:a16="http://schemas.microsoft.com/office/drawing/2014/main" id="{08393E94-22BE-4BF1-8A69-B3D2F8007D63}"/>
              </a:ext>
            </a:extLst>
          </p:cNvPr>
          <p:cNvSpPr>
            <a:spLocks noGrp="1"/>
          </p:cNvSpPr>
          <p:nvPr/>
        </p:nvSpPr>
        <p:spPr>
          <a:xfrm>
            <a:off x="6477000" y="1743075"/>
            <a:ext cx="5124450" cy="723900"/>
          </a:xfrm>
          <a:prstGeom prst="rect">
            <a:avLst/>
          </a:prstGeom>
          <a:noFill/>
          <a:ln w="0">
            <a:noFill/>
            <a:prstDash val="solid"/>
          </a:ln>
        </p:spPr>
        <p:txBody>
          <a:bodyPr anchor="t"/>
          <a:lstStyle/>
          <a:p>
            <a:pPr algn="l">
              <a:defRPr sz="1725" b="0">
                <a:solidFill>
                  <a:srgbClr val="111827"/>
                </a:solidFill>
                <a:latin typeface="Arial"/>
                <a:ea typeface="Arial"/>
                <a:cs typeface="Arial"/>
              </a:defRPr>
            </a:pPr>
            <a:r>
              <a:rPr sz="1725" b="0">
                <a:solidFill>
                  <a:srgbClr val="111827"/>
                </a:solidFill>
                <a:latin typeface="Arial"/>
                <a:ea typeface="Arial"/>
                <a:cs typeface="Arial"/>
              </a:rPr>
              <a:t>AP and lateral views are complementary, but the inverse problem remains underdetermined.</a:t>
            </a:r>
          </a:p>
        </p:txBody>
      </p:sp>
      <p:sp>
        <p:nvSpPr>
          <p:cNvPr id="10" name="gap-2-dot">
            <a:extLst>
              <a:ext uri="{FF2B5EF4-FFF2-40B4-BE49-F238E27FC236}">
                <a16:creationId xmlns:a16="http://schemas.microsoft.com/office/drawing/2014/main" id="{40409D1D-4C7C-41A3-8951-6165275E6C43}"/>
              </a:ext>
            </a:extLst>
          </p:cNvPr>
          <p:cNvSpPr>
            <a:spLocks noGrp="1"/>
          </p:cNvSpPr>
          <p:nvPr/>
        </p:nvSpPr>
        <p:spPr>
          <a:xfrm>
            <a:off x="6267450" y="2847975"/>
            <a:ext cx="95250" cy="95250"/>
          </a:xfrm>
          <a:prstGeom prst="ellipse">
            <a:avLst/>
          </a:prstGeom>
          <a:solidFill>
            <a:srgbClr val="0F766E"/>
          </a:solidFill>
          <a:ln w="0">
            <a:solidFill>
              <a:srgbClr val="0F766E"/>
            </a:solidFill>
            <a:prstDash val="solid"/>
          </a:ln>
        </p:spPr>
        <p:txBody>
          <a:bodyPr/>
          <a:lstStyle/>
          <a:p>
            <a:endParaRPr lang="en-MY"/>
          </a:p>
        </p:txBody>
      </p:sp>
      <p:sp>
        <p:nvSpPr>
          <p:cNvPr id="11" name="gap-2-text">
            <a:extLst>
              <a:ext uri="{FF2B5EF4-FFF2-40B4-BE49-F238E27FC236}">
                <a16:creationId xmlns:a16="http://schemas.microsoft.com/office/drawing/2014/main" id="{387A33B7-A53A-409F-9813-BA18934BA220}"/>
              </a:ext>
            </a:extLst>
          </p:cNvPr>
          <p:cNvSpPr>
            <a:spLocks noGrp="1"/>
          </p:cNvSpPr>
          <p:nvPr/>
        </p:nvSpPr>
        <p:spPr>
          <a:xfrm>
            <a:off x="6477000" y="2762250"/>
            <a:ext cx="5124450" cy="723900"/>
          </a:xfrm>
          <a:prstGeom prst="rect">
            <a:avLst/>
          </a:prstGeom>
          <a:noFill/>
          <a:ln w="0">
            <a:noFill/>
            <a:prstDash val="solid"/>
          </a:ln>
        </p:spPr>
        <p:txBody>
          <a:bodyPr anchor="t"/>
          <a:lstStyle/>
          <a:p>
            <a:pPr algn="l">
              <a:defRPr sz="1725" b="0">
                <a:solidFill>
                  <a:srgbClr val="111827"/>
                </a:solidFill>
                <a:latin typeface="Arial"/>
                <a:ea typeface="Arial"/>
                <a:cs typeface="Arial"/>
              </a:defRPr>
            </a:pPr>
            <a:r>
              <a:rPr sz="1725" b="0">
                <a:solidFill>
                  <a:srgbClr val="111827"/>
                </a:solidFill>
                <a:latin typeface="Arial"/>
                <a:ea typeface="Arial"/>
                <a:cs typeface="Arial"/>
              </a:rPr>
              <a:t>CT reveals fragments and articular geometry, but adds radiation, cost, infrastructure and segmentation work.</a:t>
            </a:r>
          </a:p>
        </p:txBody>
      </p:sp>
      <p:sp>
        <p:nvSpPr>
          <p:cNvPr id="12" name="gap-3-dot">
            <a:extLst>
              <a:ext uri="{FF2B5EF4-FFF2-40B4-BE49-F238E27FC236}">
                <a16:creationId xmlns:a16="http://schemas.microsoft.com/office/drawing/2014/main" id="{FD1035FB-F38C-4BA9-8F04-550940EAD6F3}"/>
              </a:ext>
            </a:extLst>
          </p:cNvPr>
          <p:cNvSpPr>
            <a:spLocks noGrp="1"/>
          </p:cNvSpPr>
          <p:nvPr/>
        </p:nvSpPr>
        <p:spPr>
          <a:xfrm>
            <a:off x="6267450" y="4095750"/>
            <a:ext cx="95250" cy="95250"/>
          </a:xfrm>
          <a:prstGeom prst="ellipse">
            <a:avLst/>
          </a:prstGeom>
          <a:solidFill>
            <a:srgbClr val="D97706"/>
          </a:solidFill>
          <a:ln w="0">
            <a:solidFill>
              <a:srgbClr val="D97706"/>
            </a:solidFill>
            <a:prstDash val="solid"/>
          </a:ln>
        </p:spPr>
        <p:txBody>
          <a:bodyPr/>
          <a:lstStyle/>
          <a:p>
            <a:endParaRPr lang="en-MY"/>
          </a:p>
        </p:txBody>
      </p:sp>
      <p:sp>
        <p:nvSpPr>
          <p:cNvPr id="13" name="gap-3-text">
            <a:extLst>
              <a:ext uri="{FF2B5EF4-FFF2-40B4-BE49-F238E27FC236}">
                <a16:creationId xmlns:a16="http://schemas.microsoft.com/office/drawing/2014/main" id="{EA905CE8-4188-47C6-B07E-14B06E6C49ED}"/>
              </a:ext>
            </a:extLst>
          </p:cNvPr>
          <p:cNvSpPr>
            <a:spLocks noGrp="1"/>
          </p:cNvSpPr>
          <p:nvPr/>
        </p:nvSpPr>
        <p:spPr>
          <a:xfrm>
            <a:off x="6477000" y="4010025"/>
            <a:ext cx="5124450" cy="723900"/>
          </a:xfrm>
          <a:prstGeom prst="rect">
            <a:avLst/>
          </a:prstGeom>
          <a:noFill/>
          <a:ln w="0">
            <a:noFill/>
            <a:prstDash val="solid"/>
          </a:ln>
        </p:spPr>
        <p:txBody>
          <a:bodyPr anchor="t"/>
          <a:lstStyle/>
          <a:p>
            <a:pPr algn="l">
              <a:defRPr sz="1725" b="0">
                <a:solidFill>
                  <a:srgbClr val="111827"/>
                </a:solidFill>
                <a:latin typeface="Arial"/>
                <a:ea typeface="Arial"/>
                <a:cs typeface="Arial"/>
              </a:defRPr>
            </a:pPr>
            <a:r>
              <a:rPr sz="1725" b="0">
                <a:solidFill>
                  <a:srgbClr val="111827"/>
                </a:solidFill>
                <a:latin typeface="Arial"/>
                <a:ea typeface="Arial"/>
                <a:cs typeface="Arial"/>
              </a:rPr>
              <a:t>The intended role is an adjunct: more 3D information from common radiographs—not a replacement for CT in complex trauma.</a:t>
            </a:r>
          </a:p>
        </p:txBody>
      </p:sp>
    </p:spTree>
    <p:extLst>
      <p:ext uri="{BB962C8B-B14F-4D97-AF65-F5344CB8AC3E}">
        <p14:creationId xmlns:p14="http://schemas.microsoft.com/office/powerpoint/2010/main" val="206073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4" name="section-3">
            <a:extLst>
              <a:ext uri="{FF2B5EF4-FFF2-40B4-BE49-F238E27FC236}">
                <a16:creationId xmlns:a16="http://schemas.microsoft.com/office/drawing/2014/main" id="{6EDD4FB9-04D7-4C2F-8B98-A73D3899F9FD}"/>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TOPIC KNOWLEDGE</a:t>
            </a:r>
          </a:p>
        </p:txBody>
      </p:sp>
      <p:sp>
        <p:nvSpPr>
          <p:cNvPr id="2" name="title-3">
            <a:extLst>
              <a:ext uri="{FF2B5EF4-FFF2-40B4-BE49-F238E27FC236}">
                <a16:creationId xmlns:a16="http://schemas.microsoft.com/office/drawing/2014/main" id="{269E5E2B-2113-4664-9C65-F64B0DD94E9D}"/>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Literature proves feasibility, not a fair decoder comparison</a:t>
            </a:r>
          </a:p>
        </p:txBody>
      </p:sp>
      <p:cxnSp>
        <p:nvCxnSpPr>
          <p:cNvPr id="16" name="rule-3"/>
          <p:cNvCxnSpPr/>
          <p:nvPr/>
        </p:nvCxnSpPr>
        <p:spPr>
          <a:xfrm>
            <a:off x="400050" y="1285875"/>
            <a:ext cx="11391900" cy="0"/>
          </a:xfrm>
          <a:prstGeom prst="straightConnector1">
            <a:avLst/>
          </a:prstGeom>
          <a:ln w="9525">
            <a:solidFill>
              <a:srgbClr val="D9DEE7"/>
            </a:solidFill>
            <a:prstDash val="solid"/>
          </a:ln>
        </p:spPr>
      </p:cxnSp>
      <p:sp>
        <p:nvSpPr>
          <p:cNvPr id="4" name="source-3">
            <a:extLst>
              <a:ext uri="{FF2B5EF4-FFF2-40B4-BE49-F238E27FC236}">
                <a16:creationId xmlns:a16="http://schemas.microsoft.com/office/drawing/2014/main" id="{9571D44D-07AE-4491-912E-4B8983E7A221}"/>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20–21, 38–51</a:t>
            </a:r>
          </a:p>
        </p:txBody>
      </p:sp>
      <p:sp>
        <p:nvSpPr>
          <p:cNvPr id="5" name="page-3">
            <a:extLst>
              <a:ext uri="{FF2B5EF4-FFF2-40B4-BE49-F238E27FC236}">
                <a16:creationId xmlns:a16="http://schemas.microsoft.com/office/drawing/2014/main" id="{8A00B6E7-FACA-4FB6-BB75-860922AD8F06}"/>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03</a:t>
            </a:r>
          </a:p>
        </p:txBody>
      </p:sp>
      <p:sp>
        <p:nvSpPr>
          <p:cNvPr id="6" name="lit-h-0">
            <a:extLst>
              <a:ext uri="{FF2B5EF4-FFF2-40B4-BE49-F238E27FC236}">
                <a16:creationId xmlns:a16="http://schemas.microsoft.com/office/drawing/2014/main" id="{57F1C336-3DD1-4360-B877-9B9064742D61}"/>
              </a:ext>
            </a:extLst>
          </p:cNvPr>
          <p:cNvSpPr>
            <a:spLocks noGrp="1"/>
          </p:cNvSpPr>
          <p:nvPr/>
        </p:nvSpPr>
        <p:spPr>
          <a:xfrm>
            <a:off x="400050" y="1733550"/>
            <a:ext cx="5334000" cy="381000"/>
          </a:xfrm>
          <a:prstGeom prst="rect">
            <a:avLst/>
          </a:prstGeom>
          <a:noFill/>
          <a:ln w="0">
            <a:noFill/>
            <a:prstDash val="solid"/>
          </a:ln>
        </p:spPr>
        <p:txBody>
          <a:bodyPr anchor="t"/>
          <a:lstStyle/>
          <a:p>
            <a:pPr algn="l">
              <a:defRPr sz="2025" b="1">
                <a:solidFill>
                  <a:srgbClr val="111827"/>
                </a:solidFill>
                <a:latin typeface="Arial"/>
                <a:ea typeface="Arial"/>
                <a:cs typeface="Arial"/>
              </a:defRPr>
            </a:pPr>
            <a:r>
              <a:rPr sz="2025" b="1">
                <a:solidFill>
                  <a:srgbClr val="111827"/>
                </a:solidFill>
                <a:latin typeface="Arial"/>
                <a:ea typeface="Arial"/>
                <a:cs typeface="Arial"/>
              </a:rPr>
              <a:t>Feasible</a:t>
            </a:r>
          </a:p>
        </p:txBody>
      </p:sp>
      <p:sp>
        <p:nvSpPr>
          <p:cNvPr id="7" name="lit-b-0">
            <a:extLst>
              <a:ext uri="{FF2B5EF4-FFF2-40B4-BE49-F238E27FC236}">
                <a16:creationId xmlns:a16="http://schemas.microsoft.com/office/drawing/2014/main" id="{3124511B-4497-4AB7-8A95-87FA337E1506}"/>
              </a:ext>
            </a:extLst>
          </p:cNvPr>
          <p:cNvSpPr>
            <a:spLocks noGrp="1"/>
          </p:cNvSpPr>
          <p:nvPr/>
        </p:nvSpPr>
        <p:spPr>
          <a:xfrm>
            <a:off x="400050" y="2219325"/>
            <a:ext cx="5381625" cy="1047750"/>
          </a:xfrm>
          <a:prstGeom prst="rect">
            <a:avLst/>
          </a:prstGeom>
          <a:noFill/>
          <a:ln w="0">
            <a:noFill/>
            <a:prstDash val="solid"/>
          </a:ln>
        </p:spPr>
        <p:txBody>
          <a:bodyPr anchor="t"/>
          <a:lstStyle/>
          <a:p>
            <a:pPr algn="l">
              <a:defRPr sz="1650" b="0">
                <a:solidFill>
                  <a:srgbClr val="5B6472"/>
                </a:solidFill>
                <a:latin typeface="Arial"/>
                <a:ea typeface="Arial"/>
                <a:cs typeface="Arial"/>
              </a:defRPr>
            </a:pPr>
            <a:r>
              <a:rPr sz="1650" b="0">
                <a:solidFill>
                  <a:srgbClr val="5B6472"/>
                </a:solidFill>
                <a:latin typeface="Arial"/>
                <a:ea typeface="Arial"/>
                <a:cs typeface="Arial"/>
              </a:rPr>
              <a:t>Prior systems reconstruct bone from one or two radiographs using voxel, registration, transformer and implicit methods.</a:t>
            </a:r>
          </a:p>
        </p:txBody>
      </p:sp>
      <p:sp>
        <p:nvSpPr>
          <p:cNvPr id="8" name="lit-h-1">
            <a:extLst>
              <a:ext uri="{FF2B5EF4-FFF2-40B4-BE49-F238E27FC236}">
                <a16:creationId xmlns:a16="http://schemas.microsoft.com/office/drawing/2014/main" id="{5E74E6D4-BDAD-449E-87F5-7A585E9D773D}"/>
              </a:ext>
            </a:extLst>
          </p:cNvPr>
          <p:cNvSpPr>
            <a:spLocks noGrp="1"/>
          </p:cNvSpPr>
          <p:nvPr/>
        </p:nvSpPr>
        <p:spPr>
          <a:xfrm>
            <a:off x="6248400" y="1733550"/>
            <a:ext cx="5334000" cy="381000"/>
          </a:xfrm>
          <a:prstGeom prst="rect">
            <a:avLst/>
          </a:prstGeom>
          <a:noFill/>
          <a:ln w="0">
            <a:noFill/>
            <a:prstDash val="solid"/>
          </a:ln>
        </p:spPr>
        <p:txBody>
          <a:bodyPr anchor="t"/>
          <a:lstStyle/>
          <a:p>
            <a:pPr algn="l">
              <a:defRPr sz="2025" b="1">
                <a:solidFill>
                  <a:srgbClr val="111827"/>
                </a:solidFill>
                <a:latin typeface="Arial"/>
                <a:ea typeface="Arial"/>
                <a:cs typeface="Arial"/>
              </a:defRPr>
            </a:pPr>
            <a:r>
              <a:rPr sz="2025" b="1">
                <a:solidFill>
                  <a:srgbClr val="111827"/>
                </a:solidFill>
                <a:latin typeface="Arial"/>
                <a:ea typeface="Arial"/>
                <a:cs typeface="Arial"/>
              </a:rPr>
              <a:t>Incomparable</a:t>
            </a:r>
          </a:p>
        </p:txBody>
      </p:sp>
      <p:sp>
        <p:nvSpPr>
          <p:cNvPr id="9" name="lit-b-1">
            <a:extLst>
              <a:ext uri="{FF2B5EF4-FFF2-40B4-BE49-F238E27FC236}">
                <a16:creationId xmlns:a16="http://schemas.microsoft.com/office/drawing/2014/main" id="{A3D4BA99-BA1E-4AC4-AFF2-C4BC75D990AB}"/>
              </a:ext>
            </a:extLst>
          </p:cNvPr>
          <p:cNvSpPr>
            <a:spLocks noGrp="1"/>
          </p:cNvSpPr>
          <p:nvPr/>
        </p:nvSpPr>
        <p:spPr>
          <a:xfrm>
            <a:off x="6248400" y="2219325"/>
            <a:ext cx="5381625" cy="1047750"/>
          </a:xfrm>
          <a:prstGeom prst="rect">
            <a:avLst/>
          </a:prstGeom>
          <a:noFill/>
          <a:ln w="0">
            <a:noFill/>
            <a:prstDash val="solid"/>
          </a:ln>
        </p:spPr>
        <p:txBody>
          <a:bodyPr anchor="t"/>
          <a:lstStyle/>
          <a:p>
            <a:pPr algn="l">
              <a:defRPr sz="1650" b="0">
                <a:solidFill>
                  <a:srgbClr val="5B6472"/>
                </a:solidFill>
                <a:latin typeface="Arial"/>
                <a:ea typeface="Arial"/>
                <a:cs typeface="Arial"/>
              </a:defRPr>
            </a:pPr>
            <a:r>
              <a:rPr sz="1650" b="0">
                <a:solidFill>
                  <a:srgbClr val="5B6472"/>
                </a:solidFill>
                <a:latin typeface="Arial"/>
                <a:ea typeface="Arial"/>
                <a:cs typeface="Arial"/>
              </a:rPr>
              <a:t>Anatomy, datasets, geometry, capacity, preprocessing and evaluation protocols differ across studies.</a:t>
            </a:r>
          </a:p>
        </p:txBody>
      </p:sp>
      <p:sp>
        <p:nvSpPr>
          <p:cNvPr id="10" name="lit-h-2">
            <a:extLst>
              <a:ext uri="{FF2B5EF4-FFF2-40B4-BE49-F238E27FC236}">
                <a16:creationId xmlns:a16="http://schemas.microsoft.com/office/drawing/2014/main" id="{9E59147F-366A-490B-9C67-25E25BC90D53}"/>
              </a:ext>
            </a:extLst>
          </p:cNvPr>
          <p:cNvSpPr>
            <a:spLocks noGrp="1"/>
          </p:cNvSpPr>
          <p:nvPr/>
        </p:nvSpPr>
        <p:spPr>
          <a:xfrm>
            <a:off x="400050" y="4010025"/>
            <a:ext cx="5334000" cy="381000"/>
          </a:xfrm>
          <a:prstGeom prst="rect">
            <a:avLst/>
          </a:prstGeom>
          <a:noFill/>
          <a:ln w="0">
            <a:noFill/>
            <a:prstDash val="solid"/>
          </a:ln>
        </p:spPr>
        <p:txBody>
          <a:bodyPr anchor="t"/>
          <a:lstStyle/>
          <a:p>
            <a:pPr algn="l">
              <a:defRPr sz="2025" b="1">
                <a:solidFill>
                  <a:srgbClr val="111827"/>
                </a:solidFill>
                <a:latin typeface="Arial"/>
                <a:ea typeface="Arial"/>
                <a:cs typeface="Arial"/>
              </a:defRPr>
            </a:pPr>
            <a:r>
              <a:rPr sz="2025" b="1">
                <a:solidFill>
                  <a:srgbClr val="111827"/>
                </a:solidFill>
                <a:latin typeface="Arial"/>
                <a:ea typeface="Arial"/>
                <a:cs typeface="Arial"/>
              </a:rPr>
              <a:t>Metrics diverge</a:t>
            </a:r>
          </a:p>
        </p:txBody>
      </p:sp>
      <p:sp>
        <p:nvSpPr>
          <p:cNvPr id="11" name="lit-b-2">
            <a:extLst>
              <a:ext uri="{FF2B5EF4-FFF2-40B4-BE49-F238E27FC236}">
                <a16:creationId xmlns:a16="http://schemas.microsoft.com/office/drawing/2014/main" id="{2204C975-15FE-420F-AECC-E1344F4C510D}"/>
              </a:ext>
            </a:extLst>
          </p:cNvPr>
          <p:cNvSpPr>
            <a:spLocks noGrp="1"/>
          </p:cNvSpPr>
          <p:nvPr/>
        </p:nvSpPr>
        <p:spPr>
          <a:xfrm>
            <a:off x="400050" y="4495800"/>
            <a:ext cx="5381625" cy="1047750"/>
          </a:xfrm>
          <a:prstGeom prst="rect">
            <a:avLst/>
          </a:prstGeom>
          <a:noFill/>
          <a:ln w="0">
            <a:noFill/>
            <a:prstDash val="solid"/>
          </a:ln>
        </p:spPr>
        <p:txBody>
          <a:bodyPr anchor="t"/>
          <a:lstStyle/>
          <a:p>
            <a:pPr algn="l">
              <a:defRPr sz="1650" b="0">
                <a:solidFill>
                  <a:srgbClr val="5B6472"/>
                </a:solidFill>
                <a:latin typeface="Arial"/>
                <a:ea typeface="Arial"/>
                <a:cs typeface="Arial"/>
              </a:defRPr>
            </a:pPr>
            <a:r>
              <a:rPr sz="1650" b="0">
                <a:solidFill>
                  <a:srgbClr val="5B6472"/>
                </a:solidFill>
                <a:latin typeface="Arial"/>
                <a:ea typeface="Arial"/>
                <a:cs typeface="Arial"/>
              </a:rPr>
              <a:t>High Dice can coexist with clinically important landmark or surface error; subgroup averages can hide failure.</a:t>
            </a:r>
          </a:p>
        </p:txBody>
      </p:sp>
      <p:sp>
        <p:nvSpPr>
          <p:cNvPr id="12" name="lit-h-3">
            <a:extLst>
              <a:ext uri="{FF2B5EF4-FFF2-40B4-BE49-F238E27FC236}">
                <a16:creationId xmlns:a16="http://schemas.microsoft.com/office/drawing/2014/main" id="{8267964E-6A61-4803-8EF0-162408278F72}"/>
              </a:ext>
            </a:extLst>
          </p:cNvPr>
          <p:cNvSpPr>
            <a:spLocks noGrp="1"/>
          </p:cNvSpPr>
          <p:nvPr/>
        </p:nvSpPr>
        <p:spPr>
          <a:xfrm>
            <a:off x="6248400" y="4010025"/>
            <a:ext cx="5334000" cy="381000"/>
          </a:xfrm>
          <a:prstGeom prst="rect">
            <a:avLst/>
          </a:prstGeom>
          <a:noFill/>
          <a:ln w="0">
            <a:noFill/>
            <a:prstDash val="solid"/>
          </a:ln>
        </p:spPr>
        <p:txBody>
          <a:bodyPr anchor="t"/>
          <a:lstStyle/>
          <a:p>
            <a:pPr algn="l">
              <a:defRPr sz="2025" b="1">
                <a:solidFill>
                  <a:srgbClr val="2563EB"/>
                </a:solidFill>
                <a:latin typeface="Arial"/>
                <a:ea typeface="Arial"/>
                <a:cs typeface="Arial"/>
              </a:defRPr>
            </a:pPr>
            <a:r>
              <a:rPr sz="2025" b="1">
                <a:solidFill>
                  <a:srgbClr val="2563EB"/>
                </a:solidFill>
                <a:latin typeface="Arial"/>
                <a:ea typeface="Arial"/>
                <a:cs typeface="Arial"/>
              </a:rPr>
              <a:t>Research gap</a:t>
            </a:r>
          </a:p>
        </p:txBody>
      </p:sp>
      <p:sp>
        <p:nvSpPr>
          <p:cNvPr id="13" name="lit-b-3">
            <a:extLst>
              <a:ext uri="{FF2B5EF4-FFF2-40B4-BE49-F238E27FC236}">
                <a16:creationId xmlns:a16="http://schemas.microsoft.com/office/drawing/2014/main" id="{37D11955-719F-4401-A7BD-C6A1950E647D}"/>
              </a:ext>
            </a:extLst>
          </p:cNvPr>
          <p:cNvSpPr>
            <a:spLocks noGrp="1"/>
          </p:cNvSpPr>
          <p:nvPr/>
        </p:nvSpPr>
        <p:spPr>
          <a:xfrm>
            <a:off x="6248400" y="4495800"/>
            <a:ext cx="5381625" cy="1047750"/>
          </a:xfrm>
          <a:prstGeom prst="rect">
            <a:avLst/>
          </a:prstGeom>
          <a:noFill/>
          <a:ln w="0">
            <a:noFill/>
            <a:prstDash val="solid"/>
          </a:ln>
        </p:spPr>
        <p:txBody>
          <a:bodyPr anchor="t"/>
          <a:lstStyle/>
          <a:p>
            <a:pPr algn="l">
              <a:defRPr sz="1650" b="0">
                <a:solidFill>
                  <a:srgbClr val="5B6472"/>
                </a:solidFill>
                <a:latin typeface="Arial"/>
                <a:ea typeface="Arial"/>
                <a:cs typeface="Arial"/>
              </a:defRPr>
            </a:pPr>
            <a:r>
              <a:rPr sz="1650" b="0">
                <a:solidFill>
                  <a:srgbClr val="5B6472"/>
                </a:solidFill>
                <a:latin typeface="Arial"/>
                <a:ea typeface="Arial"/>
                <a:cs typeface="Arial"/>
              </a:rPr>
              <a:t>No matched 2×2 decoder study isolates residual topology and activation while holding the full upstream pathway fixed.</a:t>
            </a:r>
          </a:p>
        </p:txBody>
      </p:sp>
    </p:spTree>
    <p:extLst>
      <p:ext uri="{BB962C8B-B14F-4D97-AF65-F5344CB8AC3E}">
        <p14:creationId xmlns:p14="http://schemas.microsoft.com/office/powerpoint/2010/main" val="756347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0" name="section-4">
            <a:extLst>
              <a:ext uri="{FF2B5EF4-FFF2-40B4-BE49-F238E27FC236}">
                <a16:creationId xmlns:a16="http://schemas.microsoft.com/office/drawing/2014/main" id="{95F8AD17-3AD7-47EE-A148-9969DBCB7C72}"/>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4">
            <a:extLst>
              <a:ext uri="{FF2B5EF4-FFF2-40B4-BE49-F238E27FC236}">
                <a16:creationId xmlns:a16="http://schemas.microsoft.com/office/drawing/2014/main" id="{A6DB5744-57E6-41B3-979A-73ECCEA4462E}"/>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The research question isolates topology and activation</a:t>
            </a:r>
          </a:p>
        </p:txBody>
      </p:sp>
      <p:cxnSp>
        <p:nvCxnSpPr>
          <p:cNvPr id="22" name="rule-4"/>
          <p:cNvCxnSpPr/>
          <p:nvPr/>
        </p:nvCxnSpPr>
        <p:spPr>
          <a:xfrm>
            <a:off x="400050" y="1285875"/>
            <a:ext cx="11391900" cy="0"/>
          </a:xfrm>
          <a:prstGeom prst="straightConnector1">
            <a:avLst/>
          </a:prstGeom>
          <a:ln w="9525">
            <a:solidFill>
              <a:srgbClr val="D9DEE7"/>
            </a:solidFill>
            <a:prstDash val="solid"/>
          </a:ln>
        </p:spPr>
      </p:cxnSp>
      <p:sp>
        <p:nvSpPr>
          <p:cNvPr id="4" name="source-4">
            <a:extLst>
              <a:ext uri="{FF2B5EF4-FFF2-40B4-BE49-F238E27FC236}">
                <a16:creationId xmlns:a16="http://schemas.microsoft.com/office/drawing/2014/main" id="{2B64A249-91B2-491B-A413-E454E13E0B86}"/>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12–15</a:t>
            </a:r>
          </a:p>
        </p:txBody>
      </p:sp>
      <p:sp>
        <p:nvSpPr>
          <p:cNvPr id="5" name="page-4">
            <a:extLst>
              <a:ext uri="{FF2B5EF4-FFF2-40B4-BE49-F238E27FC236}">
                <a16:creationId xmlns:a16="http://schemas.microsoft.com/office/drawing/2014/main" id="{3031924F-AD21-4DF6-80EC-9EF0F0D5D52F}"/>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04</a:t>
            </a:r>
          </a:p>
        </p:txBody>
      </p:sp>
      <p:sp>
        <p:nvSpPr>
          <p:cNvPr id="6" name="rq-panel">
            <a:extLst>
              <a:ext uri="{FF2B5EF4-FFF2-40B4-BE49-F238E27FC236}">
                <a16:creationId xmlns:a16="http://schemas.microsoft.com/office/drawing/2014/main" id="{DFFF921A-3377-40F6-A663-35E0DEC9E551}"/>
              </a:ext>
            </a:extLst>
          </p:cNvPr>
          <p:cNvSpPr>
            <a:spLocks noGrp="1"/>
          </p:cNvSpPr>
          <p:nvPr/>
        </p:nvSpPr>
        <p:spPr>
          <a:xfrm>
            <a:off x="400050" y="1628775"/>
            <a:ext cx="11391900" cy="1428750"/>
          </a:xfrm>
          <a:prstGeom prst="roundRect">
            <a:avLst>
              <a:gd name="adj" fmla="val 8000"/>
            </a:avLst>
          </a:prstGeom>
          <a:solidFill>
            <a:srgbClr val="EAF2FF"/>
          </a:solidFill>
          <a:ln w="0">
            <a:noFill/>
            <a:prstDash val="solid"/>
          </a:ln>
        </p:spPr>
        <p:txBody>
          <a:bodyPr/>
          <a:lstStyle/>
          <a:p>
            <a:endParaRPr lang="en-MY"/>
          </a:p>
        </p:txBody>
      </p:sp>
      <p:sp>
        <p:nvSpPr>
          <p:cNvPr id="7" name="rq">
            <a:extLst>
              <a:ext uri="{FF2B5EF4-FFF2-40B4-BE49-F238E27FC236}">
                <a16:creationId xmlns:a16="http://schemas.microsoft.com/office/drawing/2014/main" id="{2639C1D8-2EA1-45D4-9360-7BD7001B73CD}"/>
              </a:ext>
            </a:extLst>
          </p:cNvPr>
          <p:cNvSpPr>
            <a:spLocks noGrp="1"/>
          </p:cNvSpPr>
          <p:nvPr/>
        </p:nvSpPr>
        <p:spPr>
          <a:xfrm>
            <a:off x="685800" y="1866900"/>
            <a:ext cx="10820400" cy="1009650"/>
          </a:xfrm>
          <a:prstGeom prst="rect">
            <a:avLst/>
          </a:prstGeom>
          <a:noFill/>
          <a:ln w="0">
            <a:noFill/>
            <a:prstDash val="solid"/>
          </a:ln>
        </p:spPr>
        <p:txBody>
          <a:bodyPr anchor="ctr"/>
          <a:lstStyle/>
          <a:p>
            <a:pPr algn="ctr">
              <a:defRPr sz="2175" b="1">
                <a:solidFill>
                  <a:srgbClr val="2563EB"/>
                </a:solidFill>
                <a:latin typeface="Arial"/>
                <a:ea typeface="Arial"/>
                <a:cs typeface="Arial"/>
              </a:defRPr>
            </a:pPr>
            <a:r>
              <a:rPr sz="2175" b="1">
                <a:solidFill>
                  <a:srgbClr val="2563EB"/>
                </a:solidFill>
                <a:latin typeface="Arial"/>
                <a:ea typeface="Arial"/>
                <a:cs typeface="Arial"/>
              </a:rPr>
              <a:t>How do decoder-block topology and activation influence overlap, surface accuracy and robustness—under one shared, leakage-controlled bi-planar front end?</a:t>
            </a:r>
          </a:p>
        </p:txBody>
      </p:sp>
      <p:sp>
        <p:nvSpPr>
          <p:cNvPr id="8" name="obj-no-0">
            <a:extLst>
              <a:ext uri="{FF2B5EF4-FFF2-40B4-BE49-F238E27FC236}">
                <a16:creationId xmlns:a16="http://schemas.microsoft.com/office/drawing/2014/main" id="{DBDE7027-7C3A-4BBD-B703-3790924A5C81}"/>
              </a:ext>
            </a:extLst>
          </p:cNvPr>
          <p:cNvSpPr>
            <a:spLocks noGrp="1"/>
          </p:cNvSpPr>
          <p:nvPr/>
        </p:nvSpPr>
        <p:spPr>
          <a:xfrm>
            <a:off x="400050" y="3486150"/>
            <a:ext cx="590550" cy="438150"/>
          </a:xfrm>
          <a:prstGeom prst="rect">
            <a:avLst/>
          </a:prstGeom>
          <a:noFill/>
          <a:ln w="0">
            <a:noFill/>
            <a:prstDash val="solid"/>
          </a:ln>
        </p:spPr>
        <p:txBody>
          <a:bodyPr anchor="t"/>
          <a:lstStyle/>
          <a:p>
            <a:pPr algn="l">
              <a:defRPr sz="1650" b="1">
                <a:solidFill>
                  <a:srgbClr val="2563EB"/>
                </a:solidFill>
                <a:latin typeface="Arial"/>
                <a:ea typeface="Arial"/>
                <a:cs typeface="Arial"/>
              </a:defRPr>
            </a:pPr>
            <a:r>
              <a:rPr sz="1650" b="1">
                <a:solidFill>
                  <a:srgbClr val="2563EB"/>
                </a:solidFill>
                <a:latin typeface="Arial"/>
                <a:ea typeface="Arial"/>
                <a:cs typeface="Arial"/>
              </a:rPr>
              <a:t>01</a:t>
            </a:r>
          </a:p>
        </p:txBody>
      </p:sp>
      <p:sp>
        <p:nvSpPr>
          <p:cNvPr id="9" name="obj-h-0">
            <a:extLst>
              <a:ext uri="{FF2B5EF4-FFF2-40B4-BE49-F238E27FC236}">
                <a16:creationId xmlns:a16="http://schemas.microsoft.com/office/drawing/2014/main" id="{111DF007-AD4E-4AFC-9E9B-7ED61CD2C442}"/>
              </a:ext>
            </a:extLst>
          </p:cNvPr>
          <p:cNvSpPr>
            <a:spLocks noGrp="1"/>
          </p:cNvSpPr>
          <p:nvPr/>
        </p:nvSpPr>
        <p:spPr>
          <a:xfrm>
            <a:off x="400050" y="3943350"/>
            <a:ext cx="2476500" cy="609600"/>
          </a:xfrm>
          <a:prstGeom prst="rect">
            <a:avLst/>
          </a:prstGeom>
          <a:noFill/>
          <a:ln w="0">
            <a:noFill/>
            <a:prstDash val="solid"/>
          </a:ln>
        </p:spPr>
        <p:txBody>
          <a:bodyPr anchor="t"/>
          <a:lstStyle/>
          <a:p>
            <a:pPr algn="l">
              <a:defRPr sz="1725" b="1">
                <a:solidFill>
                  <a:srgbClr val="111827"/>
                </a:solidFill>
                <a:latin typeface="Arial"/>
                <a:ea typeface="Arial"/>
                <a:cs typeface="Arial"/>
              </a:defRPr>
            </a:pPr>
            <a:r>
              <a:rPr sz="1725" b="1">
                <a:solidFill>
                  <a:srgbClr val="111827"/>
                </a:solidFill>
                <a:latin typeface="Arial"/>
                <a:ea typeface="Arial"/>
                <a:cs typeface="Arial"/>
              </a:rPr>
              <a:t>Cohort</a:t>
            </a:r>
          </a:p>
        </p:txBody>
      </p:sp>
      <p:sp>
        <p:nvSpPr>
          <p:cNvPr id="10" name="obj-b-0">
            <a:extLst>
              <a:ext uri="{FF2B5EF4-FFF2-40B4-BE49-F238E27FC236}">
                <a16:creationId xmlns:a16="http://schemas.microsoft.com/office/drawing/2014/main" id="{81CB278F-B614-4888-BC99-753DF4B778DE}"/>
              </a:ext>
            </a:extLst>
          </p:cNvPr>
          <p:cNvSpPr>
            <a:spLocks noGrp="1"/>
          </p:cNvSpPr>
          <p:nvPr/>
        </p:nvSpPr>
        <p:spPr>
          <a:xfrm>
            <a:off x="400050" y="4667250"/>
            <a:ext cx="2476500" cy="87630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Verify geometry, laterality and subject-level separation.</a:t>
            </a:r>
          </a:p>
        </p:txBody>
      </p:sp>
      <p:sp>
        <p:nvSpPr>
          <p:cNvPr id="11" name="obj-no-1">
            <a:extLst>
              <a:ext uri="{FF2B5EF4-FFF2-40B4-BE49-F238E27FC236}">
                <a16:creationId xmlns:a16="http://schemas.microsoft.com/office/drawing/2014/main" id="{383A48AE-B511-4DC3-8C40-754BC21DDF03}"/>
              </a:ext>
            </a:extLst>
          </p:cNvPr>
          <p:cNvSpPr>
            <a:spLocks noGrp="1"/>
          </p:cNvSpPr>
          <p:nvPr/>
        </p:nvSpPr>
        <p:spPr>
          <a:xfrm>
            <a:off x="3248025" y="3486150"/>
            <a:ext cx="590550" cy="438150"/>
          </a:xfrm>
          <a:prstGeom prst="rect">
            <a:avLst/>
          </a:prstGeom>
          <a:noFill/>
          <a:ln w="0">
            <a:noFill/>
            <a:prstDash val="solid"/>
          </a:ln>
        </p:spPr>
        <p:txBody>
          <a:bodyPr anchor="t"/>
          <a:lstStyle/>
          <a:p>
            <a:pPr algn="l">
              <a:defRPr sz="1650" b="1">
                <a:solidFill>
                  <a:srgbClr val="2563EB"/>
                </a:solidFill>
                <a:latin typeface="Arial"/>
                <a:ea typeface="Arial"/>
                <a:cs typeface="Arial"/>
              </a:defRPr>
            </a:pPr>
            <a:r>
              <a:rPr sz="1650" b="1">
                <a:solidFill>
                  <a:srgbClr val="2563EB"/>
                </a:solidFill>
                <a:latin typeface="Arial"/>
                <a:ea typeface="Arial"/>
                <a:cs typeface="Arial"/>
              </a:rPr>
              <a:t>02</a:t>
            </a:r>
          </a:p>
        </p:txBody>
      </p:sp>
      <p:sp>
        <p:nvSpPr>
          <p:cNvPr id="12" name="obj-h-1">
            <a:extLst>
              <a:ext uri="{FF2B5EF4-FFF2-40B4-BE49-F238E27FC236}">
                <a16:creationId xmlns:a16="http://schemas.microsoft.com/office/drawing/2014/main" id="{03075FE4-B0F2-4238-94F5-B1E4AD4ECF03}"/>
              </a:ext>
            </a:extLst>
          </p:cNvPr>
          <p:cNvSpPr>
            <a:spLocks noGrp="1"/>
          </p:cNvSpPr>
          <p:nvPr/>
        </p:nvSpPr>
        <p:spPr>
          <a:xfrm>
            <a:off x="3248025" y="3943350"/>
            <a:ext cx="2476500" cy="609600"/>
          </a:xfrm>
          <a:prstGeom prst="rect">
            <a:avLst/>
          </a:prstGeom>
          <a:noFill/>
          <a:ln w="0">
            <a:noFill/>
            <a:prstDash val="solid"/>
          </a:ln>
        </p:spPr>
        <p:txBody>
          <a:bodyPr anchor="t"/>
          <a:lstStyle/>
          <a:p>
            <a:pPr algn="l">
              <a:defRPr sz="1725" b="1">
                <a:solidFill>
                  <a:srgbClr val="111827"/>
                </a:solidFill>
                <a:latin typeface="Arial"/>
                <a:ea typeface="Arial"/>
                <a:cs typeface="Arial"/>
              </a:defRPr>
            </a:pPr>
            <a:r>
              <a:rPr sz="1725" b="1">
                <a:solidFill>
                  <a:srgbClr val="111827"/>
                </a:solidFill>
                <a:latin typeface="Arial"/>
                <a:ea typeface="Arial"/>
                <a:cs typeface="Arial"/>
              </a:rPr>
              <a:t>Fair front end</a:t>
            </a:r>
          </a:p>
        </p:txBody>
      </p:sp>
      <p:sp>
        <p:nvSpPr>
          <p:cNvPr id="13" name="obj-b-1">
            <a:extLst>
              <a:ext uri="{FF2B5EF4-FFF2-40B4-BE49-F238E27FC236}">
                <a16:creationId xmlns:a16="http://schemas.microsoft.com/office/drawing/2014/main" id="{4A4872EF-032E-4113-A4CD-33829AB37AAD}"/>
              </a:ext>
            </a:extLst>
          </p:cNvPr>
          <p:cNvSpPr>
            <a:spLocks noGrp="1"/>
          </p:cNvSpPr>
          <p:nvPr/>
        </p:nvSpPr>
        <p:spPr>
          <a:xfrm>
            <a:off x="3248025" y="4667250"/>
            <a:ext cx="2476500" cy="87630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Hold encoder, fusion and 2D→3D lifting constant.</a:t>
            </a:r>
          </a:p>
        </p:txBody>
      </p:sp>
      <p:sp>
        <p:nvSpPr>
          <p:cNvPr id="14" name="obj-no-2">
            <a:extLst>
              <a:ext uri="{FF2B5EF4-FFF2-40B4-BE49-F238E27FC236}">
                <a16:creationId xmlns:a16="http://schemas.microsoft.com/office/drawing/2014/main" id="{E80C2CE2-09F6-485A-9741-CBC06656B719}"/>
              </a:ext>
            </a:extLst>
          </p:cNvPr>
          <p:cNvSpPr>
            <a:spLocks noGrp="1"/>
          </p:cNvSpPr>
          <p:nvPr/>
        </p:nvSpPr>
        <p:spPr>
          <a:xfrm>
            <a:off x="6096000" y="3486150"/>
            <a:ext cx="590550" cy="438150"/>
          </a:xfrm>
          <a:prstGeom prst="rect">
            <a:avLst/>
          </a:prstGeom>
          <a:noFill/>
          <a:ln w="0">
            <a:noFill/>
            <a:prstDash val="solid"/>
          </a:ln>
        </p:spPr>
        <p:txBody>
          <a:bodyPr anchor="t"/>
          <a:lstStyle/>
          <a:p>
            <a:pPr algn="l">
              <a:defRPr sz="1650" b="1">
                <a:solidFill>
                  <a:srgbClr val="2563EB"/>
                </a:solidFill>
                <a:latin typeface="Arial"/>
                <a:ea typeface="Arial"/>
                <a:cs typeface="Arial"/>
              </a:defRPr>
            </a:pPr>
            <a:r>
              <a:rPr sz="1650" b="1">
                <a:solidFill>
                  <a:srgbClr val="2563EB"/>
                </a:solidFill>
                <a:latin typeface="Arial"/>
                <a:ea typeface="Arial"/>
                <a:cs typeface="Arial"/>
              </a:rPr>
              <a:t>03</a:t>
            </a:r>
          </a:p>
        </p:txBody>
      </p:sp>
      <p:sp>
        <p:nvSpPr>
          <p:cNvPr id="15" name="obj-h-2">
            <a:extLst>
              <a:ext uri="{FF2B5EF4-FFF2-40B4-BE49-F238E27FC236}">
                <a16:creationId xmlns:a16="http://schemas.microsoft.com/office/drawing/2014/main" id="{A5D0AC89-20A9-4424-9F7E-7022CE08C0CA}"/>
              </a:ext>
            </a:extLst>
          </p:cNvPr>
          <p:cNvSpPr>
            <a:spLocks noGrp="1"/>
          </p:cNvSpPr>
          <p:nvPr/>
        </p:nvSpPr>
        <p:spPr>
          <a:xfrm>
            <a:off x="6096000" y="3943350"/>
            <a:ext cx="2476500" cy="609600"/>
          </a:xfrm>
          <a:prstGeom prst="rect">
            <a:avLst/>
          </a:prstGeom>
          <a:noFill/>
          <a:ln w="0">
            <a:noFill/>
            <a:prstDash val="solid"/>
          </a:ln>
        </p:spPr>
        <p:txBody>
          <a:bodyPr anchor="t"/>
          <a:lstStyle/>
          <a:p>
            <a:pPr algn="l">
              <a:defRPr sz="1725" b="1">
                <a:solidFill>
                  <a:srgbClr val="111827"/>
                </a:solidFill>
                <a:latin typeface="Arial"/>
                <a:ea typeface="Arial"/>
                <a:cs typeface="Arial"/>
              </a:defRPr>
            </a:pPr>
            <a:r>
              <a:rPr sz="1725" b="1">
                <a:solidFill>
                  <a:srgbClr val="111827"/>
                </a:solidFill>
                <a:latin typeface="Arial"/>
                <a:ea typeface="Arial"/>
                <a:cs typeface="Arial"/>
              </a:rPr>
              <a:t>Complementary metrics</a:t>
            </a:r>
          </a:p>
        </p:txBody>
      </p:sp>
      <p:sp>
        <p:nvSpPr>
          <p:cNvPr id="16" name="obj-b-2">
            <a:extLst>
              <a:ext uri="{FF2B5EF4-FFF2-40B4-BE49-F238E27FC236}">
                <a16:creationId xmlns:a16="http://schemas.microsoft.com/office/drawing/2014/main" id="{A381ED29-12CF-4D37-BED1-DE9FB74EF708}"/>
              </a:ext>
            </a:extLst>
          </p:cNvPr>
          <p:cNvSpPr>
            <a:spLocks noGrp="1"/>
          </p:cNvSpPr>
          <p:nvPr/>
        </p:nvSpPr>
        <p:spPr>
          <a:xfrm>
            <a:off x="6096000" y="4667250"/>
            <a:ext cx="2476500" cy="87630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Use Dice + ASSD with bone and cohort analysis.</a:t>
            </a:r>
          </a:p>
        </p:txBody>
      </p:sp>
      <p:sp>
        <p:nvSpPr>
          <p:cNvPr id="17" name="obj-no-3">
            <a:extLst>
              <a:ext uri="{FF2B5EF4-FFF2-40B4-BE49-F238E27FC236}">
                <a16:creationId xmlns:a16="http://schemas.microsoft.com/office/drawing/2014/main" id="{DDE17084-EBBA-4CDB-8950-698EAE40C9F7}"/>
              </a:ext>
            </a:extLst>
          </p:cNvPr>
          <p:cNvSpPr>
            <a:spLocks noGrp="1"/>
          </p:cNvSpPr>
          <p:nvPr/>
        </p:nvSpPr>
        <p:spPr>
          <a:xfrm>
            <a:off x="8943975" y="3486150"/>
            <a:ext cx="590550" cy="438150"/>
          </a:xfrm>
          <a:prstGeom prst="rect">
            <a:avLst/>
          </a:prstGeom>
          <a:noFill/>
          <a:ln w="0">
            <a:noFill/>
            <a:prstDash val="solid"/>
          </a:ln>
        </p:spPr>
        <p:txBody>
          <a:bodyPr anchor="t"/>
          <a:lstStyle/>
          <a:p>
            <a:pPr algn="l">
              <a:defRPr sz="1650" b="1">
                <a:solidFill>
                  <a:srgbClr val="2563EB"/>
                </a:solidFill>
                <a:latin typeface="Arial"/>
                <a:ea typeface="Arial"/>
                <a:cs typeface="Arial"/>
              </a:defRPr>
            </a:pPr>
            <a:r>
              <a:rPr sz="1650" b="1">
                <a:solidFill>
                  <a:srgbClr val="2563EB"/>
                </a:solidFill>
                <a:latin typeface="Arial"/>
                <a:ea typeface="Arial"/>
                <a:cs typeface="Arial"/>
              </a:rPr>
              <a:t>04</a:t>
            </a:r>
          </a:p>
        </p:txBody>
      </p:sp>
      <p:sp>
        <p:nvSpPr>
          <p:cNvPr id="18" name="obj-h-3">
            <a:extLst>
              <a:ext uri="{FF2B5EF4-FFF2-40B4-BE49-F238E27FC236}">
                <a16:creationId xmlns:a16="http://schemas.microsoft.com/office/drawing/2014/main" id="{CAF68735-CF49-492F-8011-D447238F6833}"/>
              </a:ext>
            </a:extLst>
          </p:cNvPr>
          <p:cNvSpPr>
            <a:spLocks noGrp="1"/>
          </p:cNvSpPr>
          <p:nvPr/>
        </p:nvSpPr>
        <p:spPr>
          <a:xfrm>
            <a:off x="8943975" y="3943350"/>
            <a:ext cx="2476500" cy="609600"/>
          </a:xfrm>
          <a:prstGeom prst="rect">
            <a:avLst/>
          </a:prstGeom>
          <a:noFill/>
          <a:ln w="0">
            <a:noFill/>
            <a:prstDash val="solid"/>
          </a:ln>
        </p:spPr>
        <p:txBody>
          <a:bodyPr anchor="t"/>
          <a:lstStyle/>
          <a:p>
            <a:pPr algn="l">
              <a:defRPr sz="1725" b="1">
                <a:solidFill>
                  <a:srgbClr val="111827"/>
                </a:solidFill>
                <a:latin typeface="Arial"/>
                <a:ea typeface="Arial"/>
                <a:cs typeface="Arial"/>
              </a:defRPr>
            </a:pPr>
            <a:r>
              <a:rPr sz="1725" b="1">
                <a:solidFill>
                  <a:srgbClr val="111827"/>
                </a:solidFill>
                <a:latin typeface="Arial"/>
                <a:ea typeface="Arial"/>
                <a:cs typeface="Arial"/>
              </a:rPr>
              <a:t>Controlled comparison</a:t>
            </a:r>
          </a:p>
        </p:txBody>
      </p:sp>
      <p:sp>
        <p:nvSpPr>
          <p:cNvPr id="19" name="obj-b-3">
            <a:extLst>
              <a:ext uri="{FF2B5EF4-FFF2-40B4-BE49-F238E27FC236}">
                <a16:creationId xmlns:a16="http://schemas.microsoft.com/office/drawing/2014/main" id="{3C654B02-C079-468F-AF7E-4657BB42063A}"/>
              </a:ext>
            </a:extLst>
          </p:cNvPr>
          <p:cNvSpPr>
            <a:spLocks noGrp="1"/>
          </p:cNvSpPr>
          <p:nvPr/>
        </p:nvSpPr>
        <p:spPr>
          <a:xfrm>
            <a:off x="8943975" y="4667250"/>
            <a:ext cx="2476500" cy="87630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Evaluate four decoder arms over five grouped folds.</a:t>
            </a:r>
          </a:p>
        </p:txBody>
      </p:sp>
    </p:spTree>
    <p:extLst>
      <p:ext uri="{BB962C8B-B14F-4D97-AF65-F5344CB8AC3E}">
        <p14:creationId xmlns:p14="http://schemas.microsoft.com/office/powerpoint/2010/main" val="1480779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8" name="section-5">
            <a:extLst>
              <a:ext uri="{FF2B5EF4-FFF2-40B4-BE49-F238E27FC236}">
                <a16:creationId xmlns:a16="http://schemas.microsoft.com/office/drawing/2014/main" id="{B0BFB13B-B39C-40DC-8CAA-E28774FECED4}"/>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5">
            <a:extLst>
              <a:ext uri="{FF2B5EF4-FFF2-40B4-BE49-F238E27FC236}">
                <a16:creationId xmlns:a16="http://schemas.microsoft.com/office/drawing/2014/main" id="{034A2D1D-41B1-413C-BBF0-619EC0F42C5C}"/>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A geometrically controlled pipeline makes the experiment auditable</a:t>
            </a:r>
          </a:p>
        </p:txBody>
      </p:sp>
      <p:cxnSp>
        <p:nvCxnSpPr>
          <p:cNvPr id="10" name="rule-5"/>
          <p:cNvCxnSpPr/>
          <p:nvPr/>
        </p:nvCxnSpPr>
        <p:spPr>
          <a:xfrm>
            <a:off x="400050" y="1285875"/>
            <a:ext cx="11391900" cy="0"/>
          </a:xfrm>
          <a:prstGeom prst="straightConnector1">
            <a:avLst/>
          </a:prstGeom>
          <a:ln w="9525">
            <a:solidFill>
              <a:srgbClr val="D9DEE7"/>
            </a:solidFill>
            <a:prstDash val="solid"/>
          </a:ln>
        </p:spPr>
      </p:cxnSp>
      <p:sp>
        <p:nvSpPr>
          <p:cNvPr id="4" name="source-5">
            <a:extLst>
              <a:ext uri="{FF2B5EF4-FFF2-40B4-BE49-F238E27FC236}">
                <a16:creationId xmlns:a16="http://schemas.microsoft.com/office/drawing/2014/main" id="{1FF78420-617F-4BC8-B6E5-A67EEF7F9702}"/>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58–60, 90–104</a:t>
            </a:r>
          </a:p>
        </p:txBody>
      </p:sp>
      <p:sp>
        <p:nvSpPr>
          <p:cNvPr id="5" name="page-5">
            <a:extLst>
              <a:ext uri="{FF2B5EF4-FFF2-40B4-BE49-F238E27FC236}">
                <a16:creationId xmlns:a16="http://schemas.microsoft.com/office/drawing/2014/main" id="{1044DC7E-388B-4BDE-BB42-66A4D202031B}"/>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05</a:t>
            </a:r>
          </a:p>
        </p:txBody>
      </p:sp>
      <p:pic>
        <p:nvPicPr>
          <p:cNvPr id="13" name="Picture 12"/>
          <p:cNvPicPr>
            <a:picLocks noChangeAspect="1"/>
          </p:cNvPicPr>
          <p:nvPr/>
        </p:nvPicPr>
        <p:blipFill>
          <a:blip r:embed="rId3"/>
          <a:stretch/>
        </p:blipFill>
        <p:spPr>
          <a:xfrm>
            <a:off x="407753" y="1562100"/>
            <a:ext cx="11376495" cy="4362450"/>
          </a:xfrm>
          <a:prstGeom prst="roundRect">
            <a:avLst>
              <a:gd name="adj" fmla="val 2620"/>
            </a:avLst>
          </a:prstGeom>
        </p:spPr>
      </p:pic>
      <p:sp>
        <p:nvSpPr>
          <p:cNvPr id="7" name="method-caption">
            <a:extLst>
              <a:ext uri="{FF2B5EF4-FFF2-40B4-BE49-F238E27FC236}">
                <a16:creationId xmlns:a16="http://schemas.microsoft.com/office/drawing/2014/main" id="{0C4B5778-A32E-4987-99AC-711D9FE32C4C}"/>
              </a:ext>
            </a:extLst>
          </p:cNvPr>
          <p:cNvSpPr>
            <a:spLocks noGrp="1"/>
          </p:cNvSpPr>
          <p:nvPr/>
        </p:nvSpPr>
        <p:spPr>
          <a:xfrm>
            <a:off x="1047750" y="5915025"/>
            <a:ext cx="10096500" cy="361950"/>
          </a:xfrm>
          <a:prstGeom prst="rect">
            <a:avLst/>
          </a:prstGeom>
          <a:noFill/>
          <a:ln w="0">
            <a:noFill/>
            <a:prstDash val="solid"/>
          </a:ln>
        </p:spPr>
        <p:txBody>
          <a:bodyPr anchor="t"/>
          <a:lstStyle/>
          <a:p>
            <a:pPr algn="ctr">
              <a:defRPr sz="1500" b="1">
                <a:solidFill>
                  <a:srgbClr val="0F766E"/>
                </a:solidFill>
                <a:latin typeface="Arial"/>
                <a:ea typeface="Arial"/>
                <a:cs typeface="Arial"/>
              </a:defRPr>
            </a:pPr>
            <a:r>
              <a:rPr sz="1500" b="1">
                <a:solidFill>
                  <a:srgbClr val="0F766E"/>
                </a:solidFill>
                <a:latin typeface="Arial"/>
                <a:ea typeface="Arial"/>
                <a:cs typeface="Arial"/>
              </a:rPr>
              <a:t>Fold-specific representation learning → shared fusion/lifting → controlled decoder comparison → subject-level evaluation</a:t>
            </a:r>
          </a:p>
        </p:txBody>
      </p:sp>
    </p:spTree>
    <p:extLst>
      <p:ext uri="{BB962C8B-B14F-4D97-AF65-F5344CB8AC3E}">
        <p14:creationId xmlns:p14="http://schemas.microsoft.com/office/powerpoint/2010/main" val="1538541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1" name="section-6">
            <a:extLst>
              <a:ext uri="{FF2B5EF4-FFF2-40B4-BE49-F238E27FC236}">
                <a16:creationId xmlns:a16="http://schemas.microsoft.com/office/drawing/2014/main" id="{0D4A3C0E-8934-4A19-BD99-4D084103DDE2}"/>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6">
            <a:extLst>
              <a:ext uri="{FF2B5EF4-FFF2-40B4-BE49-F238E27FC236}">
                <a16:creationId xmlns:a16="http://schemas.microsoft.com/office/drawing/2014/main" id="{F5AE65DB-22A5-43C5-815D-D767939F2104}"/>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The cohort is small, mixed and leakage-controlled</a:t>
            </a:r>
          </a:p>
        </p:txBody>
      </p:sp>
      <p:cxnSp>
        <p:nvCxnSpPr>
          <p:cNvPr id="23" name="rule-6"/>
          <p:cNvCxnSpPr/>
          <p:nvPr/>
        </p:nvCxnSpPr>
        <p:spPr>
          <a:xfrm>
            <a:off x="400050" y="1285875"/>
            <a:ext cx="11391900" cy="0"/>
          </a:xfrm>
          <a:prstGeom prst="straightConnector1">
            <a:avLst/>
          </a:prstGeom>
          <a:ln w="9525">
            <a:solidFill>
              <a:srgbClr val="D9DEE7"/>
            </a:solidFill>
            <a:prstDash val="solid"/>
          </a:ln>
        </p:spPr>
      </p:cxnSp>
      <p:sp>
        <p:nvSpPr>
          <p:cNvPr id="4" name="source-6">
            <a:extLst>
              <a:ext uri="{FF2B5EF4-FFF2-40B4-BE49-F238E27FC236}">
                <a16:creationId xmlns:a16="http://schemas.microsoft.com/office/drawing/2014/main" id="{C7F41B29-66F1-44B5-9D61-A7481187E0BE}"/>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14, 76–77, 110</a:t>
            </a:r>
          </a:p>
        </p:txBody>
      </p:sp>
      <p:sp>
        <p:nvSpPr>
          <p:cNvPr id="5" name="page-6">
            <a:extLst>
              <a:ext uri="{FF2B5EF4-FFF2-40B4-BE49-F238E27FC236}">
                <a16:creationId xmlns:a16="http://schemas.microsoft.com/office/drawing/2014/main" id="{0EF4FBAD-698C-49FD-ADB2-65D4B6F0D131}"/>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06</a:t>
            </a:r>
          </a:p>
        </p:txBody>
      </p:sp>
      <p:sp>
        <p:nvSpPr>
          <p:cNvPr id="6" name="cohort-intro">
            <a:extLst>
              <a:ext uri="{FF2B5EF4-FFF2-40B4-BE49-F238E27FC236}">
                <a16:creationId xmlns:a16="http://schemas.microsoft.com/office/drawing/2014/main" id="{9164755F-501A-4FC4-B169-952D44E044F0}"/>
              </a:ext>
            </a:extLst>
          </p:cNvPr>
          <p:cNvSpPr>
            <a:spLocks noGrp="1"/>
          </p:cNvSpPr>
          <p:nvPr/>
        </p:nvSpPr>
        <p:spPr>
          <a:xfrm>
            <a:off x="400050" y="1457325"/>
            <a:ext cx="8572500" cy="438150"/>
          </a:xfrm>
          <a:prstGeom prst="rect">
            <a:avLst/>
          </a:prstGeom>
          <a:noFill/>
          <a:ln w="0">
            <a:noFill/>
            <a:prstDash val="solid"/>
          </a:ln>
        </p:spPr>
        <p:txBody>
          <a:bodyPr anchor="t"/>
          <a:lstStyle/>
          <a:p>
            <a:pPr algn="l">
              <a:defRPr sz="1800" b="0">
                <a:solidFill>
                  <a:srgbClr val="5B6472"/>
                </a:solidFill>
                <a:latin typeface="Arial"/>
                <a:ea typeface="Arial"/>
                <a:cs typeface="Arial"/>
              </a:defRPr>
            </a:pPr>
            <a:r>
              <a:rPr sz="1800" b="0">
                <a:solidFill>
                  <a:srgbClr val="5B6472"/>
                </a:solidFill>
                <a:latin typeface="Arial"/>
                <a:ea typeface="Arial"/>
                <a:cs typeface="Arial"/>
              </a:rPr>
              <a:t>Quantitative cohort after eligibility and quality checks</a:t>
            </a:r>
          </a:p>
        </p:txBody>
      </p:sp>
      <p:sp>
        <p:nvSpPr>
          <p:cNvPr id="7" name="subjects-panel">
            <a:extLst>
              <a:ext uri="{FF2B5EF4-FFF2-40B4-BE49-F238E27FC236}">
                <a16:creationId xmlns:a16="http://schemas.microsoft.com/office/drawing/2014/main" id="{484A018B-36C7-44F5-AD05-9886A6AB3D50}"/>
              </a:ext>
            </a:extLst>
          </p:cNvPr>
          <p:cNvSpPr>
            <a:spLocks noGrp="1"/>
          </p:cNvSpPr>
          <p:nvPr/>
        </p:nvSpPr>
        <p:spPr>
          <a:xfrm>
            <a:off x="400050" y="2247900"/>
            <a:ext cx="2571750" cy="1657350"/>
          </a:xfrm>
          <a:prstGeom prst="roundRect">
            <a:avLst>
              <a:gd name="adj" fmla="val 6897"/>
            </a:avLst>
          </a:prstGeom>
          <a:solidFill>
            <a:srgbClr val="F1F3F6"/>
          </a:solidFill>
          <a:ln w="0">
            <a:noFill/>
            <a:prstDash val="solid"/>
          </a:ln>
        </p:spPr>
        <p:txBody>
          <a:bodyPr/>
          <a:lstStyle/>
          <a:p>
            <a:endParaRPr lang="en-MY"/>
          </a:p>
        </p:txBody>
      </p:sp>
      <p:sp>
        <p:nvSpPr>
          <p:cNvPr id="8" name="subjects-value">
            <a:extLst>
              <a:ext uri="{FF2B5EF4-FFF2-40B4-BE49-F238E27FC236}">
                <a16:creationId xmlns:a16="http://schemas.microsoft.com/office/drawing/2014/main" id="{D49EACA4-4BE8-4CFE-BD05-26983EC424D8}"/>
              </a:ext>
            </a:extLst>
          </p:cNvPr>
          <p:cNvSpPr>
            <a:spLocks noGrp="1"/>
          </p:cNvSpPr>
          <p:nvPr/>
        </p:nvSpPr>
        <p:spPr>
          <a:xfrm>
            <a:off x="609600" y="2457450"/>
            <a:ext cx="2152650" cy="666750"/>
          </a:xfrm>
          <a:prstGeom prst="rect">
            <a:avLst/>
          </a:prstGeom>
          <a:noFill/>
          <a:ln w="0">
            <a:noFill/>
            <a:prstDash val="solid"/>
          </a:ln>
        </p:spPr>
        <p:txBody>
          <a:bodyPr anchor="t"/>
          <a:lstStyle/>
          <a:p>
            <a:pPr algn="l">
              <a:defRPr sz="3600" b="1">
                <a:solidFill>
                  <a:srgbClr val="2563EB"/>
                </a:solidFill>
                <a:latin typeface="Arial"/>
                <a:ea typeface="Arial"/>
                <a:cs typeface="Arial"/>
              </a:defRPr>
            </a:pPr>
            <a:r>
              <a:rPr sz="3600" b="1">
                <a:solidFill>
                  <a:srgbClr val="2563EB"/>
                </a:solidFill>
                <a:latin typeface="Arial"/>
                <a:ea typeface="Arial"/>
                <a:cs typeface="Arial"/>
              </a:rPr>
              <a:t>43</a:t>
            </a:r>
          </a:p>
        </p:txBody>
      </p:sp>
      <p:sp>
        <p:nvSpPr>
          <p:cNvPr id="9" name="subjects-label">
            <a:extLst>
              <a:ext uri="{FF2B5EF4-FFF2-40B4-BE49-F238E27FC236}">
                <a16:creationId xmlns:a16="http://schemas.microsoft.com/office/drawing/2014/main" id="{ADC3C2A5-0A57-49E0-96F0-E89577CF6939}"/>
              </a:ext>
            </a:extLst>
          </p:cNvPr>
          <p:cNvSpPr>
            <a:spLocks noGrp="1"/>
          </p:cNvSpPr>
          <p:nvPr/>
        </p:nvSpPr>
        <p:spPr>
          <a:xfrm>
            <a:off x="609600" y="3209925"/>
            <a:ext cx="2152650"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subjects</a:t>
            </a:r>
          </a:p>
        </p:txBody>
      </p:sp>
      <p:sp>
        <p:nvSpPr>
          <p:cNvPr id="10" name="knees-panel">
            <a:extLst>
              <a:ext uri="{FF2B5EF4-FFF2-40B4-BE49-F238E27FC236}">
                <a16:creationId xmlns:a16="http://schemas.microsoft.com/office/drawing/2014/main" id="{01877145-0639-4A83-81CD-4A7D46598168}"/>
              </a:ext>
            </a:extLst>
          </p:cNvPr>
          <p:cNvSpPr>
            <a:spLocks noGrp="1"/>
          </p:cNvSpPr>
          <p:nvPr/>
        </p:nvSpPr>
        <p:spPr>
          <a:xfrm>
            <a:off x="3209925" y="2247900"/>
            <a:ext cx="2571750" cy="1657350"/>
          </a:xfrm>
          <a:prstGeom prst="roundRect">
            <a:avLst>
              <a:gd name="adj" fmla="val 6897"/>
            </a:avLst>
          </a:prstGeom>
          <a:solidFill>
            <a:srgbClr val="F1F3F6"/>
          </a:solidFill>
          <a:ln w="0">
            <a:noFill/>
            <a:prstDash val="solid"/>
          </a:ln>
        </p:spPr>
        <p:txBody>
          <a:bodyPr/>
          <a:lstStyle/>
          <a:p>
            <a:endParaRPr lang="en-MY"/>
          </a:p>
        </p:txBody>
      </p:sp>
      <p:sp>
        <p:nvSpPr>
          <p:cNvPr id="11" name="knees-value">
            <a:extLst>
              <a:ext uri="{FF2B5EF4-FFF2-40B4-BE49-F238E27FC236}">
                <a16:creationId xmlns:a16="http://schemas.microsoft.com/office/drawing/2014/main" id="{50E96C37-72C6-419A-9B3B-F934B7841E7C}"/>
              </a:ext>
            </a:extLst>
          </p:cNvPr>
          <p:cNvSpPr>
            <a:spLocks noGrp="1"/>
          </p:cNvSpPr>
          <p:nvPr/>
        </p:nvSpPr>
        <p:spPr>
          <a:xfrm>
            <a:off x="3419475" y="2457450"/>
            <a:ext cx="2152650" cy="666750"/>
          </a:xfrm>
          <a:prstGeom prst="rect">
            <a:avLst/>
          </a:prstGeom>
          <a:noFill/>
          <a:ln w="0">
            <a:noFill/>
            <a:prstDash val="solid"/>
          </a:ln>
        </p:spPr>
        <p:txBody>
          <a:bodyPr anchor="t"/>
          <a:lstStyle/>
          <a:p>
            <a:pPr algn="l">
              <a:defRPr sz="3600" b="1">
                <a:solidFill>
                  <a:srgbClr val="0F766E"/>
                </a:solidFill>
                <a:latin typeface="Arial"/>
                <a:ea typeface="Arial"/>
                <a:cs typeface="Arial"/>
              </a:defRPr>
            </a:pPr>
            <a:r>
              <a:rPr sz="3600" b="1">
                <a:solidFill>
                  <a:srgbClr val="0F766E"/>
                </a:solidFill>
                <a:latin typeface="Arial"/>
                <a:ea typeface="Arial"/>
                <a:cs typeface="Arial"/>
              </a:rPr>
              <a:t>71</a:t>
            </a:r>
          </a:p>
        </p:txBody>
      </p:sp>
      <p:sp>
        <p:nvSpPr>
          <p:cNvPr id="12" name="knees-label">
            <a:extLst>
              <a:ext uri="{FF2B5EF4-FFF2-40B4-BE49-F238E27FC236}">
                <a16:creationId xmlns:a16="http://schemas.microsoft.com/office/drawing/2014/main" id="{5D84543C-5CCE-480E-8415-C9652FC34324}"/>
              </a:ext>
            </a:extLst>
          </p:cNvPr>
          <p:cNvSpPr>
            <a:spLocks noGrp="1"/>
          </p:cNvSpPr>
          <p:nvPr/>
        </p:nvSpPr>
        <p:spPr>
          <a:xfrm>
            <a:off x="3419475" y="3209925"/>
            <a:ext cx="2152650"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knees</a:t>
            </a:r>
          </a:p>
        </p:txBody>
      </p:sp>
      <p:sp>
        <p:nvSpPr>
          <p:cNvPr id="13" name="healthy-panel">
            <a:extLst>
              <a:ext uri="{FF2B5EF4-FFF2-40B4-BE49-F238E27FC236}">
                <a16:creationId xmlns:a16="http://schemas.microsoft.com/office/drawing/2014/main" id="{7EEC7731-F290-4B7F-B29E-7F7161F3A840}"/>
              </a:ext>
            </a:extLst>
          </p:cNvPr>
          <p:cNvSpPr>
            <a:spLocks noGrp="1"/>
          </p:cNvSpPr>
          <p:nvPr/>
        </p:nvSpPr>
        <p:spPr>
          <a:xfrm>
            <a:off x="6019800" y="2247900"/>
            <a:ext cx="2571750" cy="1657350"/>
          </a:xfrm>
          <a:prstGeom prst="roundRect">
            <a:avLst>
              <a:gd name="adj" fmla="val 6897"/>
            </a:avLst>
          </a:prstGeom>
          <a:solidFill>
            <a:srgbClr val="F1F3F6"/>
          </a:solidFill>
          <a:ln w="0">
            <a:noFill/>
            <a:prstDash val="solid"/>
          </a:ln>
        </p:spPr>
        <p:txBody>
          <a:bodyPr/>
          <a:lstStyle/>
          <a:p>
            <a:endParaRPr lang="en-MY"/>
          </a:p>
        </p:txBody>
      </p:sp>
      <p:sp>
        <p:nvSpPr>
          <p:cNvPr id="14" name="healthy-value">
            <a:extLst>
              <a:ext uri="{FF2B5EF4-FFF2-40B4-BE49-F238E27FC236}">
                <a16:creationId xmlns:a16="http://schemas.microsoft.com/office/drawing/2014/main" id="{A3C87B58-C632-44AF-A1E5-5E8D13560AAB}"/>
              </a:ext>
            </a:extLst>
          </p:cNvPr>
          <p:cNvSpPr>
            <a:spLocks noGrp="1"/>
          </p:cNvSpPr>
          <p:nvPr/>
        </p:nvSpPr>
        <p:spPr>
          <a:xfrm>
            <a:off x="6229350" y="2457450"/>
            <a:ext cx="2152650" cy="666750"/>
          </a:xfrm>
          <a:prstGeom prst="rect">
            <a:avLst/>
          </a:prstGeom>
          <a:noFill/>
          <a:ln w="0">
            <a:noFill/>
            <a:prstDash val="solid"/>
          </a:ln>
        </p:spPr>
        <p:txBody>
          <a:bodyPr anchor="t"/>
          <a:lstStyle/>
          <a:p>
            <a:pPr algn="l">
              <a:defRPr sz="3600" b="1">
                <a:solidFill>
                  <a:srgbClr val="2563EB"/>
                </a:solidFill>
                <a:latin typeface="Arial"/>
                <a:ea typeface="Arial"/>
                <a:cs typeface="Arial"/>
              </a:defRPr>
            </a:pPr>
            <a:r>
              <a:rPr sz="3600" b="1">
                <a:solidFill>
                  <a:srgbClr val="2563EB"/>
                </a:solidFill>
                <a:latin typeface="Arial"/>
                <a:ea typeface="Arial"/>
                <a:cs typeface="Arial"/>
              </a:rPr>
              <a:t>58</a:t>
            </a:r>
          </a:p>
        </p:txBody>
      </p:sp>
      <p:sp>
        <p:nvSpPr>
          <p:cNvPr id="15" name="healthy-label">
            <a:extLst>
              <a:ext uri="{FF2B5EF4-FFF2-40B4-BE49-F238E27FC236}">
                <a16:creationId xmlns:a16="http://schemas.microsoft.com/office/drawing/2014/main" id="{7B760528-2E7D-453F-B9A4-7E78356F6728}"/>
              </a:ext>
            </a:extLst>
          </p:cNvPr>
          <p:cNvSpPr>
            <a:spLocks noGrp="1"/>
          </p:cNvSpPr>
          <p:nvPr/>
        </p:nvSpPr>
        <p:spPr>
          <a:xfrm>
            <a:off x="6229350" y="3209925"/>
            <a:ext cx="2152650"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healthy knees</a:t>
            </a:r>
          </a:p>
        </p:txBody>
      </p:sp>
      <p:sp>
        <p:nvSpPr>
          <p:cNvPr id="16" name="fractured-panel">
            <a:extLst>
              <a:ext uri="{FF2B5EF4-FFF2-40B4-BE49-F238E27FC236}">
                <a16:creationId xmlns:a16="http://schemas.microsoft.com/office/drawing/2014/main" id="{3DBE3FF0-5C54-46DB-B1FE-D546B5487882}"/>
              </a:ext>
            </a:extLst>
          </p:cNvPr>
          <p:cNvSpPr>
            <a:spLocks noGrp="1"/>
          </p:cNvSpPr>
          <p:nvPr/>
        </p:nvSpPr>
        <p:spPr>
          <a:xfrm>
            <a:off x="8829675" y="2247900"/>
            <a:ext cx="2962275" cy="1657350"/>
          </a:xfrm>
          <a:prstGeom prst="roundRect">
            <a:avLst>
              <a:gd name="adj" fmla="val 6897"/>
            </a:avLst>
          </a:prstGeom>
          <a:solidFill>
            <a:srgbClr val="F1F3F6"/>
          </a:solidFill>
          <a:ln w="0">
            <a:noFill/>
            <a:prstDash val="solid"/>
          </a:ln>
        </p:spPr>
        <p:txBody>
          <a:bodyPr/>
          <a:lstStyle/>
          <a:p>
            <a:endParaRPr lang="en-MY"/>
          </a:p>
        </p:txBody>
      </p:sp>
      <p:sp>
        <p:nvSpPr>
          <p:cNvPr id="17" name="fractured-value">
            <a:extLst>
              <a:ext uri="{FF2B5EF4-FFF2-40B4-BE49-F238E27FC236}">
                <a16:creationId xmlns:a16="http://schemas.microsoft.com/office/drawing/2014/main" id="{128C0F6E-5D42-4269-A842-7F7EFAB95E61}"/>
              </a:ext>
            </a:extLst>
          </p:cNvPr>
          <p:cNvSpPr>
            <a:spLocks noGrp="1"/>
          </p:cNvSpPr>
          <p:nvPr/>
        </p:nvSpPr>
        <p:spPr>
          <a:xfrm>
            <a:off x="9039225" y="2457450"/>
            <a:ext cx="2543175" cy="666750"/>
          </a:xfrm>
          <a:prstGeom prst="rect">
            <a:avLst/>
          </a:prstGeom>
          <a:noFill/>
          <a:ln w="0">
            <a:noFill/>
            <a:prstDash val="solid"/>
          </a:ln>
        </p:spPr>
        <p:txBody>
          <a:bodyPr anchor="t"/>
          <a:lstStyle/>
          <a:p>
            <a:pPr algn="l">
              <a:defRPr sz="3600" b="1">
                <a:solidFill>
                  <a:srgbClr val="D97706"/>
                </a:solidFill>
                <a:latin typeface="Arial"/>
                <a:ea typeface="Arial"/>
                <a:cs typeface="Arial"/>
              </a:defRPr>
            </a:pPr>
            <a:r>
              <a:rPr sz="3600" b="1">
                <a:solidFill>
                  <a:srgbClr val="D97706"/>
                </a:solidFill>
                <a:latin typeface="Arial"/>
                <a:ea typeface="Arial"/>
                <a:cs typeface="Arial"/>
              </a:rPr>
              <a:t>13</a:t>
            </a:r>
          </a:p>
        </p:txBody>
      </p:sp>
      <p:sp>
        <p:nvSpPr>
          <p:cNvPr id="18" name="fractured-label">
            <a:extLst>
              <a:ext uri="{FF2B5EF4-FFF2-40B4-BE49-F238E27FC236}">
                <a16:creationId xmlns:a16="http://schemas.microsoft.com/office/drawing/2014/main" id="{DC58F559-FF43-4AA4-B569-F85756448C66}"/>
              </a:ext>
            </a:extLst>
          </p:cNvPr>
          <p:cNvSpPr>
            <a:spLocks noGrp="1"/>
          </p:cNvSpPr>
          <p:nvPr/>
        </p:nvSpPr>
        <p:spPr>
          <a:xfrm>
            <a:off x="9039225" y="3209925"/>
            <a:ext cx="2543175"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fractured knees</a:t>
            </a:r>
          </a:p>
        </p:txBody>
      </p:sp>
      <p:sp>
        <p:nvSpPr>
          <p:cNvPr id="19" name="fold-line">
            <a:extLst>
              <a:ext uri="{FF2B5EF4-FFF2-40B4-BE49-F238E27FC236}">
                <a16:creationId xmlns:a16="http://schemas.microsoft.com/office/drawing/2014/main" id="{E3F35F8F-B35E-4520-93D4-6D2FA6E58B0D}"/>
              </a:ext>
            </a:extLst>
          </p:cNvPr>
          <p:cNvSpPr>
            <a:spLocks noGrp="1"/>
          </p:cNvSpPr>
          <p:nvPr/>
        </p:nvSpPr>
        <p:spPr>
          <a:xfrm>
            <a:off x="400050" y="4419600"/>
            <a:ext cx="11391900" cy="495300"/>
          </a:xfrm>
          <a:prstGeom prst="rect">
            <a:avLst/>
          </a:prstGeom>
          <a:noFill/>
          <a:ln w="0">
            <a:noFill/>
            <a:prstDash val="solid"/>
          </a:ln>
        </p:spPr>
        <p:txBody>
          <a:bodyPr anchor="t"/>
          <a:lstStyle/>
          <a:p>
            <a:pPr algn="ctr">
              <a:defRPr sz="1875" b="1">
                <a:solidFill>
                  <a:srgbClr val="111827"/>
                </a:solidFill>
                <a:latin typeface="Arial"/>
                <a:ea typeface="Arial"/>
                <a:cs typeface="Arial"/>
              </a:defRPr>
            </a:pPr>
            <a:r>
              <a:rPr sz="1875" b="1">
                <a:solidFill>
                  <a:srgbClr val="111827"/>
                </a:solidFill>
                <a:latin typeface="Arial"/>
                <a:ea typeface="Arial"/>
                <a:cs typeface="Arial"/>
              </a:rPr>
              <a:t>5 subject-grouped folds  ·  every fold contains healthy and fractured anatomy  ·  bilateral knees stay together</a:t>
            </a:r>
          </a:p>
        </p:txBody>
      </p:sp>
      <p:sp>
        <p:nvSpPr>
          <p:cNvPr id="20" name="cohort-caveat">
            <a:extLst>
              <a:ext uri="{FF2B5EF4-FFF2-40B4-BE49-F238E27FC236}">
                <a16:creationId xmlns:a16="http://schemas.microsoft.com/office/drawing/2014/main" id="{C8DB9A8A-66B6-4013-ADCF-6554DE227BB8}"/>
              </a:ext>
            </a:extLst>
          </p:cNvPr>
          <p:cNvSpPr>
            <a:spLocks noGrp="1"/>
          </p:cNvSpPr>
          <p:nvPr/>
        </p:nvSpPr>
        <p:spPr>
          <a:xfrm>
            <a:off x="904875" y="5314950"/>
            <a:ext cx="10382250" cy="552450"/>
          </a:xfrm>
          <a:prstGeom prst="rect">
            <a:avLst/>
          </a:prstGeom>
          <a:noFill/>
          <a:ln w="0">
            <a:noFill/>
            <a:prstDash val="solid"/>
          </a:ln>
        </p:spPr>
        <p:txBody>
          <a:bodyPr anchor="t"/>
          <a:lstStyle/>
          <a:p>
            <a:pPr algn="ctr">
              <a:defRPr sz="1650" b="0">
                <a:solidFill>
                  <a:srgbClr val="B91C1C"/>
                </a:solidFill>
                <a:latin typeface="Arial"/>
                <a:ea typeface="Arial"/>
                <a:cs typeface="Arial"/>
              </a:defRPr>
            </a:pPr>
            <a:r>
              <a:rPr sz="1650" b="0">
                <a:solidFill>
                  <a:srgbClr val="B91C1C"/>
                </a:solidFill>
                <a:latin typeface="Arial"/>
                <a:ea typeface="Arial"/>
                <a:cs typeface="Arial"/>
              </a:rPr>
              <a:t>Interpretation boundary: healthy and fractured cases come from different datasets, so pathology is confounded with acquisition domain.</a:t>
            </a:r>
          </a:p>
        </p:txBody>
      </p:sp>
    </p:spTree>
    <p:extLst>
      <p:ext uri="{BB962C8B-B14F-4D97-AF65-F5344CB8AC3E}">
        <p14:creationId xmlns:p14="http://schemas.microsoft.com/office/powerpoint/2010/main" val="1482038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5" name="section-7">
            <a:extLst>
              <a:ext uri="{FF2B5EF4-FFF2-40B4-BE49-F238E27FC236}">
                <a16:creationId xmlns:a16="http://schemas.microsoft.com/office/drawing/2014/main" id="{3D17B232-0EAA-4AFC-8391-D87CA330DB5F}"/>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7">
            <a:extLst>
              <a:ext uri="{FF2B5EF4-FFF2-40B4-BE49-F238E27FC236}">
                <a16:creationId xmlns:a16="http://schemas.microsoft.com/office/drawing/2014/main" id="{1CFDE34F-4A2C-44BE-B280-E1E68575B98C}"/>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Ground-truth meshes become four-channel targets</a:t>
            </a:r>
          </a:p>
        </p:txBody>
      </p:sp>
      <p:cxnSp>
        <p:nvCxnSpPr>
          <p:cNvPr id="27" name="rule-7"/>
          <p:cNvCxnSpPr/>
          <p:nvPr/>
        </p:nvCxnSpPr>
        <p:spPr>
          <a:xfrm>
            <a:off x="400050" y="1285875"/>
            <a:ext cx="11391900" cy="0"/>
          </a:xfrm>
          <a:prstGeom prst="straightConnector1">
            <a:avLst/>
          </a:prstGeom>
          <a:ln w="9525">
            <a:solidFill>
              <a:srgbClr val="D9DEE7"/>
            </a:solidFill>
            <a:prstDash val="solid"/>
          </a:ln>
        </p:spPr>
      </p:cxnSp>
      <p:sp>
        <p:nvSpPr>
          <p:cNvPr id="4" name="source-7">
            <a:extLst>
              <a:ext uri="{FF2B5EF4-FFF2-40B4-BE49-F238E27FC236}">
                <a16:creationId xmlns:a16="http://schemas.microsoft.com/office/drawing/2014/main" id="{1DB7CD68-BCE5-42B8-8755-B3D53541CB4C}"/>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83-85, 109-110</a:t>
            </a:r>
          </a:p>
        </p:txBody>
      </p:sp>
      <p:sp>
        <p:nvSpPr>
          <p:cNvPr id="5" name="page-7">
            <a:extLst>
              <a:ext uri="{FF2B5EF4-FFF2-40B4-BE49-F238E27FC236}">
                <a16:creationId xmlns:a16="http://schemas.microsoft.com/office/drawing/2014/main" id="{6524515B-7AAE-47AF-A351-D0A559885F34}"/>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07</a:t>
            </a:r>
          </a:p>
        </p:txBody>
      </p:sp>
      <p:pic>
        <p:nvPicPr>
          <p:cNvPr id="30" name="Picture 29"/>
          <p:cNvPicPr>
            <a:picLocks noChangeAspect="1"/>
          </p:cNvPicPr>
          <p:nvPr/>
        </p:nvPicPr>
        <p:blipFill>
          <a:blip r:embed="rId3"/>
          <a:stretch/>
        </p:blipFill>
        <p:spPr>
          <a:xfrm>
            <a:off x="737034" y="1638300"/>
            <a:ext cx="3593232" cy="4171950"/>
          </a:xfrm>
          <a:prstGeom prst="roundRect">
            <a:avLst>
              <a:gd name="adj" fmla="val 2740"/>
            </a:avLst>
          </a:prstGeom>
        </p:spPr>
      </p:pic>
      <p:sp>
        <p:nvSpPr>
          <p:cNvPr id="7" name="mesh-caption">
            <a:extLst>
              <a:ext uri="{FF2B5EF4-FFF2-40B4-BE49-F238E27FC236}">
                <a16:creationId xmlns:a16="http://schemas.microsoft.com/office/drawing/2014/main" id="{49C59271-8AF8-4036-B58F-8E729997F660}"/>
              </a:ext>
            </a:extLst>
          </p:cNvPr>
          <p:cNvSpPr>
            <a:spLocks noGrp="1"/>
          </p:cNvSpPr>
          <p:nvPr/>
        </p:nvSpPr>
        <p:spPr>
          <a:xfrm>
            <a:off x="571500" y="5857875"/>
            <a:ext cx="3924300" cy="295275"/>
          </a:xfrm>
          <a:prstGeom prst="rect">
            <a:avLst/>
          </a:prstGeom>
          <a:noFill/>
          <a:ln w="0">
            <a:noFill/>
            <a:prstDash val="solid"/>
          </a:ln>
        </p:spPr>
        <p:txBody>
          <a:bodyPr anchor="t"/>
          <a:lstStyle/>
          <a:p>
            <a:pPr algn="ctr">
              <a:defRPr sz="1425" b="0">
                <a:solidFill>
                  <a:srgbClr val="5B6472"/>
                </a:solidFill>
                <a:latin typeface="Arial"/>
                <a:ea typeface="Arial"/>
                <a:cs typeface="Arial"/>
              </a:defRPr>
            </a:pPr>
            <a:r>
              <a:rPr sz="1425" b="0">
                <a:solidFill>
                  <a:srgbClr val="5B6472"/>
                </a:solidFill>
                <a:latin typeface="Arial"/>
                <a:ea typeface="Arial"/>
                <a:cs typeface="Arial"/>
              </a:rPr>
              <a:t>Femur  |  Tibia  |  Patella  |  Fibula</a:t>
            </a:r>
          </a:p>
        </p:txBody>
      </p:sp>
      <p:sp>
        <p:nvSpPr>
          <p:cNvPr id="8" name="mesh-step-dot-0">
            <a:extLst>
              <a:ext uri="{FF2B5EF4-FFF2-40B4-BE49-F238E27FC236}">
                <a16:creationId xmlns:a16="http://schemas.microsoft.com/office/drawing/2014/main" id="{F9C24196-AE2A-42EB-A19E-9F4C58792F1F}"/>
              </a:ext>
            </a:extLst>
          </p:cNvPr>
          <p:cNvSpPr>
            <a:spLocks noGrp="1"/>
          </p:cNvSpPr>
          <p:nvPr/>
        </p:nvSpPr>
        <p:spPr>
          <a:xfrm>
            <a:off x="4933950" y="1685925"/>
            <a:ext cx="361950" cy="361950"/>
          </a:xfrm>
          <a:prstGeom prst="ellipse">
            <a:avLst/>
          </a:prstGeom>
          <a:solidFill>
            <a:srgbClr val="2563EB"/>
          </a:solidFill>
          <a:ln w="19050">
            <a:solidFill>
              <a:srgbClr val="FFFFFF"/>
            </a:solidFill>
            <a:prstDash val="solid"/>
          </a:ln>
        </p:spPr>
        <p:txBody>
          <a:bodyPr/>
          <a:lstStyle/>
          <a:p>
            <a:endParaRPr lang="en-MY"/>
          </a:p>
        </p:txBody>
      </p:sp>
      <p:sp>
        <p:nvSpPr>
          <p:cNvPr id="9" name="mesh-step-no-0">
            <a:extLst>
              <a:ext uri="{FF2B5EF4-FFF2-40B4-BE49-F238E27FC236}">
                <a16:creationId xmlns:a16="http://schemas.microsoft.com/office/drawing/2014/main" id="{35CD5F70-6F37-4C7F-95CC-141521803E93}"/>
              </a:ext>
            </a:extLst>
          </p:cNvPr>
          <p:cNvSpPr>
            <a:spLocks noGrp="1"/>
          </p:cNvSpPr>
          <p:nvPr/>
        </p:nvSpPr>
        <p:spPr>
          <a:xfrm>
            <a:off x="4962525" y="1762125"/>
            <a:ext cx="304800" cy="209550"/>
          </a:xfrm>
          <a:prstGeom prst="rect">
            <a:avLst/>
          </a:prstGeom>
          <a:noFill/>
          <a:ln w="0">
            <a:noFill/>
            <a:prstDash val="solid"/>
          </a:ln>
        </p:spPr>
        <p:txBody>
          <a:bodyPr anchor="t"/>
          <a:lstStyle/>
          <a:p>
            <a:pPr algn="ctr">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10" name="mesh-step-h-0">
            <a:extLst>
              <a:ext uri="{FF2B5EF4-FFF2-40B4-BE49-F238E27FC236}">
                <a16:creationId xmlns:a16="http://schemas.microsoft.com/office/drawing/2014/main" id="{F2C14379-15D9-4C37-85C5-5AD1E767F2B4}"/>
              </a:ext>
            </a:extLst>
          </p:cNvPr>
          <p:cNvSpPr>
            <a:spLocks noGrp="1"/>
          </p:cNvSpPr>
          <p:nvPr/>
        </p:nvSpPr>
        <p:spPr>
          <a:xfrm>
            <a:off x="5543550" y="1609725"/>
            <a:ext cx="5905500" cy="333375"/>
          </a:xfrm>
          <a:prstGeom prst="rect">
            <a:avLst/>
          </a:prstGeom>
          <a:noFill/>
          <a:ln w="0">
            <a:noFill/>
            <a:prstDash val="solid"/>
          </a:ln>
        </p:spPr>
        <p:txBody>
          <a:bodyPr anchor="t"/>
          <a:lstStyle/>
          <a:p>
            <a:pPr algn="l">
              <a:defRPr sz="1800" b="1">
                <a:solidFill>
                  <a:srgbClr val="111827"/>
                </a:solidFill>
                <a:latin typeface="Arial"/>
                <a:ea typeface="Arial"/>
                <a:cs typeface="Arial"/>
              </a:defRPr>
            </a:pPr>
            <a:r>
              <a:rPr sz="1800" b="1">
                <a:solidFill>
                  <a:srgbClr val="111827"/>
                </a:solidFill>
                <a:latin typeface="Arial"/>
                <a:ea typeface="Arial"/>
                <a:cs typeface="Arial"/>
              </a:rPr>
              <a:t>Segment the CT</a:t>
            </a:r>
          </a:p>
        </p:txBody>
      </p:sp>
      <p:sp>
        <p:nvSpPr>
          <p:cNvPr id="11" name="mesh-step-b-0">
            <a:extLst>
              <a:ext uri="{FF2B5EF4-FFF2-40B4-BE49-F238E27FC236}">
                <a16:creationId xmlns:a16="http://schemas.microsoft.com/office/drawing/2014/main" id="{FAAC5331-15C8-480F-BCA2-9BB9037D46D4}"/>
              </a:ext>
            </a:extLst>
          </p:cNvPr>
          <p:cNvSpPr>
            <a:spLocks noGrp="1"/>
          </p:cNvSpPr>
          <p:nvPr/>
        </p:nvSpPr>
        <p:spPr>
          <a:xfrm>
            <a:off x="5543550" y="1962150"/>
            <a:ext cx="5905500" cy="609600"/>
          </a:xfrm>
          <a:prstGeom prst="rect">
            <a:avLst/>
          </a:prstGeom>
          <a:noFill/>
          <a:ln w="0">
            <a:noFill/>
            <a:prstDash val="solid"/>
          </a:ln>
        </p:spPr>
        <p:txBody>
          <a:bodyPr anchor="t"/>
          <a:lstStyle/>
          <a:p>
            <a:pPr algn="l">
              <a:defRPr sz="1350" b="0">
                <a:solidFill>
                  <a:srgbClr val="5B6472"/>
                </a:solidFill>
                <a:latin typeface="Arial"/>
                <a:ea typeface="Arial"/>
                <a:cs typeface="Arial"/>
              </a:defRPr>
            </a:pPr>
            <a:r>
              <a:rPr sz="1350" b="0">
                <a:solidFill>
                  <a:srgbClr val="5B6472"/>
                </a:solidFill>
                <a:latin typeface="Arial"/>
                <a:ea typeface="Arial"/>
                <a:cs typeface="Arial"/>
              </a:rPr>
              <a:t>3D Slicer labels the complete four-bone anatomy; TotalSegmentator accelerates the initial segmentation.</a:t>
            </a:r>
          </a:p>
        </p:txBody>
      </p:sp>
      <p:sp>
        <p:nvSpPr>
          <p:cNvPr id="12" name="mesh-step-dot-1">
            <a:extLst>
              <a:ext uri="{FF2B5EF4-FFF2-40B4-BE49-F238E27FC236}">
                <a16:creationId xmlns:a16="http://schemas.microsoft.com/office/drawing/2014/main" id="{1F4EB848-7493-442D-AB87-AFF59B63642C}"/>
              </a:ext>
            </a:extLst>
          </p:cNvPr>
          <p:cNvSpPr>
            <a:spLocks noGrp="1"/>
          </p:cNvSpPr>
          <p:nvPr/>
        </p:nvSpPr>
        <p:spPr>
          <a:xfrm>
            <a:off x="4933950" y="2752725"/>
            <a:ext cx="361950" cy="361950"/>
          </a:xfrm>
          <a:prstGeom prst="ellipse">
            <a:avLst/>
          </a:prstGeom>
          <a:solidFill>
            <a:srgbClr val="2563EB"/>
          </a:solidFill>
          <a:ln w="19050">
            <a:solidFill>
              <a:srgbClr val="FFFFFF"/>
            </a:solidFill>
            <a:prstDash val="solid"/>
          </a:ln>
        </p:spPr>
        <p:txBody>
          <a:bodyPr/>
          <a:lstStyle/>
          <a:p>
            <a:endParaRPr lang="en-MY"/>
          </a:p>
        </p:txBody>
      </p:sp>
      <p:sp>
        <p:nvSpPr>
          <p:cNvPr id="13" name="mesh-step-no-1">
            <a:extLst>
              <a:ext uri="{FF2B5EF4-FFF2-40B4-BE49-F238E27FC236}">
                <a16:creationId xmlns:a16="http://schemas.microsoft.com/office/drawing/2014/main" id="{9BFA87A5-D461-4875-AB94-AAB2ED1C29DF}"/>
              </a:ext>
            </a:extLst>
          </p:cNvPr>
          <p:cNvSpPr>
            <a:spLocks noGrp="1"/>
          </p:cNvSpPr>
          <p:nvPr/>
        </p:nvSpPr>
        <p:spPr>
          <a:xfrm>
            <a:off x="4962525" y="2828925"/>
            <a:ext cx="304800" cy="209550"/>
          </a:xfrm>
          <a:prstGeom prst="rect">
            <a:avLst/>
          </a:prstGeom>
          <a:noFill/>
          <a:ln w="0">
            <a:noFill/>
            <a:prstDash val="solid"/>
          </a:ln>
        </p:spPr>
        <p:txBody>
          <a:bodyPr anchor="t"/>
          <a:lstStyle/>
          <a:p>
            <a:pPr algn="ctr">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14" name="mesh-step-h-1">
            <a:extLst>
              <a:ext uri="{FF2B5EF4-FFF2-40B4-BE49-F238E27FC236}">
                <a16:creationId xmlns:a16="http://schemas.microsoft.com/office/drawing/2014/main" id="{9D2649D8-21DC-445E-8023-46CA2D64F395}"/>
              </a:ext>
            </a:extLst>
          </p:cNvPr>
          <p:cNvSpPr>
            <a:spLocks noGrp="1"/>
          </p:cNvSpPr>
          <p:nvPr/>
        </p:nvSpPr>
        <p:spPr>
          <a:xfrm>
            <a:off x="5543550" y="2676525"/>
            <a:ext cx="5905500" cy="333375"/>
          </a:xfrm>
          <a:prstGeom prst="rect">
            <a:avLst/>
          </a:prstGeom>
          <a:noFill/>
          <a:ln w="0">
            <a:noFill/>
            <a:prstDash val="solid"/>
          </a:ln>
        </p:spPr>
        <p:txBody>
          <a:bodyPr anchor="t"/>
          <a:lstStyle/>
          <a:p>
            <a:pPr algn="l">
              <a:defRPr sz="1800" b="1">
                <a:solidFill>
                  <a:srgbClr val="111827"/>
                </a:solidFill>
                <a:latin typeface="Arial"/>
                <a:ea typeface="Arial"/>
                <a:cs typeface="Arial"/>
              </a:defRPr>
            </a:pPr>
            <a:r>
              <a:rPr sz="1800" b="1">
                <a:solidFill>
                  <a:srgbClr val="111827"/>
                </a:solidFill>
                <a:latin typeface="Arial"/>
                <a:ea typeface="Arial"/>
                <a:cs typeface="Arial"/>
              </a:rPr>
              <a:t>Refine and export</a:t>
            </a:r>
          </a:p>
        </p:txBody>
      </p:sp>
      <p:sp>
        <p:nvSpPr>
          <p:cNvPr id="15" name="mesh-step-b-1">
            <a:extLst>
              <a:ext uri="{FF2B5EF4-FFF2-40B4-BE49-F238E27FC236}">
                <a16:creationId xmlns:a16="http://schemas.microsoft.com/office/drawing/2014/main" id="{02713391-A628-43ED-82DB-22064EEEBF36}"/>
              </a:ext>
            </a:extLst>
          </p:cNvPr>
          <p:cNvSpPr>
            <a:spLocks noGrp="1"/>
          </p:cNvSpPr>
          <p:nvPr/>
        </p:nvSpPr>
        <p:spPr>
          <a:xfrm>
            <a:off x="5543550" y="3028950"/>
            <a:ext cx="5905500" cy="609600"/>
          </a:xfrm>
          <a:prstGeom prst="rect">
            <a:avLst/>
          </a:prstGeom>
          <a:noFill/>
          <a:ln w="0">
            <a:noFill/>
            <a:prstDash val="solid"/>
          </a:ln>
        </p:spPr>
        <p:txBody>
          <a:bodyPr anchor="t"/>
          <a:lstStyle/>
          <a:p>
            <a:pPr algn="l">
              <a:defRPr sz="1350" b="0">
                <a:solidFill>
                  <a:srgbClr val="5B6472"/>
                </a:solidFill>
                <a:latin typeface="Arial"/>
                <a:ea typeface="Arial"/>
                <a:cs typeface="Arial"/>
              </a:defRPr>
            </a:pPr>
            <a:r>
              <a:rPr sz="1350" b="0">
                <a:solidFill>
                  <a:srgbClr val="5B6472"/>
                </a:solidFill>
                <a:latin typeface="Arial"/>
                <a:ea typeface="Arial"/>
                <a:cs typeface="Arial"/>
              </a:rPr>
              <a:t>Apply 2-3 mm Gaussian smoothing, then export one STL surface for each bone.</a:t>
            </a:r>
          </a:p>
        </p:txBody>
      </p:sp>
      <p:sp>
        <p:nvSpPr>
          <p:cNvPr id="16" name="mesh-step-dot-2">
            <a:extLst>
              <a:ext uri="{FF2B5EF4-FFF2-40B4-BE49-F238E27FC236}">
                <a16:creationId xmlns:a16="http://schemas.microsoft.com/office/drawing/2014/main" id="{53FAD489-967E-4E95-BC06-7810510FA492}"/>
              </a:ext>
            </a:extLst>
          </p:cNvPr>
          <p:cNvSpPr>
            <a:spLocks noGrp="1"/>
          </p:cNvSpPr>
          <p:nvPr/>
        </p:nvSpPr>
        <p:spPr>
          <a:xfrm>
            <a:off x="4933950" y="3819525"/>
            <a:ext cx="361950" cy="361950"/>
          </a:xfrm>
          <a:prstGeom prst="ellipse">
            <a:avLst/>
          </a:prstGeom>
          <a:solidFill>
            <a:srgbClr val="2563EB"/>
          </a:solidFill>
          <a:ln w="19050">
            <a:solidFill>
              <a:srgbClr val="FFFFFF"/>
            </a:solidFill>
            <a:prstDash val="solid"/>
          </a:ln>
        </p:spPr>
        <p:txBody>
          <a:bodyPr/>
          <a:lstStyle/>
          <a:p>
            <a:endParaRPr lang="en-MY"/>
          </a:p>
        </p:txBody>
      </p:sp>
      <p:sp>
        <p:nvSpPr>
          <p:cNvPr id="17" name="mesh-step-no-2">
            <a:extLst>
              <a:ext uri="{FF2B5EF4-FFF2-40B4-BE49-F238E27FC236}">
                <a16:creationId xmlns:a16="http://schemas.microsoft.com/office/drawing/2014/main" id="{D5B24434-E1F0-4B43-8C72-0703796A2884}"/>
              </a:ext>
            </a:extLst>
          </p:cNvPr>
          <p:cNvSpPr>
            <a:spLocks noGrp="1"/>
          </p:cNvSpPr>
          <p:nvPr/>
        </p:nvSpPr>
        <p:spPr>
          <a:xfrm>
            <a:off x="4962525" y="3895725"/>
            <a:ext cx="304800" cy="209550"/>
          </a:xfrm>
          <a:prstGeom prst="rect">
            <a:avLst/>
          </a:prstGeom>
          <a:noFill/>
          <a:ln w="0">
            <a:noFill/>
            <a:prstDash val="solid"/>
          </a:ln>
        </p:spPr>
        <p:txBody>
          <a:bodyPr anchor="t"/>
          <a:lstStyle/>
          <a:p>
            <a:pPr algn="ctr">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18" name="mesh-step-h-2">
            <a:extLst>
              <a:ext uri="{FF2B5EF4-FFF2-40B4-BE49-F238E27FC236}">
                <a16:creationId xmlns:a16="http://schemas.microsoft.com/office/drawing/2014/main" id="{985C80B4-D243-4A05-9075-BD329509D482}"/>
              </a:ext>
            </a:extLst>
          </p:cNvPr>
          <p:cNvSpPr>
            <a:spLocks noGrp="1"/>
          </p:cNvSpPr>
          <p:nvPr/>
        </p:nvSpPr>
        <p:spPr>
          <a:xfrm>
            <a:off x="5543550" y="3743325"/>
            <a:ext cx="5905500" cy="333375"/>
          </a:xfrm>
          <a:prstGeom prst="rect">
            <a:avLst/>
          </a:prstGeom>
          <a:noFill/>
          <a:ln w="0">
            <a:noFill/>
            <a:prstDash val="solid"/>
          </a:ln>
        </p:spPr>
        <p:txBody>
          <a:bodyPr anchor="t"/>
          <a:lstStyle/>
          <a:p>
            <a:pPr algn="l">
              <a:defRPr sz="1800" b="1">
                <a:solidFill>
                  <a:srgbClr val="111827"/>
                </a:solidFill>
                <a:latin typeface="Arial"/>
                <a:ea typeface="Arial"/>
                <a:cs typeface="Arial"/>
              </a:defRPr>
            </a:pPr>
            <a:r>
              <a:rPr sz="1800" b="1">
                <a:solidFill>
                  <a:srgbClr val="111827"/>
                </a:solidFill>
                <a:latin typeface="Arial"/>
                <a:ea typeface="Arial"/>
                <a:cs typeface="Arial"/>
              </a:rPr>
              <a:t>Align and voxelise</a:t>
            </a:r>
          </a:p>
        </p:txBody>
      </p:sp>
      <p:sp>
        <p:nvSpPr>
          <p:cNvPr id="19" name="mesh-step-b-2">
            <a:extLst>
              <a:ext uri="{FF2B5EF4-FFF2-40B4-BE49-F238E27FC236}">
                <a16:creationId xmlns:a16="http://schemas.microsoft.com/office/drawing/2014/main" id="{5F028333-089E-4CE5-AE3E-FBE14F9C180A}"/>
              </a:ext>
            </a:extLst>
          </p:cNvPr>
          <p:cNvSpPr>
            <a:spLocks noGrp="1"/>
          </p:cNvSpPr>
          <p:nvPr/>
        </p:nvSpPr>
        <p:spPr>
          <a:xfrm>
            <a:off x="5543550" y="4095750"/>
            <a:ext cx="5905500" cy="609600"/>
          </a:xfrm>
          <a:prstGeom prst="rect">
            <a:avLst/>
          </a:prstGeom>
          <a:noFill/>
          <a:ln w="0">
            <a:noFill/>
            <a:prstDash val="solid"/>
          </a:ln>
        </p:spPr>
        <p:txBody>
          <a:bodyPr anchor="t"/>
          <a:lstStyle/>
          <a:p>
            <a:pPr algn="l">
              <a:defRPr sz="1350" b="0">
                <a:solidFill>
                  <a:srgbClr val="5B6472"/>
                </a:solidFill>
                <a:latin typeface="Arial"/>
                <a:ea typeface="Arial"/>
                <a:cs typeface="Arial"/>
              </a:defRPr>
            </a:pPr>
            <a:r>
              <a:rPr sz="1350" b="0">
                <a:solidFill>
                  <a:srgbClr val="5B6472"/>
                </a:solidFill>
                <a:latin typeface="Arial"/>
                <a:ea typeface="Arial"/>
                <a:cs typeface="Arial"/>
              </a:rPr>
              <a:t>Transform every STL into the same LPS-aligned 200 mm, 256³ grid as four fixed-order binary channels.</a:t>
            </a:r>
          </a:p>
        </p:txBody>
      </p:sp>
      <p:sp>
        <p:nvSpPr>
          <p:cNvPr id="20" name="mesh-step-dot-3">
            <a:extLst>
              <a:ext uri="{FF2B5EF4-FFF2-40B4-BE49-F238E27FC236}">
                <a16:creationId xmlns:a16="http://schemas.microsoft.com/office/drawing/2014/main" id="{1558E11E-819B-4C8C-9BCC-F297946BEF48}"/>
              </a:ext>
            </a:extLst>
          </p:cNvPr>
          <p:cNvSpPr>
            <a:spLocks noGrp="1"/>
          </p:cNvSpPr>
          <p:nvPr/>
        </p:nvSpPr>
        <p:spPr>
          <a:xfrm>
            <a:off x="4933950" y="4886325"/>
            <a:ext cx="361950" cy="361950"/>
          </a:xfrm>
          <a:prstGeom prst="ellipse">
            <a:avLst/>
          </a:prstGeom>
          <a:solidFill>
            <a:srgbClr val="0F766E"/>
          </a:solidFill>
          <a:ln w="19050">
            <a:solidFill>
              <a:srgbClr val="FFFFFF"/>
            </a:solidFill>
            <a:prstDash val="solid"/>
          </a:ln>
        </p:spPr>
        <p:txBody>
          <a:bodyPr/>
          <a:lstStyle/>
          <a:p>
            <a:endParaRPr lang="en-MY"/>
          </a:p>
        </p:txBody>
      </p:sp>
      <p:sp>
        <p:nvSpPr>
          <p:cNvPr id="21" name="mesh-step-no-3">
            <a:extLst>
              <a:ext uri="{FF2B5EF4-FFF2-40B4-BE49-F238E27FC236}">
                <a16:creationId xmlns:a16="http://schemas.microsoft.com/office/drawing/2014/main" id="{6B600DD0-081E-40B5-A887-2054DB206B81}"/>
              </a:ext>
            </a:extLst>
          </p:cNvPr>
          <p:cNvSpPr>
            <a:spLocks noGrp="1"/>
          </p:cNvSpPr>
          <p:nvPr/>
        </p:nvSpPr>
        <p:spPr>
          <a:xfrm>
            <a:off x="4962525" y="4962525"/>
            <a:ext cx="304800" cy="209550"/>
          </a:xfrm>
          <a:prstGeom prst="rect">
            <a:avLst/>
          </a:prstGeom>
          <a:noFill/>
          <a:ln w="0">
            <a:noFill/>
            <a:prstDash val="solid"/>
          </a:ln>
        </p:spPr>
        <p:txBody>
          <a:bodyPr anchor="t"/>
          <a:lstStyle/>
          <a:p>
            <a:pPr algn="ctr">
              <a:defRPr sz="975" b="1">
                <a:solidFill>
                  <a:srgbClr val="FFFFFF"/>
                </a:solidFill>
                <a:latin typeface="Arial"/>
                <a:ea typeface="Arial"/>
                <a:cs typeface="Arial"/>
              </a:defRPr>
            </a:pPr>
            <a:r>
              <a:rPr sz="975" b="1">
                <a:solidFill>
                  <a:srgbClr val="FFFFFF"/>
                </a:solidFill>
                <a:latin typeface="Arial"/>
                <a:ea typeface="Arial"/>
                <a:cs typeface="Arial"/>
              </a:rPr>
              <a:t>4</a:t>
            </a:r>
          </a:p>
        </p:txBody>
      </p:sp>
      <p:sp>
        <p:nvSpPr>
          <p:cNvPr id="22" name="mesh-step-h-3">
            <a:extLst>
              <a:ext uri="{FF2B5EF4-FFF2-40B4-BE49-F238E27FC236}">
                <a16:creationId xmlns:a16="http://schemas.microsoft.com/office/drawing/2014/main" id="{E8026C1E-FE9D-44B0-8D2E-A09121978FDE}"/>
              </a:ext>
            </a:extLst>
          </p:cNvPr>
          <p:cNvSpPr>
            <a:spLocks noGrp="1"/>
          </p:cNvSpPr>
          <p:nvPr/>
        </p:nvSpPr>
        <p:spPr>
          <a:xfrm>
            <a:off x="5543550" y="4810125"/>
            <a:ext cx="5905500" cy="333375"/>
          </a:xfrm>
          <a:prstGeom prst="rect">
            <a:avLst/>
          </a:prstGeom>
          <a:noFill/>
          <a:ln w="0">
            <a:noFill/>
            <a:prstDash val="solid"/>
          </a:ln>
        </p:spPr>
        <p:txBody>
          <a:bodyPr anchor="t"/>
          <a:lstStyle/>
          <a:p>
            <a:pPr algn="l">
              <a:defRPr sz="1800" b="1">
                <a:solidFill>
                  <a:srgbClr val="0F766E"/>
                </a:solidFill>
                <a:latin typeface="Arial"/>
                <a:ea typeface="Arial"/>
                <a:cs typeface="Arial"/>
              </a:defRPr>
            </a:pPr>
            <a:r>
              <a:rPr sz="1800" b="1">
                <a:solidFill>
                  <a:srgbClr val="0F766E"/>
                </a:solidFill>
                <a:latin typeface="Arial"/>
                <a:ea typeface="Arial"/>
                <a:cs typeface="Arial"/>
              </a:rPr>
              <a:t>Train and evaluate</a:t>
            </a:r>
          </a:p>
        </p:txBody>
      </p:sp>
      <p:sp>
        <p:nvSpPr>
          <p:cNvPr id="23" name="mesh-step-b-3">
            <a:extLst>
              <a:ext uri="{FF2B5EF4-FFF2-40B4-BE49-F238E27FC236}">
                <a16:creationId xmlns:a16="http://schemas.microsoft.com/office/drawing/2014/main" id="{068F5DD8-3C8B-47EC-AEB8-6666D0E6CD94}"/>
              </a:ext>
            </a:extLst>
          </p:cNvPr>
          <p:cNvSpPr>
            <a:spLocks noGrp="1"/>
          </p:cNvSpPr>
          <p:nvPr/>
        </p:nvSpPr>
        <p:spPr>
          <a:xfrm>
            <a:off x="5543550" y="5162550"/>
            <a:ext cx="5905500" cy="609600"/>
          </a:xfrm>
          <a:prstGeom prst="rect">
            <a:avLst/>
          </a:prstGeom>
          <a:noFill/>
          <a:ln w="0">
            <a:noFill/>
            <a:prstDash val="solid"/>
          </a:ln>
        </p:spPr>
        <p:txBody>
          <a:bodyPr anchor="t"/>
          <a:lstStyle/>
          <a:p>
            <a:pPr algn="l">
              <a:defRPr sz="1350" b="0">
                <a:solidFill>
                  <a:srgbClr val="5B6472"/>
                </a:solidFill>
                <a:latin typeface="Arial"/>
                <a:ea typeface="Arial"/>
                <a:cs typeface="Arial"/>
              </a:defRPr>
            </a:pPr>
            <a:r>
              <a:rPr sz="1350" b="0">
                <a:solidFill>
                  <a:srgbClr val="5B6472"/>
                </a:solidFill>
                <a:latin typeface="Arial"/>
                <a:ea typeface="Arial"/>
                <a:cs typeface="Arial"/>
              </a:rPr>
              <a:t>Paired DRRs are inputs; voxel masks supervise reconstruction and provide per-bone Dice and ASSD references.</a:t>
            </a:r>
          </a:p>
        </p:txBody>
      </p:sp>
      <p:sp>
        <p:nvSpPr>
          <p:cNvPr id="24" name="mesh-limit">
            <a:extLst>
              <a:ext uri="{FF2B5EF4-FFF2-40B4-BE49-F238E27FC236}">
                <a16:creationId xmlns:a16="http://schemas.microsoft.com/office/drawing/2014/main" id="{877B640B-4984-4F2D-8066-52F68F226E0D}"/>
              </a:ext>
            </a:extLst>
          </p:cNvPr>
          <p:cNvSpPr>
            <a:spLocks noGrp="1"/>
          </p:cNvSpPr>
          <p:nvPr/>
        </p:nvSpPr>
        <p:spPr>
          <a:xfrm>
            <a:off x="5029200" y="5886450"/>
            <a:ext cx="6572250" cy="333375"/>
          </a:xfrm>
          <a:prstGeom prst="rect">
            <a:avLst/>
          </a:prstGeom>
          <a:noFill/>
          <a:ln w="0">
            <a:noFill/>
            <a:prstDash val="solid"/>
          </a:ln>
        </p:spPr>
        <p:txBody>
          <a:bodyPr anchor="t"/>
          <a:lstStyle/>
          <a:p>
            <a:pPr algn="ctr">
              <a:defRPr sz="1350" b="1">
                <a:solidFill>
                  <a:srgbClr val="B91C1C"/>
                </a:solidFill>
                <a:latin typeface="Arial"/>
                <a:ea typeface="Arial"/>
                <a:cs typeface="Arial"/>
              </a:defRPr>
            </a:pPr>
            <a:r>
              <a:rPr sz="1350" b="1">
                <a:solidFill>
                  <a:srgbClr val="B91C1C"/>
                </a:solidFill>
                <a:latin typeface="Arial"/>
                <a:ea typeface="Arial"/>
                <a:cs typeface="Arial"/>
              </a:rPr>
              <a:t>Limitation: meshes were manually prepared without radiologist or orthopaedic-specialist validation.</a:t>
            </a:r>
          </a:p>
        </p:txBody>
      </p:sp>
    </p:spTree>
    <p:extLst>
      <p:ext uri="{BB962C8B-B14F-4D97-AF65-F5344CB8AC3E}">
        <p14:creationId xmlns:p14="http://schemas.microsoft.com/office/powerpoint/2010/main" val="1348010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5" name="section-8">
            <a:extLst>
              <a:ext uri="{FF2B5EF4-FFF2-40B4-BE49-F238E27FC236}">
                <a16:creationId xmlns:a16="http://schemas.microsoft.com/office/drawing/2014/main" id="{54D9802E-43ED-4A5C-B736-739765F0D220}"/>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8">
            <a:extLst>
              <a:ext uri="{FF2B5EF4-FFF2-40B4-BE49-F238E27FC236}">
                <a16:creationId xmlns:a16="http://schemas.microsoft.com/office/drawing/2014/main" id="{CE887F98-659E-47A6-BCC6-0C7DC9377B49}"/>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Data preparation removes geometry as a hidden explanation</a:t>
            </a:r>
          </a:p>
        </p:txBody>
      </p:sp>
      <p:cxnSp>
        <p:nvCxnSpPr>
          <p:cNvPr id="17" name="rule-8"/>
          <p:cNvCxnSpPr/>
          <p:nvPr/>
        </p:nvCxnSpPr>
        <p:spPr>
          <a:xfrm>
            <a:off x="400050" y="1285875"/>
            <a:ext cx="11391900" cy="0"/>
          </a:xfrm>
          <a:prstGeom prst="straightConnector1">
            <a:avLst/>
          </a:prstGeom>
          <a:ln w="9525">
            <a:solidFill>
              <a:srgbClr val="D9DEE7"/>
            </a:solidFill>
            <a:prstDash val="solid"/>
          </a:ln>
        </p:spPr>
      </p:cxnSp>
      <p:sp>
        <p:nvSpPr>
          <p:cNvPr id="4" name="source-8">
            <a:extLst>
              <a:ext uri="{FF2B5EF4-FFF2-40B4-BE49-F238E27FC236}">
                <a16:creationId xmlns:a16="http://schemas.microsoft.com/office/drawing/2014/main" id="{24FCC0F4-F485-4216-AC67-A722CA146B38}"/>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78–88</a:t>
            </a:r>
          </a:p>
        </p:txBody>
      </p:sp>
      <p:sp>
        <p:nvSpPr>
          <p:cNvPr id="5" name="page-8">
            <a:extLst>
              <a:ext uri="{FF2B5EF4-FFF2-40B4-BE49-F238E27FC236}">
                <a16:creationId xmlns:a16="http://schemas.microsoft.com/office/drawing/2014/main" id="{FB0F2260-28B7-489A-AC0F-7C420116A428}"/>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08</a:t>
            </a:r>
          </a:p>
        </p:txBody>
      </p:sp>
      <p:pic>
        <p:nvPicPr>
          <p:cNvPr id="20" name="Picture 19"/>
          <p:cNvPicPr>
            <a:picLocks noChangeAspect="1"/>
          </p:cNvPicPr>
          <p:nvPr/>
        </p:nvPicPr>
        <p:blipFill>
          <a:blip r:embed="rId3"/>
          <a:stretch/>
        </p:blipFill>
        <p:spPr>
          <a:xfrm>
            <a:off x="1413948" y="1676400"/>
            <a:ext cx="9364105" cy="2381250"/>
          </a:xfrm>
          <a:prstGeom prst="roundRect">
            <a:avLst>
              <a:gd name="adj" fmla="val 4800"/>
            </a:avLst>
          </a:prstGeom>
        </p:spPr>
      </p:pic>
      <p:sp>
        <p:nvSpPr>
          <p:cNvPr id="7" name="gate-h-0">
            <a:extLst>
              <a:ext uri="{FF2B5EF4-FFF2-40B4-BE49-F238E27FC236}">
                <a16:creationId xmlns:a16="http://schemas.microsoft.com/office/drawing/2014/main" id="{A5C7DEC9-79E8-4839-A7DB-0CA4358EB212}"/>
              </a:ext>
            </a:extLst>
          </p:cNvPr>
          <p:cNvSpPr>
            <a:spLocks noGrp="1"/>
          </p:cNvSpPr>
          <p:nvPr/>
        </p:nvSpPr>
        <p:spPr>
          <a:xfrm>
            <a:off x="400050" y="4457700"/>
            <a:ext cx="2619375" cy="323850"/>
          </a:xfrm>
          <a:prstGeom prst="rect">
            <a:avLst/>
          </a:prstGeom>
          <a:noFill/>
          <a:ln w="0">
            <a:noFill/>
            <a:prstDash val="solid"/>
          </a:ln>
        </p:spPr>
        <p:txBody>
          <a:bodyPr anchor="t"/>
          <a:lstStyle/>
          <a:p>
            <a:pPr algn="l">
              <a:defRPr sz="1725" b="1">
                <a:solidFill>
                  <a:srgbClr val="2563EB"/>
                </a:solidFill>
                <a:latin typeface="Arial"/>
                <a:ea typeface="Arial"/>
                <a:cs typeface="Arial"/>
              </a:defRPr>
            </a:pPr>
            <a:r>
              <a:rPr sz="1725" b="1">
                <a:solidFill>
                  <a:srgbClr val="2563EB"/>
                </a:solidFill>
                <a:latin typeface="Arial"/>
                <a:ea typeface="Arial"/>
                <a:cs typeface="Arial"/>
              </a:rPr>
              <a:t>Physical coordinates</a:t>
            </a:r>
          </a:p>
        </p:txBody>
      </p:sp>
      <p:sp>
        <p:nvSpPr>
          <p:cNvPr id="8" name="gate-b-0">
            <a:extLst>
              <a:ext uri="{FF2B5EF4-FFF2-40B4-BE49-F238E27FC236}">
                <a16:creationId xmlns:a16="http://schemas.microsoft.com/office/drawing/2014/main" id="{129B21FC-4776-4C27-80FA-48AF0E0FA3CF}"/>
              </a:ext>
            </a:extLst>
          </p:cNvPr>
          <p:cNvSpPr>
            <a:spLocks noGrp="1"/>
          </p:cNvSpPr>
          <p:nvPr/>
        </p:nvSpPr>
        <p:spPr>
          <a:xfrm>
            <a:off x="400050" y="4867275"/>
            <a:ext cx="2619375" cy="904875"/>
          </a:xfrm>
          <a:prstGeom prst="rect">
            <a:avLst/>
          </a:prstGeom>
          <a:noFill/>
          <a:ln w="0">
            <a:noFill/>
            <a:prstDash val="solid"/>
          </a:ln>
        </p:spPr>
        <p:txBody>
          <a:bodyPr anchor="t"/>
          <a:lstStyle/>
          <a:p>
            <a:pPr algn="l">
              <a:defRPr sz="1425" b="0">
                <a:solidFill>
                  <a:srgbClr val="5B6472"/>
                </a:solidFill>
                <a:latin typeface="Arial"/>
                <a:ea typeface="Arial"/>
                <a:cs typeface="Arial"/>
              </a:defRPr>
            </a:pPr>
            <a:r>
              <a:rPr sz="1425" b="0">
                <a:solidFill>
                  <a:srgbClr val="5B6472"/>
                </a:solidFill>
                <a:latin typeface="Arial"/>
                <a:ea typeface="Arial"/>
                <a:cs typeface="Arial"/>
              </a:rPr>
              <a:t>DICOM slice ordering, 0.5 mm intermediate resampling and LPS canonicalisation.</a:t>
            </a:r>
          </a:p>
        </p:txBody>
      </p:sp>
      <p:sp>
        <p:nvSpPr>
          <p:cNvPr id="9" name="gate-h-1">
            <a:extLst>
              <a:ext uri="{FF2B5EF4-FFF2-40B4-BE49-F238E27FC236}">
                <a16:creationId xmlns:a16="http://schemas.microsoft.com/office/drawing/2014/main" id="{6EED0986-B792-41D2-AB30-ED98A0F08EC8}"/>
              </a:ext>
            </a:extLst>
          </p:cNvPr>
          <p:cNvSpPr>
            <a:spLocks noGrp="1"/>
          </p:cNvSpPr>
          <p:nvPr/>
        </p:nvSpPr>
        <p:spPr>
          <a:xfrm>
            <a:off x="3248025" y="4457700"/>
            <a:ext cx="2619375" cy="323850"/>
          </a:xfrm>
          <a:prstGeom prst="rect">
            <a:avLst/>
          </a:prstGeom>
          <a:noFill/>
          <a:ln w="0">
            <a:noFill/>
            <a:prstDash val="solid"/>
          </a:ln>
        </p:spPr>
        <p:txBody>
          <a:bodyPr anchor="t"/>
          <a:lstStyle/>
          <a:p>
            <a:pPr algn="l">
              <a:defRPr sz="1725" b="1">
                <a:solidFill>
                  <a:srgbClr val="2563EB"/>
                </a:solidFill>
                <a:latin typeface="Arial"/>
                <a:ea typeface="Arial"/>
                <a:cs typeface="Arial"/>
              </a:defRPr>
            </a:pPr>
            <a:r>
              <a:rPr sz="1725" b="1">
                <a:solidFill>
                  <a:srgbClr val="2563EB"/>
                </a:solidFill>
                <a:latin typeface="Arial"/>
                <a:ea typeface="Arial"/>
                <a:cs typeface="Arial"/>
              </a:rPr>
              <a:t>One target space</a:t>
            </a:r>
          </a:p>
        </p:txBody>
      </p:sp>
      <p:sp>
        <p:nvSpPr>
          <p:cNvPr id="10" name="gate-b-1">
            <a:extLst>
              <a:ext uri="{FF2B5EF4-FFF2-40B4-BE49-F238E27FC236}">
                <a16:creationId xmlns:a16="http://schemas.microsoft.com/office/drawing/2014/main" id="{A06D054B-96AD-4C6F-A7B2-02764AE64413}"/>
              </a:ext>
            </a:extLst>
          </p:cNvPr>
          <p:cNvSpPr>
            <a:spLocks noGrp="1"/>
          </p:cNvSpPr>
          <p:nvPr/>
        </p:nvSpPr>
        <p:spPr>
          <a:xfrm>
            <a:off x="3248025" y="4867275"/>
            <a:ext cx="2619375" cy="904875"/>
          </a:xfrm>
          <a:prstGeom prst="rect">
            <a:avLst/>
          </a:prstGeom>
          <a:noFill/>
          <a:ln w="0">
            <a:noFill/>
            <a:prstDash val="solid"/>
          </a:ln>
        </p:spPr>
        <p:txBody>
          <a:bodyPr anchor="t"/>
          <a:lstStyle/>
          <a:p>
            <a:pPr algn="l">
              <a:defRPr sz="1425" b="0">
                <a:solidFill>
                  <a:srgbClr val="5B6472"/>
                </a:solidFill>
                <a:latin typeface="Arial"/>
                <a:ea typeface="Arial"/>
                <a:cs typeface="Arial"/>
              </a:defRPr>
            </a:pPr>
            <a:r>
              <a:rPr sz="1425" b="0">
                <a:solidFill>
                  <a:srgbClr val="5B6472"/>
                </a:solidFill>
                <a:latin typeface="Arial"/>
                <a:ea typeface="Arial"/>
                <a:cs typeface="Arial"/>
              </a:rPr>
              <a:t>200 mm field of view on a 256³ grid at 0.78125 mm isotropic spacing.</a:t>
            </a:r>
          </a:p>
        </p:txBody>
      </p:sp>
      <p:sp>
        <p:nvSpPr>
          <p:cNvPr id="11" name="gate-h-2">
            <a:extLst>
              <a:ext uri="{FF2B5EF4-FFF2-40B4-BE49-F238E27FC236}">
                <a16:creationId xmlns:a16="http://schemas.microsoft.com/office/drawing/2014/main" id="{6C60D483-36CB-4E7C-9430-2E2AD81A5279}"/>
              </a:ext>
            </a:extLst>
          </p:cNvPr>
          <p:cNvSpPr>
            <a:spLocks noGrp="1"/>
          </p:cNvSpPr>
          <p:nvPr/>
        </p:nvSpPr>
        <p:spPr>
          <a:xfrm>
            <a:off x="6096000" y="4457700"/>
            <a:ext cx="2619375" cy="323850"/>
          </a:xfrm>
          <a:prstGeom prst="rect">
            <a:avLst/>
          </a:prstGeom>
          <a:noFill/>
          <a:ln w="0">
            <a:noFill/>
            <a:prstDash val="solid"/>
          </a:ln>
        </p:spPr>
        <p:txBody>
          <a:bodyPr anchor="t"/>
          <a:lstStyle/>
          <a:p>
            <a:pPr algn="l">
              <a:defRPr sz="1725" b="1">
                <a:solidFill>
                  <a:srgbClr val="2563EB"/>
                </a:solidFill>
                <a:latin typeface="Arial"/>
                <a:ea typeface="Arial"/>
                <a:cs typeface="Arial"/>
              </a:defRPr>
            </a:pPr>
            <a:r>
              <a:rPr sz="1725" b="1">
                <a:solidFill>
                  <a:srgbClr val="2563EB"/>
                </a:solidFill>
                <a:latin typeface="Arial"/>
                <a:ea typeface="Arial"/>
                <a:cs typeface="Arial"/>
              </a:rPr>
              <a:t>Four-bone masks</a:t>
            </a:r>
          </a:p>
        </p:txBody>
      </p:sp>
      <p:sp>
        <p:nvSpPr>
          <p:cNvPr id="12" name="gate-b-2">
            <a:extLst>
              <a:ext uri="{FF2B5EF4-FFF2-40B4-BE49-F238E27FC236}">
                <a16:creationId xmlns:a16="http://schemas.microsoft.com/office/drawing/2014/main" id="{4B251A68-1895-471C-A3CA-DD5883772D5D}"/>
              </a:ext>
            </a:extLst>
          </p:cNvPr>
          <p:cNvSpPr>
            <a:spLocks noGrp="1"/>
          </p:cNvSpPr>
          <p:nvPr/>
        </p:nvSpPr>
        <p:spPr>
          <a:xfrm>
            <a:off x="6096000" y="4867275"/>
            <a:ext cx="2619375" cy="904875"/>
          </a:xfrm>
          <a:prstGeom prst="rect">
            <a:avLst/>
          </a:prstGeom>
          <a:noFill/>
          <a:ln w="0">
            <a:noFill/>
            <a:prstDash val="solid"/>
          </a:ln>
        </p:spPr>
        <p:txBody>
          <a:bodyPr anchor="t"/>
          <a:lstStyle/>
          <a:p>
            <a:pPr algn="l">
              <a:defRPr sz="1425" b="0">
                <a:solidFill>
                  <a:srgbClr val="5B6472"/>
                </a:solidFill>
                <a:latin typeface="Arial"/>
                <a:ea typeface="Arial"/>
                <a:cs typeface="Arial"/>
              </a:defRPr>
            </a:pPr>
            <a:r>
              <a:rPr sz="1425" b="0">
                <a:solidFill>
                  <a:srgbClr val="5B6472"/>
                </a:solidFill>
                <a:latin typeface="Arial"/>
                <a:ea typeface="Arial"/>
                <a:cs typeface="Arial"/>
              </a:rPr>
              <a:t>Femur, tibia, patella and fibula use one fixed channel order.</a:t>
            </a:r>
          </a:p>
        </p:txBody>
      </p:sp>
      <p:sp>
        <p:nvSpPr>
          <p:cNvPr id="13" name="gate-h-3">
            <a:extLst>
              <a:ext uri="{FF2B5EF4-FFF2-40B4-BE49-F238E27FC236}">
                <a16:creationId xmlns:a16="http://schemas.microsoft.com/office/drawing/2014/main" id="{9427460E-536B-41DC-BCA6-037A60DAC3DC}"/>
              </a:ext>
            </a:extLst>
          </p:cNvPr>
          <p:cNvSpPr>
            <a:spLocks noGrp="1"/>
          </p:cNvSpPr>
          <p:nvPr/>
        </p:nvSpPr>
        <p:spPr>
          <a:xfrm>
            <a:off x="8943975" y="4457700"/>
            <a:ext cx="2619375" cy="323850"/>
          </a:xfrm>
          <a:prstGeom prst="rect">
            <a:avLst/>
          </a:prstGeom>
          <a:noFill/>
          <a:ln w="0">
            <a:noFill/>
            <a:prstDash val="solid"/>
          </a:ln>
        </p:spPr>
        <p:txBody>
          <a:bodyPr anchor="t"/>
          <a:lstStyle/>
          <a:p>
            <a:pPr algn="l">
              <a:defRPr sz="1725" b="1">
                <a:solidFill>
                  <a:srgbClr val="2563EB"/>
                </a:solidFill>
                <a:latin typeface="Arial"/>
                <a:ea typeface="Arial"/>
                <a:cs typeface="Arial"/>
              </a:defRPr>
            </a:pPr>
            <a:r>
              <a:rPr sz="1725" b="1">
                <a:solidFill>
                  <a:srgbClr val="2563EB"/>
                </a:solidFill>
                <a:latin typeface="Arial"/>
                <a:ea typeface="Arial"/>
                <a:cs typeface="Arial"/>
              </a:rPr>
              <a:t>Aligned DRRs</a:t>
            </a:r>
          </a:p>
        </p:txBody>
      </p:sp>
      <p:sp>
        <p:nvSpPr>
          <p:cNvPr id="14" name="gate-b-3">
            <a:extLst>
              <a:ext uri="{FF2B5EF4-FFF2-40B4-BE49-F238E27FC236}">
                <a16:creationId xmlns:a16="http://schemas.microsoft.com/office/drawing/2014/main" id="{A32C0015-045D-47CC-B67D-954191F7F29B}"/>
              </a:ext>
            </a:extLst>
          </p:cNvPr>
          <p:cNvSpPr>
            <a:spLocks noGrp="1"/>
          </p:cNvSpPr>
          <p:nvPr/>
        </p:nvSpPr>
        <p:spPr>
          <a:xfrm>
            <a:off x="8943975" y="4867275"/>
            <a:ext cx="2619375" cy="904875"/>
          </a:xfrm>
          <a:prstGeom prst="rect">
            <a:avLst/>
          </a:prstGeom>
          <a:noFill/>
          <a:ln w="0">
            <a:noFill/>
            <a:prstDash val="solid"/>
          </a:ln>
        </p:spPr>
        <p:txBody>
          <a:bodyPr anchor="t"/>
          <a:lstStyle/>
          <a:p>
            <a:pPr algn="l">
              <a:defRPr sz="1425" b="0">
                <a:solidFill>
                  <a:srgbClr val="5B6472"/>
                </a:solidFill>
                <a:latin typeface="Arial"/>
                <a:ea typeface="Arial"/>
                <a:cs typeface="Arial"/>
              </a:defRPr>
            </a:pPr>
            <a:r>
              <a:rPr sz="1425" b="0">
                <a:solidFill>
                  <a:srgbClr val="5B6472"/>
                </a:solidFill>
                <a:latin typeface="Arial"/>
                <a:ea typeface="Arial"/>
                <a:cs typeface="Arial"/>
              </a:rPr>
              <a:t>Paired 256×256 AP/LAT projections correspond exactly to the 3D target.</a:t>
            </a:r>
          </a:p>
        </p:txBody>
      </p:sp>
    </p:spTree>
    <p:extLst>
      <p:ext uri="{BB962C8B-B14F-4D97-AF65-F5344CB8AC3E}">
        <p14:creationId xmlns:p14="http://schemas.microsoft.com/office/powerpoint/2010/main" val="1064631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47" name="section-9">
            <a:extLst>
              <a:ext uri="{FF2B5EF4-FFF2-40B4-BE49-F238E27FC236}">
                <a16:creationId xmlns:a16="http://schemas.microsoft.com/office/drawing/2014/main" id="{5A7FA7EC-E9E0-40A6-9BC1-09208B4CC5F7}"/>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9">
            <a:extLst>
              <a:ext uri="{FF2B5EF4-FFF2-40B4-BE49-F238E27FC236}">
                <a16:creationId xmlns:a16="http://schemas.microsoft.com/office/drawing/2014/main" id="{908D8DF4-AE52-4840-9FFC-7E5250D2F91F}"/>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A 2×2 factorial design separates topology from activation</a:t>
            </a:r>
          </a:p>
        </p:txBody>
      </p:sp>
      <p:cxnSp>
        <p:nvCxnSpPr>
          <p:cNvPr id="49" name="rule-9"/>
          <p:cNvCxnSpPr/>
          <p:nvPr/>
        </p:nvCxnSpPr>
        <p:spPr>
          <a:xfrm>
            <a:off x="400050" y="1285875"/>
            <a:ext cx="11391900" cy="0"/>
          </a:xfrm>
          <a:prstGeom prst="straightConnector1">
            <a:avLst/>
          </a:prstGeom>
          <a:ln w="9525">
            <a:solidFill>
              <a:srgbClr val="D9DEE7"/>
            </a:solidFill>
            <a:prstDash val="solid"/>
          </a:ln>
        </p:spPr>
      </p:cxnSp>
      <p:sp>
        <p:nvSpPr>
          <p:cNvPr id="4" name="source-9">
            <a:extLst>
              <a:ext uri="{FF2B5EF4-FFF2-40B4-BE49-F238E27FC236}">
                <a16:creationId xmlns:a16="http://schemas.microsoft.com/office/drawing/2014/main" id="{8A0F3E77-4187-471A-952B-E9B4B084A79F}"/>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59, 98–102</a:t>
            </a:r>
          </a:p>
        </p:txBody>
      </p:sp>
      <p:sp>
        <p:nvSpPr>
          <p:cNvPr id="5" name="page-9">
            <a:extLst>
              <a:ext uri="{FF2B5EF4-FFF2-40B4-BE49-F238E27FC236}">
                <a16:creationId xmlns:a16="http://schemas.microsoft.com/office/drawing/2014/main" id="{D59D5C08-80C8-42C2-8D19-2C5D8ACECD08}"/>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09</a:t>
            </a:r>
          </a:p>
        </p:txBody>
      </p:sp>
      <p:sp>
        <p:nvSpPr>
          <p:cNvPr id="6" name="th-0">
            <a:extLst>
              <a:ext uri="{FF2B5EF4-FFF2-40B4-BE49-F238E27FC236}">
                <a16:creationId xmlns:a16="http://schemas.microsoft.com/office/drawing/2014/main" id="{4030CDCB-EB57-4BA3-8C1F-E2E86DAB15ED}"/>
              </a:ext>
            </a:extLst>
          </p:cNvPr>
          <p:cNvSpPr>
            <a:spLocks noGrp="1"/>
          </p:cNvSpPr>
          <p:nvPr/>
        </p:nvSpPr>
        <p:spPr>
          <a:xfrm>
            <a:off x="400050" y="2028825"/>
            <a:ext cx="2476500" cy="685800"/>
          </a:xfrm>
          <a:prstGeom prst="roundRect">
            <a:avLst>
              <a:gd name="adj" fmla="val 16667"/>
            </a:avLst>
          </a:prstGeom>
          <a:solidFill>
            <a:srgbClr val="111827"/>
          </a:solidFill>
          <a:ln w="0">
            <a:noFill/>
            <a:prstDash val="solid"/>
          </a:ln>
        </p:spPr>
        <p:txBody>
          <a:bodyPr/>
          <a:lstStyle/>
          <a:p>
            <a:endParaRPr lang="en-MY"/>
          </a:p>
        </p:txBody>
      </p:sp>
      <p:sp>
        <p:nvSpPr>
          <p:cNvPr id="7" name="tht-0">
            <a:extLst>
              <a:ext uri="{FF2B5EF4-FFF2-40B4-BE49-F238E27FC236}">
                <a16:creationId xmlns:a16="http://schemas.microsoft.com/office/drawing/2014/main" id="{A236F766-922D-4B94-98DD-46E473D40C17}"/>
              </a:ext>
            </a:extLst>
          </p:cNvPr>
          <p:cNvSpPr>
            <a:spLocks noGrp="1"/>
          </p:cNvSpPr>
          <p:nvPr/>
        </p:nvSpPr>
        <p:spPr>
          <a:xfrm>
            <a:off x="542925" y="2200275"/>
            <a:ext cx="2190750" cy="381000"/>
          </a:xfrm>
          <a:prstGeom prst="rect">
            <a:avLst/>
          </a:prstGeom>
          <a:noFill/>
          <a:ln w="0">
            <a:noFill/>
            <a:prstDash val="solid"/>
          </a:ln>
        </p:spPr>
        <p:txBody>
          <a:bodyPr anchor="t"/>
          <a:lstStyle/>
          <a:p>
            <a:pPr algn="l">
              <a:defRPr sz="1425" b="1">
                <a:solidFill>
                  <a:srgbClr val="FFFFFF"/>
                </a:solidFill>
                <a:latin typeface="Arial"/>
                <a:ea typeface="Arial"/>
                <a:cs typeface="Arial"/>
              </a:defRPr>
            </a:pPr>
            <a:r>
              <a:rPr sz="1425" b="1">
                <a:solidFill>
                  <a:srgbClr val="FFFFFF"/>
                </a:solidFill>
                <a:latin typeface="Arial"/>
                <a:ea typeface="Arial"/>
                <a:cs typeface="Arial"/>
              </a:rPr>
              <a:t>Decoder arm</a:t>
            </a:r>
          </a:p>
        </p:txBody>
      </p:sp>
      <p:sp>
        <p:nvSpPr>
          <p:cNvPr id="8" name="th-1">
            <a:extLst>
              <a:ext uri="{FF2B5EF4-FFF2-40B4-BE49-F238E27FC236}">
                <a16:creationId xmlns:a16="http://schemas.microsoft.com/office/drawing/2014/main" id="{FC7ECA60-75B4-4AF1-9808-48D0E6718A14}"/>
              </a:ext>
            </a:extLst>
          </p:cNvPr>
          <p:cNvSpPr>
            <a:spLocks noGrp="1"/>
          </p:cNvSpPr>
          <p:nvPr/>
        </p:nvSpPr>
        <p:spPr>
          <a:xfrm>
            <a:off x="2876550" y="2028825"/>
            <a:ext cx="2971800" cy="685800"/>
          </a:xfrm>
          <a:prstGeom prst="roundRect">
            <a:avLst>
              <a:gd name="adj" fmla="val 16667"/>
            </a:avLst>
          </a:prstGeom>
          <a:solidFill>
            <a:srgbClr val="111827"/>
          </a:solidFill>
          <a:ln w="0">
            <a:noFill/>
            <a:prstDash val="solid"/>
          </a:ln>
        </p:spPr>
        <p:txBody>
          <a:bodyPr/>
          <a:lstStyle/>
          <a:p>
            <a:endParaRPr lang="en-MY"/>
          </a:p>
        </p:txBody>
      </p:sp>
      <p:sp>
        <p:nvSpPr>
          <p:cNvPr id="9" name="tht-1">
            <a:extLst>
              <a:ext uri="{FF2B5EF4-FFF2-40B4-BE49-F238E27FC236}">
                <a16:creationId xmlns:a16="http://schemas.microsoft.com/office/drawing/2014/main" id="{EB9CE1EA-F5B4-4713-A8D6-548A0117C865}"/>
              </a:ext>
            </a:extLst>
          </p:cNvPr>
          <p:cNvSpPr>
            <a:spLocks noGrp="1"/>
          </p:cNvSpPr>
          <p:nvPr/>
        </p:nvSpPr>
        <p:spPr>
          <a:xfrm>
            <a:off x="3019425" y="2200275"/>
            <a:ext cx="2686050" cy="381000"/>
          </a:xfrm>
          <a:prstGeom prst="rect">
            <a:avLst/>
          </a:prstGeom>
          <a:noFill/>
          <a:ln w="0">
            <a:noFill/>
            <a:prstDash val="solid"/>
          </a:ln>
        </p:spPr>
        <p:txBody>
          <a:bodyPr anchor="t"/>
          <a:lstStyle/>
          <a:p>
            <a:pPr algn="l">
              <a:defRPr sz="1425" b="1">
                <a:solidFill>
                  <a:srgbClr val="FFFFFF"/>
                </a:solidFill>
                <a:latin typeface="Arial"/>
                <a:ea typeface="Arial"/>
                <a:cs typeface="Arial"/>
              </a:defRPr>
            </a:pPr>
            <a:r>
              <a:rPr sz="1425" b="1">
                <a:solidFill>
                  <a:srgbClr val="FFFFFF"/>
                </a:solidFill>
                <a:latin typeface="Arial"/>
                <a:ea typeface="Arial"/>
                <a:cs typeface="Arial"/>
              </a:rPr>
              <a:t>Block topology</a:t>
            </a:r>
          </a:p>
        </p:txBody>
      </p:sp>
      <p:sp>
        <p:nvSpPr>
          <p:cNvPr id="10" name="th-2">
            <a:extLst>
              <a:ext uri="{FF2B5EF4-FFF2-40B4-BE49-F238E27FC236}">
                <a16:creationId xmlns:a16="http://schemas.microsoft.com/office/drawing/2014/main" id="{595D0A49-F292-4C15-AC46-81E86F78A1FA}"/>
              </a:ext>
            </a:extLst>
          </p:cNvPr>
          <p:cNvSpPr>
            <a:spLocks noGrp="1"/>
          </p:cNvSpPr>
          <p:nvPr/>
        </p:nvSpPr>
        <p:spPr>
          <a:xfrm>
            <a:off x="5848350" y="2028825"/>
            <a:ext cx="2762250" cy="685800"/>
          </a:xfrm>
          <a:prstGeom prst="roundRect">
            <a:avLst>
              <a:gd name="adj" fmla="val 16667"/>
            </a:avLst>
          </a:prstGeom>
          <a:solidFill>
            <a:srgbClr val="111827"/>
          </a:solidFill>
          <a:ln w="0">
            <a:noFill/>
            <a:prstDash val="solid"/>
          </a:ln>
        </p:spPr>
        <p:txBody>
          <a:bodyPr/>
          <a:lstStyle/>
          <a:p>
            <a:endParaRPr lang="en-MY"/>
          </a:p>
        </p:txBody>
      </p:sp>
      <p:sp>
        <p:nvSpPr>
          <p:cNvPr id="11" name="tht-2">
            <a:extLst>
              <a:ext uri="{FF2B5EF4-FFF2-40B4-BE49-F238E27FC236}">
                <a16:creationId xmlns:a16="http://schemas.microsoft.com/office/drawing/2014/main" id="{4BF34646-37D2-4BBD-8A1E-F669CEB3F426}"/>
              </a:ext>
            </a:extLst>
          </p:cNvPr>
          <p:cNvSpPr>
            <a:spLocks noGrp="1"/>
          </p:cNvSpPr>
          <p:nvPr/>
        </p:nvSpPr>
        <p:spPr>
          <a:xfrm>
            <a:off x="5991225" y="2200275"/>
            <a:ext cx="2476500" cy="381000"/>
          </a:xfrm>
          <a:prstGeom prst="rect">
            <a:avLst/>
          </a:prstGeom>
          <a:noFill/>
          <a:ln w="0">
            <a:noFill/>
            <a:prstDash val="solid"/>
          </a:ln>
        </p:spPr>
        <p:txBody>
          <a:bodyPr anchor="t"/>
          <a:lstStyle/>
          <a:p>
            <a:pPr algn="l">
              <a:defRPr sz="1425" b="1">
                <a:solidFill>
                  <a:srgbClr val="FFFFFF"/>
                </a:solidFill>
                <a:latin typeface="Arial"/>
                <a:ea typeface="Arial"/>
                <a:cs typeface="Arial"/>
              </a:defRPr>
            </a:pPr>
            <a:r>
              <a:rPr sz="1425" b="1">
                <a:solidFill>
                  <a:srgbClr val="FFFFFF"/>
                </a:solidFill>
                <a:latin typeface="Arial"/>
                <a:ea typeface="Arial"/>
                <a:cs typeface="Arial"/>
              </a:rPr>
              <a:t>Activation</a:t>
            </a:r>
          </a:p>
        </p:txBody>
      </p:sp>
      <p:sp>
        <p:nvSpPr>
          <p:cNvPr id="12" name="th-3">
            <a:extLst>
              <a:ext uri="{FF2B5EF4-FFF2-40B4-BE49-F238E27FC236}">
                <a16:creationId xmlns:a16="http://schemas.microsoft.com/office/drawing/2014/main" id="{E802D8A3-AB7C-41E3-9668-727AAC646167}"/>
              </a:ext>
            </a:extLst>
          </p:cNvPr>
          <p:cNvSpPr>
            <a:spLocks noGrp="1"/>
          </p:cNvSpPr>
          <p:nvPr/>
        </p:nvSpPr>
        <p:spPr>
          <a:xfrm>
            <a:off x="8610600" y="2028825"/>
            <a:ext cx="3181350" cy="685800"/>
          </a:xfrm>
          <a:prstGeom prst="roundRect">
            <a:avLst>
              <a:gd name="adj" fmla="val 16667"/>
            </a:avLst>
          </a:prstGeom>
          <a:solidFill>
            <a:srgbClr val="111827"/>
          </a:solidFill>
          <a:ln w="0">
            <a:noFill/>
            <a:prstDash val="solid"/>
          </a:ln>
        </p:spPr>
        <p:txBody>
          <a:bodyPr/>
          <a:lstStyle/>
          <a:p>
            <a:endParaRPr lang="en-MY"/>
          </a:p>
        </p:txBody>
      </p:sp>
      <p:sp>
        <p:nvSpPr>
          <p:cNvPr id="13" name="tht-3">
            <a:extLst>
              <a:ext uri="{FF2B5EF4-FFF2-40B4-BE49-F238E27FC236}">
                <a16:creationId xmlns:a16="http://schemas.microsoft.com/office/drawing/2014/main" id="{96B9BCBA-468D-4F8C-BF4C-DBA9B8F66CA4}"/>
              </a:ext>
            </a:extLst>
          </p:cNvPr>
          <p:cNvSpPr>
            <a:spLocks noGrp="1"/>
          </p:cNvSpPr>
          <p:nvPr/>
        </p:nvSpPr>
        <p:spPr>
          <a:xfrm>
            <a:off x="8753475" y="2200275"/>
            <a:ext cx="2895600" cy="381000"/>
          </a:xfrm>
          <a:prstGeom prst="rect">
            <a:avLst/>
          </a:prstGeom>
          <a:noFill/>
          <a:ln w="0">
            <a:noFill/>
            <a:prstDash val="solid"/>
          </a:ln>
        </p:spPr>
        <p:txBody>
          <a:bodyPr anchor="t"/>
          <a:lstStyle/>
          <a:p>
            <a:pPr algn="l">
              <a:defRPr sz="1425" b="1">
                <a:solidFill>
                  <a:srgbClr val="FFFFFF"/>
                </a:solidFill>
                <a:latin typeface="Arial"/>
                <a:ea typeface="Arial"/>
                <a:cs typeface="Arial"/>
              </a:defRPr>
            </a:pPr>
            <a:r>
              <a:rPr sz="1425" b="1">
                <a:solidFill>
                  <a:srgbClr val="FFFFFF"/>
                </a:solidFill>
                <a:latin typeface="Arial"/>
                <a:ea typeface="Arial"/>
                <a:cs typeface="Arial"/>
              </a:rPr>
              <a:t>Interpretation</a:t>
            </a:r>
          </a:p>
        </p:txBody>
      </p:sp>
      <p:sp>
        <p:nvSpPr>
          <p:cNvPr id="14" name="cell-0-0">
            <a:extLst>
              <a:ext uri="{FF2B5EF4-FFF2-40B4-BE49-F238E27FC236}">
                <a16:creationId xmlns:a16="http://schemas.microsoft.com/office/drawing/2014/main" id="{ABB63EAF-DB4D-4700-AC35-6605A76E1F00}"/>
              </a:ext>
            </a:extLst>
          </p:cNvPr>
          <p:cNvSpPr>
            <a:spLocks noGrp="1"/>
          </p:cNvSpPr>
          <p:nvPr/>
        </p:nvSpPr>
        <p:spPr>
          <a:xfrm>
            <a:off x="400050" y="2714625"/>
            <a:ext cx="2476500" cy="685800"/>
          </a:xfrm>
          <a:prstGeom prst="roundRect">
            <a:avLst>
              <a:gd name="adj" fmla="val 16667"/>
            </a:avLst>
          </a:prstGeom>
          <a:solidFill>
            <a:srgbClr val="F1F3F6"/>
          </a:solidFill>
          <a:ln w="9525">
            <a:solidFill>
              <a:srgbClr val="D9DEE7"/>
            </a:solidFill>
            <a:prstDash val="solid"/>
          </a:ln>
        </p:spPr>
        <p:txBody>
          <a:bodyPr/>
          <a:lstStyle/>
          <a:p>
            <a:endParaRPr lang="en-MY"/>
          </a:p>
        </p:txBody>
      </p:sp>
      <p:sp>
        <p:nvSpPr>
          <p:cNvPr id="15" name="cellt-0-0">
            <a:extLst>
              <a:ext uri="{FF2B5EF4-FFF2-40B4-BE49-F238E27FC236}">
                <a16:creationId xmlns:a16="http://schemas.microsoft.com/office/drawing/2014/main" id="{27E42665-92DF-401F-B354-D11E24C4D2EF}"/>
              </a:ext>
            </a:extLst>
          </p:cNvPr>
          <p:cNvSpPr>
            <a:spLocks noGrp="1"/>
          </p:cNvSpPr>
          <p:nvPr/>
        </p:nvSpPr>
        <p:spPr>
          <a:xfrm>
            <a:off x="542925" y="2876550"/>
            <a:ext cx="2190750" cy="381000"/>
          </a:xfrm>
          <a:prstGeom prst="rect">
            <a:avLst/>
          </a:prstGeom>
          <a:noFill/>
          <a:ln w="0">
            <a:noFill/>
            <a:prstDash val="solid"/>
          </a:ln>
        </p:spPr>
        <p:txBody>
          <a:bodyPr anchor="t"/>
          <a:lstStyle/>
          <a:p>
            <a:pPr algn="l">
              <a:defRPr sz="1425" b="1">
                <a:solidFill>
                  <a:srgbClr val="111827"/>
                </a:solidFill>
                <a:latin typeface="Arial"/>
                <a:ea typeface="Arial"/>
                <a:cs typeface="Arial"/>
              </a:defRPr>
            </a:pPr>
            <a:r>
              <a:rPr sz="1425" b="1">
                <a:solidFill>
                  <a:srgbClr val="111827"/>
                </a:solidFill>
                <a:latin typeface="Arial"/>
                <a:ea typeface="Arial"/>
                <a:cs typeface="Arial"/>
              </a:rPr>
              <a:t>U-style</a:t>
            </a:r>
          </a:p>
        </p:txBody>
      </p:sp>
      <p:sp>
        <p:nvSpPr>
          <p:cNvPr id="16" name="cell-0-1">
            <a:extLst>
              <a:ext uri="{FF2B5EF4-FFF2-40B4-BE49-F238E27FC236}">
                <a16:creationId xmlns:a16="http://schemas.microsoft.com/office/drawing/2014/main" id="{411DB392-C26A-4866-85EA-9794667CAD4B}"/>
              </a:ext>
            </a:extLst>
          </p:cNvPr>
          <p:cNvSpPr>
            <a:spLocks noGrp="1"/>
          </p:cNvSpPr>
          <p:nvPr/>
        </p:nvSpPr>
        <p:spPr>
          <a:xfrm>
            <a:off x="2876550" y="2714625"/>
            <a:ext cx="2971800" cy="685800"/>
          </a:xfrm>
          <a:prstGeom prst="roundRect">
            <a:avLst>
              <a:gd name="adj" fmla="val 16667"/>
            </a:avLst>
          </a:prstGeom>
          <a:solidFill>
            <a:srgbClr val="F1F3F6"/>
          </a:solidFill>
          <a:ln w="9525">
            <a:solidFill>
              <a:srgbClr val="D9DEE7"/>
            </a:solidFill>
            <a:prstDash val="solid"/>
          </a:ln>
        </p:spPr>
        <p:txBody>
          <a:bodyPr/>
          <a:lstStyle/>
          <a:p>
            <a:endParaRPr lang="en-MY"/>
          </a:p>
        </p:txBody>
      </p:sp>
      <p:sp>
        <p:nvSpPr>
          <p:cNvPr id="17" name="cellt-0-1">
            <a:extLst>
              <a:ext uri="{FF2B5EF4-FFF2-40B4-BE49-F238E27FC236}">
                <a16:creationId xmlns:a16="http://schemas.microsoft.com/office/drawing/2014/main" id="{27E49C15-2EE4-4999-AD31-77D998A75E11}"/>
              </a:ext>
            </a:extLst>
          </p:cNvPr>
          <p:cNvSpPr>
            <a:spLocks noGrp="1"/>
          </p:cNvSpPr>
          <p:nvPr/>
        </p:nvSpPr>
        <p:spPr>
          <a:xfrm>
            <a:off x="3019425" y="2876550"/>
            <a:ext cx="268605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Plain</a:t>
            </a:r>
          </a:p>
        </p:txBody>
      </p:sp>
      <p:sp>
        <p:nvSpPr>
          <p:cNvPr id="18" name="cell-0-2">
            <a:extLst>
              <a:ext uri="{FF2B5EF4-FFF2-40B4-BE49-F238E27FC236}">
                <a16:creationId xmlns:a16="http://schemas.microsoft.com/office/drawing/2014/main" id="{E9493AA1-CB38-405B-9903-C70951F6544F}"/>
              </a:ext>
            </a:extLst>
          </p:cNvPr>
          <p:cNvSpPr>
            <a:spLocks noGrp="1"/>
          </p:cNvSpPr>
          <p:nvPr/>
        </p:nvSpPr>
        <p:spPr>
          <a:xfrm>
            <a:off x="5848350" y="2714625"/>
            <a:ext cx="2762250" cy="685800"/>
          </a:xfrm>
          <a:prstGeom prst="roundRect">
            <a:avLst>
              <a:gd name="adj" fmla="val 16667"/>
            </a:avLst>
          </a:prstGeom>
          <a:solidFill>
            <a:srgbClr val="F1F3F6"/>
          </a:solidFill>
          <a:ln w="9525">
            <a:solidFill>
              <a:srgbClr val="D9DEE7"/>
            </a:solidFill>
            <a:prstDash val="solid"/>
          </a:ln>
        </p:spPr>
        <p:txBody>
          <a:bodyPr/>
          <a:lstStyle/>
          <a:p>
            <a:endParaRPr lang="en-MY"/>
          </a:p>
        </p:txBody>
      </p:sp>
      <p:sp>
        <p:nvSpPr>
          <p:cNvPr id="19" name="cellt-0-2">
            <a:extLst>
              <a:ext uri="{FF2B5EF4-FFF2-40B4-BE49-F238E27FC236}">
                <a16:creationId xmlns:a16="http://schemas.microsoft.com/office/drawing/2014/main" id="{94C80A3B-D384-4FBB-9E28-1BA5597600F9}"/>
              </a:ext>
            </a:extLst>
          </p:cNvPr>
          <p:cNvSpPr>
            <a:spLocks noGrp="1"/>
          </p:cNvSpPr>
          <p:nvPr/>
        </p:nvSpPr>
        <p:spPr>
          <a:xfrm>
            <a:off x="5991225" y="2876550"/>
            <a:ext cx="247650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ReLU</a:t>
            </a:r>
          </a:p>
        </p:txBody>
      </p:sp>
      <p:sp>
        <p:nvSpPr>
          <p:cNvPr id="20" name="cell-0-3">
            <a:extLst>
              <a:ext uri="{FF2B5EF4-FFF2-40B4-BE49-F238E27FC236}">
                <a16:creationId xmlns:a16="http://schemas.microsoft.com/office/drawing/2014/main" id="{8F6B0FD4-AF95-4889-A035-EE88A0EF0B06}"/>
              </a:ext>
            </a:extLst>
          </p:cNvPr>
          <p:cNvSpPr>
            <a:spLocks noGrp="1"/>
          </p:cNvSpPr>
          <p:nvPr/>
        </p:nvSpPr>
        <p:spPr>
          <a:xfrm>
            <a:off x="8610600" y="2714625"/>
            <a:ext cx="3181350" cy="685800"/>
          </a:xfrm>
          <a:prstGeom prst="roundRect">
            <a:avLst>
              <a:gd name="adj" fmla="val 16667"/>
            </a:avLst>
          </a:prstGeom>
          <a:solidFill>
            <a:srgbClr val="F1F3F6"/>
          </a:solidFill>
          <a:ln w="9525">
            <a:solidFill>
              <a:srgbClr val="D9DEE7"/>
            </a:solidFill>
            <a:prstDash val="solid"/>
          </a:ln>
        </p:spPr>
        <p:txBody>
          <a:bodyPr/>
          <a:lstStyle/>
          <a:p>
            <a:endParaRPr lang="en-MY"/>
          </a:p>
        </p:txBody>
      </p:sp>
      <p:sp>
        <p:nvSpPr>
          <p:cNvPr id="21" name="cellt-0-3">
            <a:extLst>
              <a:ext uri="{FF2B5EF4-FFF2-40B4-BE49-F238E27FC236}">
                <a16:creationId xmlns:a16="http://schemas.microsoft.com/office/drawing/2014/main" id="{D0AD98E4-2519-4F41-87F8-DE27B244B65B}"/>
              </a:ext>
            </a:extLst>
          </p:cNvPr>
          <p:cNvSpPr>
            <a:spLocks noGrp="1"/>
          </p:cNvSpPr>
          <p:nvPr/>
        </p:nvSpPr>
        <p:spPr>
          <a:xfrm>
            <a:off x="8753475" y="2876550"/>
            <a:ext cx="289560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Historical reference condition</a:t>
            </a:r>
          </a:p>
        </p:txBody>
      </p:sp>
      <p:sp>
        <p:nvSpPr>
          <p:cNvPr id="22" name="cell-1-0">
            <a:extLst>
              <a:ext uri="{FF2B5EF4-FFF2-40B4-BE49-F238E27FC236}">
                <a16:creationId xmlns:a16="http://schemas.microsoft.com/office/drawing/2014/main" id="{4204181E-D2DF-4330-85C3-32D0AE368FA7}"/>
              </a:ext>
            </a:extLst>
          </p:cNvPr>
          <p:cNvSpPr>
            <a:spLocks noGrp="1"/>
          </p:cNvSpPr>
          <p:nvPr/>
        </p:nvSpPr>
        <p:spPr>
          <a:xfrm>
            <a:off x="400050" y="3400425"/>
            <a:ext cx="247650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23" name="cellt-1-0">
            <a:extLst>
              <a:ext uri="{FF2B5EF4-FFF2-40B4-BE49-F238E27FC236}">
                <a16:creationId xmlns:a16="http://schemas.microsoft.com/office/drawing/2014/main" id="{C5948CA0-412E-4F4B-9537-F0E6CDC25291}"/>
              </a:ext>
            </a:extLst>
          </p:cNvPr>
          <p:cNvSpPr>
            <a:spLocks noGrp="1"/>
          </p:cNvSpPr>
          <p:nvPr/>
        </p:nvSpPr>
        <p:spPr>
          <a:xfrm>
            <a:off x="542925" y="3562350"/>
            <a:ext cx="2190750" cy="381000"/>
          </a:xfrm>
          <a:prstGeom prst="rect">
            <a:avLst/>
          </a:prstGeom>
          <a:noFill/>
          <a:ln w="0">
            <a:noFill/>
            <a:prstDash val="solid"/>
          </a:ln>
        </p:spPr>
        <p:txBody>
          <a:bodyPr anchor="t"/>
          <a:lstStyle/>
          <a:p>
            <a:pPr algn="l">
              <a:defRPr sz="1425" b="1">
                <a:solidFill>
                  <a:srgbClr val="111827"/>
                </a:solidFill>
                <a:latin typeface="Arial"/>
                <a:ea typeface="Arial"/>
                <a:cs typeface="Arial"/>
              </a:defRPr>
            </a:pPr>
            <a:r>
              <a:rPr sz="1425" b="1">
                <a:solidFill>
                  <a:srgbClr val="111827"/>
                </a:solidFill>
                <a:latin typeface="Arial"/>
                <a:ea typeface="Arial"/>
                <a:cs typeface="Arial"/>
              </a:rPr>
              <a:t>Plain-PReLU</a:t>
            </a:r>
          </a:p>
        </p:txBody>
      </p:sp>
      <p:sp>
        <p:nvSpPr>
          <p:cNvPr id="24" name="cell-1-1">
            <a:extLst>
              <a:ext uri="{FF2B5EF4-FFF2-40B4-BE49-F238E27FC236}">
                <a16:creationId xmlns:a16="http://schemas.microsoft.com/office/drawing/2014/main" id="{55268E2A-568F-4A30-9CCB-D0101CA95109}"/>
              </a:ext>
            </a:extLst>
          </p:cNvPr>
          <p:cNvSpPr>
            <a:spLocks noGrp="1"/>
          </p:cNvSpPr>
          <p:nvPr/>
        </p:nvSpPr>
        <p:spPr>
          <a:xfrm>
            <a:off x="2876550" y="3400425"/>
            <a:ext cx="297180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25" name="cellt-1-1">
            <a:extLst>
              <a:ext uri="{FF2B5EF4-FFF2-40B4-BE49-F238E27FC236}">
                <a16:creationId xmlns:a16="http://schemas.microsoft.com/office/drawing/2014/main" id="{83EF6DE6-6854-45D8-A9CF-EEE51CF17DAD}"/>
              </a:ext>
            </a:extLst>
          </p:cNvPr>
          <p:cNvSpPr>
            <a:spLocks noGrp="1"/>
          </p:cNvSpPr>
          <p:nvPr/>
        </p:nvSpPr>
        <p:spPr>
          <a:xfrm>
            <a:off x="3019425" y="3562350"/>
            <a:ext cx="268605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Plain</a:t>
            </a:r>
          </a:p>
        </p:txBody>
      </p:sp>
      <p:sp>
        <p:nvSpPr>
          <p:cNvPr id="26" name="cell-1-2">
            <a:extLst>
              <a:ext uri="{FF2B5EF4-FFF2-40B4-BE49-F238E27FC236}">
                <a16:creationId xmlns:a16="http://schemas.microsoft.com/office/drawing/2014/main" id="{D952E1BA-3E50-4B50-B3C5-F42CDB92AE26}"/>
              </a:ext>
            </a:extLst>
          </p:cNvPr>
          <p:cNvSpPr>
            <a:spLocks noGrp="1"/>
          </p:cNvSpPr>
          <p:nvPr/>
        </p:nvSpPr>
        <p:spPr>
          <a:xfrm>
            <a:off x="5848350" y="3400425"/>
            <a:ext cx="276225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27" name="cellt-1-2">
            <a:extLst>
              <a:ext uri="{FF2B5EF4-FFF2-40B4-BE49-F238E27FC236}">
                <a16:creationId xmlns:a16="http://schemas.microsoft.com/office/drawing/2014/main" id="{47E7A78A-8D90-468F-902F-4C827E522127}"/>
              </a:ext>
            </a:extLst>
          </p:cNvPr>
          <p:cNvSpPr>
            <a:spLocks noGrp="1"/>
          </p:cNvSpPr>
          <p:nvPr/>
        </p:nvSpPr>
        <p:spPr>
          <a:xfrm>
            <a:off x="5991225" y="3562350"/>
            <a:ext cx="247650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PReLU</a:t>
            </a:r>
          </a:p>
        </p:txBody>
      </p:sp>
      <p:sp>
        <p:nvSpPr>
          <p:cNvPr id="28" name="cell-1-3">
            <a:extLst>
              <a:ext uri="{FF2B5EF4-FFF2-40B4-BE49-F238E27FC236}">
                <a16:creationId xmlns:a16="http://schemas.microsoft.com/office/drawing/2014/main" id="{686A167C-EABB-4615-BD8C-3F40A5D1BDF0}"/>
              </a:ext>
            </a:extLst>
          </p:cNvPr>
          <p:cNvSpPr>
            <a:spLocks noGrp="1"/>
          </p:cNvSpPr>
          <p:nvPr/>
        </p:nvSpPr>
        <p:spPr>
          <a:xfrm>
            <a:off x="8610600" y="3400425"/>
            <a:ext cx="318135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29" name="cellt-1-3">
            <a:extLst>
              <a:ext uri="{FF2B5EF4-FFF2-40B4-BE49-F238E27FC236}">
                <a16:creationId xmlns:a16="http://schemas.microsoft.com/office/drawing/2014/main" id="{5BA90F74-6809-434C-9925-3BD52AED47C1}"/>
              </a:ext>
            </a:extLst>
          </p:cNvPr>
          <p:cNvSpPr>
            <a:spLocks noGrp="1"/>
          </p:cNvSpPr>
          <p:nvPr/>
        </p:nvSpPr>
        <p:spPr>
          <a:xfrm>
            <a:off x="8753475" y="3562350"/>
            <a:ext cx="289560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Activation-only change</a:t>
            </a:r>
          </a:p>
        </p:txBody>
      </p:sp>
      <p:sp>
        <p:nvSpPr>
          <p:cNvPr id="30" name="cell-2-0">
            <a:extLst>
              <a:ext uri="{FF2B5EF4-FFF2-40B4-BE49-F238E27FC236}">
                <a16:creationId xmlns:a16="http://schemas.microsoft.com/office/drawing/2014/main" id="{911FA493-D0D7-4BC5-AD09-F04EBA6BEEB0}"/>
              </a:ext>
            </a:extLst>
          </p:cNvPr>
          <p:cNvSpPr>
            <a:spLocks noGrp="1"/>
          </p:cNvSpPr>
          <p:nvPr/>
        </p:nvSpPr>
        <p:spPr>
          <a:xfrm>
            <a:off x="400050" y="4086225"/>
            <a:ext cx="2476500" cy="685800"/>
          </a:xfrm>
          <a:prstGeom prst="roundRect">
            <a:avLst>
              <a:gd name="adj" fmla="val 16667"/>
            </a:avLst>
          </a:prstGeom>
          <a:solidFill>
            <a:srgbClr val="E7F7F3"/>
          </a:solidFill>
          <a:ln w="9525">
            <a:solidFill>
              <a:srgbClr val="D9DEE7"/>
            </a:solidFill>
            <a:prstDash val="solid"/>
          </a:ln>
        </p:spPr>
        <p:txBody>
          <a:bodyPr/>
          <a:lstStyle/>
          <a:p>
            <a:endParaRPr lang="en-MY"/>
          </a:p>
        </p:txBody>
      </p:sp>
      <p:sp>
        <p:nvSpPr>
          <p:cNvPr id="31" name="cellt-2-0">
            <a:extLst>
              <a:ext uri="{FF2B5EF4-FFF2-40B4-BE49-F238E27FC236}">
                <a16:creationId xmlns:a16="http://schemas.microsoft.com/office/drawing/2014/main" id="{A08AEA6D-0C62-4A79-9452-727431DEC3BE}"/>
              </a:ext>
            </a:extLst>
          </p:cNvPr>
          <p:cNvSpPr>
            <a:spLocks noGrp="1"/>
          </p:cNvSpPr>
          <p:nvPr/>
        </p:nvSpPr>
        <p:spPr>
          <a:xfrm>
            <a:off x="542925" y="4248150"/>
            <a:ext cx="2190750" cy="381000"/>
          </a:xfrm>
          <a:prstGeom prst="rect">
            <a:avLst/>
          </a:prstGeom>
          <a:noFill/>
          <a:ln w="0">
            <a:noFill/>
            <a:prstDash val="solid"/>
          </a:ln>
        </p:spPr>
        <p:txBody>
          <a:bodyPr anchor="t"/>
          <a:lstStyle/>
          <a:p>
            <a:pPr algn="l">
              <a:defRPr sz="1425" b="1">
                <a:solidFill>
                  <a:srgbClr val="0F766E"/>
                </a:solidFill>
                <a:latin typeface="Arial"/>
                <a:ea typeface="Arial"/>
                <a:cs typeface="Arial"/>
              </a:defRPr>
            </a:pPr>
            <a:r>
              <a:rPr sz="1425" b="1">
                <a:solidFill>
                  <a:srgbClr val="0F766E"/>
                </a:solidFill>
                <a:latin typeface="Arial"/>
                <a:ea typeface="Arial"/>
                <a:cs typeface="Arial"/>
              </a:rPr>
              <a:t>Residual-ReLU</a:t>
            </a:r>
          </a:p>
        </p:txBody>
      </p:sp>
      <p:sp>
        <p:nvSpPr>
          <p:cNvPr id="32" name="cell-2-1">
            <a:extLst>
              <a:ext uri="{FF2B5EF4-FFF2-40B4-BE49-F238E27FC236}">
                <a16:creationId xmlns:a16="http://schemas.microsoft.com/office/drawing/2014/main" id="{F37E3FC9-067C-44AD-A1A9-33819FB441DE}"/>
              </a:ext>
            </a:extLst>
          </p:cNvPr>
          <p:cNvSpPr>
            <a:spLocks noGrp="1"/>
          </p:cNvSpPr>
          <p:nvPr/>
        </p:nvSpPr>
        <p:spPr>
          <a:xfrm>
            <a:off x="2876550" y="4086225"/>
            <a:ext cx="2971800" cy="685800"/>
          </a:xfrm>
          <a:prstGeom prst="roundRect">
            <a:avLst>
              <a:gd name="adj" fmla="val 16667"/>
            </a:avLst>
          </a:prstGeom>
          <a:solidFill>
            <a:srgbClr val="E7F7F3"/>
          </a:solidFill>
          <a:ln w="9525">
            <a:solidFill>
              <a:srgbClr val="D9DEE7"/>
            </a:solidFill>
            <a:prstDash val="solid"/>
          </a:ln>
        </p:spPr>
        <p:txBody>
          <a:bodyPr/>
          <a:lstStyle/>
          <a:p>
            <a:endParaRPr lang="en-MY"/>
          </a:p>
        </p:txBody>
      </p:sp>
      <p:sp>
        <p:nvSpPr>
          <p:cNvPr id="33" name="cellt-2-1">
            <a:extLst>
              <a:ext uri="{FF2B5EF4-FFF2-40B4-BE49-F238E27FC236}">
                <a16:creationId xmlns:a16="http://schemas.microsoft.com/office/drawing/2014/main" id="{648E0662-6D01-4B42-BB99-F1D3E44B2B35}"/>
              </a:ext>
            </a:extLst>
          </p:cNvPr>
          <p:cNvSpPr>
            <a:spLocks noGrp="1"/>
          </p:cNvSpPr>
          <p:nvPr/>
        </p:nvSpPr>
        <p:spPr>
          <a:xfrm>
            <a:off x="3019425" y="4248150"/>
            <a:ext cx="2686050" cy="381000"/>
          </a:xfrm>
          <a:prstGeom prst="rect">
            <a:avLst/>
          </a:prstGeom>
          <a:noFill/>
          <a:ln w="0">
            <a:noFill/>
            <a:prstDash val="solid"/>
          </a:ln>
        </p:spPr>
        <p:txBody>
          <a:bodyPr anchor="t"/>
          <a:lstStyle/>
          <a:p>
            <a:pPr algn="l">
              <a:defRPr sz="1425" b="1">
                <a:solidFill>
                  <a:srgbClr val="0F766E"/>
                </a:solidFill>
                <a:latin typeface="Arial"/>
                <a:ea typeface="Arial"/>
                <a:cs typeface="Arial"/>
              </a:defRPr>
            </a:pPr>
            <a:r>
              <a:rPr sz="1425" b="1">
                <a:solidFill>
                  <a:srgbClr val="0F766E"/>
                </a:solidFill>
                <a:latin typeface="Arial"/>
                <a:ea typeface="Arial"/>
                <a:cs typeface="Arial"/>
              </a:rPr>
              <a:t>Projected residual</a:t>
            </a:r>
          </a:p>
        </p:txBody>
      </p:sp>
      <p:sp>
        <p:nvSpPr>
          <p:cNvPr id="34" name="cell-2-2">
            <a:extLst>
              <a:ext uri="{FF2B5EF4-FFF2-40B4-BE49-F238E27FC236}">
                <a16:creationId xmlns:a16="http://schemas.microsoft.com/office/drawing/2014/main" id="{6E0D8DBF-5934-4720-8D98-FB4399B8AB2F}"/>
              </a:ext>
            </a:extLst>
          </p:cNvPr>
          <p:cNvSpPr>
            <a:spLocks noGrp="1"/>
          </p:cNvSpPr>
          <p:nvPr/>
        </p:nvSpPr>
        <p:spPr>
          <a:xfrm>
            <a:off x="5848350" y="4086225"/>
            <a:ext cx="2762250" cy="685800"/>
          </a:xfrm>
          <a:prstGeom prst="roundRect">
            <a:avLst>
              <a:gd name="adj" fmla="val 16667"/>
            </a:avLst>
          </a:prstGeom>
          <a:solidFill>
            <a:srgbClr val="E7F7F3"/>
          </a:solidFill>
          <a:ln w="9525">
            <a:solidFill>
              <a:srgbClr val="D9DEE7"/>
            </a:solidFill>
            <a:prstDash val="solid"/>
          </a:ln>
        </p:spPr>
        <p:txBody>
          <a:bodyPr/>
          <a:lstStyle/>
          <a:p>
            <a:endParaRPr lang="en-MY"/>
          </a:p>
        </p:txBody>
      </p:sp>
      <p:sp>
        <p:nvSpPr>
          <p:cNvPr id="35" name="cellt-2-2">
            <a:extLst>
              <a:ext uri="{FF2B5EF4-FFF2-40B4-BE49-F238E27FC236}">
                <a16:creationId xmlns:a16="http://schemas.microsoft.com/office/drawing/2014/main" id="{186A8DFD-F82C-407B-AC72-733DBCA0DB5B}"/>
              </a:ext>
            </a:extLst>
          </p:cNvPr>
          <p:cNvSpPr>
            <a:spLocks noGrp="1"/>
          </p:cNvSpPr>
          <p:nvPr/>
        </p:nvSpPr>
        <p:spPr>
          <a:xfrm>
            <a:off x="5991225" y="4248150"/>
            <a:ext cx="2476500" cy="381000"/>
          </a:xfrm>
          <a:prstGeom prst="rect">
            <a:avLst/>
          </a:prstGeom>
          <a:noFill/>
          <a:ln w="0">
            <a:noFill/>
            <a:prstDash val="solid"/>
          </a:ln>
        </p:spPr>
        <p:txBody>
          <a:bodyPr anchor="t"/>
          <a:lstStyle/>
          <a:p>
            <a:pPr algn="l">
              <a:defRPr sz="1425" b="1">
                <a:solidFill>
                  <a:srgbClr val="0F766E"/>
                </a:solidFill>
                <a:latin typeface="Arial"/>
                <a:ea typeface="Arial"/>
                <a:cs typeface="Arial"/>
              </a:defRPr>
            </a:pPr>
            <a:r>
              <a:rPr sz="1425" b="1">
                <a:solidFill>
                  <a:srgbClr val="0F766E"/>
                </a:solidFill>
                <a:latin typeface="Arial"/>
                <a:ea typeface="Arial"/>
                <a:cs typeface="Arial"/>
              </a:rPr>
              <a:t>ReLU</a:t>
            </a:r>
          </a:p>
        </p:txBody>
      </p:sp>
      <p:sp>
        <p:nvSpPr>
          <p:cNvPr id="36" name="cell-2-3">
            <a:extLst>
              <a:ext uri="{FF2B5EF4-FFF2-40B4-BE49-F238E27FC236}">
                <a16:creationId xmlns:a16="http://schemas.microsoft.com/office/drawing/2014/main" id="{6D32F357-04DF-4E98-8C62-30D0567DDB6A}"/>
              </a:ext>
            </a:extLst>
          </p:cNvPr>
          <p:cNvSpPr>
            <a:spLocks noGrp="1"/>
          </p:cNvSpPr>
          <p:nvPr/>
        </p:nvSpPr>
        <p:spPr>
          <a:xfrm>
            <a:off x="8610600" y="4086225"/>
            <a:ext cx="3181350" cy="685800"/>
          </a:xfrm>
          <a:prstGeom prst="roundRect">
            <a:avLst>
              <a:gd name="adj" fmla="val 16667"/>
            </a:avLst>
          </a:prstGeom>
          <a:solidFill>
            <a:srgbClr val="E7F7F3"/>
          </a:solidFill>
          <a:ln w="9525">
            <a:solidFill>
              <a:srgbClr val="D9DEE7"/>
            </a:solidFill>
            <a:prstDash val="solid"/>
          </a:ln>
        </p:spPr>
        <p:txBody>
          <a:bodyPr/>
          <a:lstStyle/>
          <a:p>
            <a:endParaRPr lang="en-MY"/>
          </a:p>
        </p:txBody>
      </p:sp>
      <p:sp>
        <p:nvSpPr>
          <p:cNvPr id="37" name="cellt-2-3">
            <a:extLst>
              <a:ext uri="{FF2B5EF4-FFF2-40B4-BE49-F238E27FC236}">
                <a16:creationId xmlns:a16="http://schemas.microsoft.com/office/drawing/2014/main" id="{21D88FE3-E6B5-4878-A6F6-A2C427D6CE5B}"/>
              </a:ext>
            </a:extLst>
          </p:cNvPr>
          <p:cNvSpPr>
            <a:spLocks noGrp="1"/>
          </p:cNvSpPr>
          <p:nvPr/>
        </p:nvSpPr>
        <p:spPr>
          <a:xfrm>
            <a:off x="8753475" y="4248150"/>
            <a:ext cx="2895600" cy="381000"/>
          </a:xfrm>
          <a:prstGeom prst="rect">
            <a:avLst/>
          </a:prstGeom>
          <a:noFill/>
          <a:ln w="0">
            <a:noFill/>
            <a:prstDash val="solid"/>
          </a:ln>
        </p:spPr>
        <p:txBody>
          <a:bodyPr anchor="t"/>
          <a:lstStyle/>
          <a:p>
            <a:pPr algn="l">
              <a:defRPr sz="1425" b="1">
                <a:solidFill>
                  <a:srgbClr val="0F766E"/>
                </a:solidFill>
                <a:latin typeface="Arial"/>
                <a:ea typeface="Arial"/>
                <a:cs typeface="Arial"/>
              </a:defRPr>
            </a:pPr>
            <a:r>
              <a:rPr sz="1425" b="1">
                <a:solidFill>
                  <a:srgbClr val="0F766E"/>
                </a:solidFill>
                <a:latin typeface="Arial"/>
                <a:ea typeface="Arial"/>
                <a:cs typeface="Arial"/>
              </a:rPr>
              <a:t>Topology-only change</a:t>
            </a:r>
          </a:p>
        </p:txBody>
      </p:sp>
      <p:sp>
        <p:nvSpPr>
          <p:cNvPr id="38" name="cell-3-0">
            <a:extLst>
              <a:ext uri="{FF2B5EF4-FFF2-40B4-BE49-F238E27FC236}">
                <a16:creationId xmlns:a16="http://schemas.microsoft.com/office/drawing/2014/main" id="{97B89EF3-0C08-4C33-8701-E636554EBE92}"/>
              </a:ext>
            </a:extLst>
          </p:cNvPr>
          <p:cNvSpPr>
            <a:spLocks noGrp="1"/>
          </p:cNvSpPr>
          <p:nvPr/>
        </p:nvSpPr>
        <p:spPr>
          <a:xfrm>
            <a:off x="400050" y="4772025"/>
            <a:ext cx="247650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39" name="cellt-3-0">
            <a:extLst>
              <a:ext uri="{FF2B5EF4-FFF2-40B4-BE49-F238E27FC236}">
                <a16:creationId xmlns:a16="http://schemas.microsoft.com/office/drawing/2014/main" id="{F76C428A-D90A-420F-A217-FBE6546B11DE}"/>
              </a:ext>
            </a:extLst>
          </p:cNvPr>
          <p:cNvSpPr>
            <a:spLocks noGrp="1"/>
          </p:cNvSpPr>
          <p:nvPr/>
        </p:nvSpPr>
        <p:spPr>
          <a:xfrm>
            <a:off x="542925" y="4933950"/>
            <a:ext cx="2190750" cy="381000"/>
          </a:xfrm>
          <a:prstGeom prst="rect">
            <a:avLst/>
          </a:prstGeom>
          <a:noFill/>
          <a:ln w="0">
            <a:noFill/>
            <a:prstDash val="solid"/>
          </a:ln>
        </p:spPr>
        <p:txBody>
          <a:bodyPr anchor="t"/>
          <a:lstStyle/>
          <a:p>
            <a:pPr algn="l">
              <a:defRPr sz="1425" b="1">
                <a:solidFill>
                  <a:srgbClr val="111827"/>
                </a:solidFill>
                <a:latin typeface="Arial"/>
                <a:ea typeface="Arial"/>
                <a:cs typeface="Arial"/>
              </a:defRPr>
            </a:pPr>
            <a:r>
              <a:rPr sz="1425" b="1">
                <a:solidFill>
                  <a:srgbClr val="111827"/>
                </a:solidFill>
                <a:latin typeface="Arial"/>
                <a:ea typeface="Arial"/>
                <a:cs typeface="Arial"/>
              </a:rPr>
              <a:t>V-style</a:t>
            </a:r>
          </a:p>
        </p:txBody>
      </p:sp>
      <p:sp>
        <p:nvSpPr>
          <p:cNvPr id="40" name="cell-3-1">
            <a:extLst>
              <a:ext uri="{FF2B5EF4-FFF2-40B4-BE49-F238E27FC236}">
                <a16:creationId xmlns:a16="http://schemas.microsoft.com/office/drawing/2014/main" id="{6D372B35-4B8B-48B1-9447-5CFB6D810F75}"/>
              </a:ext>
            </a:extLst>
          </p:cNvPr>
          <p:cNvSpPr>
            <a:spLocks noGrp="1"/>
          </p:cNvSpPr>
          <p:nvPr/>
        </p:nvSpPr>
        <p:spPr>
          <a:xfrm>
            <a:off x="2876550" y="4772025"/>
            <a:ext cx="297180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41" name="cellt-3-1">
            <a:extLst>
              <a:ext uri="{FF2B5EF4-FFF2-40B4-BE49-F238E27FC236}">
                <a16:creationId xmlns:a16="http://schemas.microsoft.com/office/drawing/2014/main" id="{F6EE7EEB-2394-43BA-8B1B-BD40901DBFDB}"/>
              </a:ext>
            </a:extLst>
          </p:cNvPr>
          <p:cNvSpPr>
            <a:spLocks noGrp="1"/>
          </p:cNvSpPr>
          <p:nvPr/>
        </p:nvSpPr>
        <p:spPr>
          <a:xfrm>
            <a:off x="3019425" y="4933950"/>
            <a:ext cx="268605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Projected residual</a:t>
            </a:r>
          </a:p>
        </p:txBody>
      </p:sp>
      <p:sp>
        <p:nvSpPr>
          <p:cNvPr id="42" name="cell-3-2">
            <a:extLst>
              <a:ext uri="{FF2B5EF4-FFF2-40B4-BE49-F238E27FC236}">
                <a16:creationId xmlns:a16="http://schemas.microsoft.com/office/drawing/2014/main" id="{B7644E25-BF7C-4AB0-840B-A097713BD5EE}"/>
              </a:ext>
            </a:extLst>
          </p:cNvPr>
          <p:cNvSpPr>
            <a:spLocks noGrp="1"/>
          </p:cNvSpPr>
          <p:nvPr/>
        </p:nvSpPr>
        <p:spPr>
          <a:xfrm>
            <a:off x="5848350" y="4772025"/>
            <a:ext cx="276225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43" name="cellt-3-2">
            <a:extLst>
              <a:ext uri="{FF2B5EF4-FFF2-40B4-BE49-F238E27FC236}">
                <a16:creationId xmlns:a16="http://schemas.microsoft.com/office/drawing/2014/main" id="{897D6E9D-89B5-499E-8C72-162BFF2BB84B}"/>
              </a:ext>
            </a:extLst>
          </p:cNvPr>
          <p:cNvSpPr>
            <a:spLocks noGrp="1"/>
          </p:cNvSpPr>
          <p:nvPr/>
        </p:nvSpPr>
        <p:spPr>
          <a:xfrm>
            <a:off x="5991225" y="4933950"/>
            <a:ext cx="247650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PReLU</a:t>
            </a:r>
          </a:p>
        </p:txBody>
      </p:sp>
      <p:sp>
        <p:nvSpPr>
          <p:cNvPr id="44" name="cell-3-3">
            <a:extLst>
              <a:ext uri="{FF2B5EF4-FFF2-40B4-BE49-F238E27FC236}">
                <a16:creationId xmlns:a16="http://schemas.microsoft.com/office/drawing/2014/main" id="{D7CD895E-5691-4C74-88CC-6FD5E0AD661D}"/>
              </a:ext>
            </a:extLst>
          </p:cNvPr>
          <p:cNvSpPr>
            <a:spLocks noGrp="1"/>
          </p:cNvSpPr>
          <p:nvPr/>
        </p:nvSpPr>
        <p:spPr>
          <a:xfrm>
            <a:off x="8610600" y="4772025"/>
            <a:ext cx="3181350" cy="685800"/>
          </a:xfrm>
          <a:prstGeom prst="roundRect">
            <a:avLst>
              <a:gd name="adj" fmla="val 16667"/>
            </a:avLst>
          </a:prstGeom>
          <a:solidFill>
            <a:srgbClr val="FFFFFF"/>
          </a:solidFill>
          <a:ln w="9525">
            <a:solidFill>
              <a:srgbClr val="D9DEE7"/>
            </a:solidFill>
            <a:prstDash val="solid"/>
          </a:ln>
        </p:spPr>
        <p:txBody>
          <a:bodyPr/>
          <a:lstStyle/>
          <a:p>
            <a:endParaRPr lang="en-MY"/>
          </a:p>
        </p:txBody>
      </p:sp>
      <p:sp>
        <p:nvSpPr>
          <p:cNvPr id="45" name="cellt-3-3">
            <a:extLst>
              <a:ext uri="{FF2B5EF4-FFF2-40B4-BE49-F238E27FC236}">
                <a16:creationId xmlns:a16="http://schemas.microsoft.com/office/drawing/2014/main" id="{3BDE6EEA-C85B-475B-974E-B1E513D98921}"/>
              </a:ext>
            </a:extLst>
          </p:cNvPr>
          <p:cNvSpPr>
            <a:spLocks noGrp="1"/>
          </p:cNvSpPr>
          <p:nvPr/>
        </p:nvSpPr>
        <p:spPr>
          <a:xfrm>
            <a:off x="8753475" y="4933950"/>
            <a:ext cx="2895600" cy="381000"/>
          </a:xfrm>
          <a:prstGeom prst="rect">
            <a:avLst/>
          </a:prstGeom>
          <a:noFill/>
          <a:ln w="0">
            <a:noFill/>
            <a:prstDash val="solid"/>
          </a:ln>
        </p:spPr>
        <p:txBody>
          <a:bodyPr anchor="t"/>
          <a:lstStyle/>
          <a:p>
            <a:pPr algn="l">
              <a:defRPr sz="1425" b="0">
                <a:solidFill>
                  <a:srgbClr val="111827"/>
                </a:solidFill>
                <a:latin typeface="Arial"/>
                <a:ea typeface="Arial"/>
                <a:cs typeface="Arial"/>
              </a:defRPr>
            </a:pPr>
            <a:r>
              <a:rPr sz="1425" b="0">
                <a:solidFill>
                  <a:srgbClr val="111827"/>
                </a:solidFill>
                <a:latin typeface="Arial"/>
                <a:ea typeface="Arial"/>
                <a:cs typeface="Arial"/>
              </a:rPr>
              <a:t>Historical reference condition</a:t>
            </a:r>
          </a:p>
        </p:txBody>
      </p:sp>
      <p:sp>
        <p:nvSpPr>
          <p:cNvPr id="46" name="constants">
            <a:extLst>
              <a:ext uri="{FF2B5EF4-FFF2-40B4-BE49-F238E27FC236}">
                <a16:creationId xmlns:a16="http://schemas.microsoft.com/office/drawing/2014/main" id="{4E271CA3-B381-42B2-B296-461B274425DD}"/>
              </a:ext>
            </a:extLst>
          </p:cNvPr>
          <p:cNvSpPr>
            <a:spLocks noGrp="1"/>
          </p:cNvSpPr>
          <p:nvPr/>
        </p:nvSpPr>
        <p:spPr>
          <a:xfrm>
            <a:off x="523875" y="5638800"/>
            <a:ext cx="11144250" cy="523875"/>
          </a:xfrm>
          <a:prstGeom prst="rect">
            <a:avLst/>
          </a:prstGeom>
          <a:noFill/>
          <a:ln w="0">
            <a:noFill/>
            <a:prstDash val="solid"/>
          </a:ln>
        </p:spPr>
        <p:txBody>
          <a:bodyPr anchor="t"/>
          <a:lstStyle/>
          <a:p>
            <a:pPr algn="ctr">
              <a:defRPr sz="1500" b="0">
                <a:solidFill>
                  <a:srgbClr val="5B6472"/>
                </a:solidFill>
                <a:latin typeface="Arial"/>
                <a:ea typeface="Arial"/>
                <a:cs typeface="Arial"/>
              </a:defRPr>
            </a:pPr>
            <a:r>
              <a:rPr sz="1500" b="0">
                <a:solidFill>
                  <a:srgbClr val="5B6472"/>
                </a:solidFill>
                <a:latin typeface="Arial"/>
                <a:ea typeface="Arial"/>
                <a:cs typeface="Arial"/>
              </a:rPr>
              <a:t>Held constant: fold-specific encoder · AP/LAT fusion · 2D→3D lift · decoder skeleton · data split · loss · optimiser · seed · output processing</a:t>
            </a:r>
          </a:p>
        </p:txBody>
      </p:sp>
    </p:spTree>
    <p:extLst>
      <p:ext uri="{BB962C8B-B14F-4D97-AF65-F5344CB8AC3E}">
        <p14:creationId xmlns:p14="http://schemas.microsoft.com/office/powerpoint/2010/main" val="1432088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0" name="section-10">
            <a:extLst>
              <a:ext uri="{FF2B5EF4-FFF2-40B4-BE49-F238E27FC236}">
                <a16:creationId xmlns:a16="http://schemas.microsoft.com/office/drawing/2014/main" id="{786EFC09-C61B-443A-992E-F60A7D88B375}"/>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10">
            <a:extLst>
              <a:ext uri="{FF2B5EF4-FFF2-40B4-BE49-F238E27FC236}">
                <a16:creationId xmlns:a16="http://schemas.microsoft.com/office/drawing/2014/main" id="{1F216435-AAFA-4DF8-B49C-789AC1BD1254}"/>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Fairness is enforced before results are compared</a:t>
            </a:r>
          </a:p>
        </p:txBody>
      </p:sp>
      <p:cxnSp>
        <p:nvCxnSpPr>
          <p:cNvPr id="22" name="rule-10"/>
          <p:cNvCxnSpPr/>
          <p:nvPr/>
        </p:nvCxnSpPr>
        <p:spPr>
          <a:xfrm>
            <a:off x="400050" y="1285875"/>
            <a:ext cx="11391900" cy="0"/>
          </a:xfrm>
          <a:prstGeom prst="straightConnector1">
            <a:avLst/>
          </a:prstGeom>
          <a:ln w="9525">
            <a:solidFill>
              <a:srgbClr val="D9DEE7"/>
            </a:solidFill>
            <a:prstDash val="solid"/>
          </a:ln>
        </p:spPr>
      </p:cxnSp>
      <p:sp>
        <p:nvSpPr>
          <p:cNvPr id="4" name="source-10">
            <a:extLst>
              <a:ext uri="{FF2B5EF4-FFF2-40B4-BE49-F238E27FC236}">
                <a16:creationId xmlns:a16="http://schemas.microsoft.com/office/drawing/2014/main" id="{A923D092-2775-4F09-B667-0FE98F3A6E18}"/>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102–105</a:t>
            </a:r>
          </a:p>
        </p:txBody>
      </p:sp>
      <p:sp>
        <p:nvSpPr>
          <p:cNvPr id="5" name="page-10">
            <a:extLst>
              <a:ext uri="{FF2B5EF4-FFF2-40B4-BE49-F238E27FC236}">
                <a16:creationId xmlns:a16="http://schemas.microsoft.com/office/drawing/2014/main" id="{1A9BE4B9-E46F-4877-995C-17B956CCBCD5}"/>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10</a:t>
            </a:r>
          </a:p>
        </p:txBody>
      </p:sp>
      <p:cxnSp>
        <p:nvCxnSpPr>
          <p:cNvPr id="25" name="timeline"/>
          <p:cNvCxnSpPr/>
          <p:nvPr/>
        </p:nvCxnSpPr>
        <p:spPr>
          <a:xfrm>
            <a:off x="723900" y="3276600"/>
            <a:ext cx="10744200" cy="0"/>
          </a:xfrm>
          <a:prstGeom prst="straightConnector1">
            <a:avLst/>
          </a:prstGeom>
          <a:ln w="19050">
            <a:solidFill>
              <a:srgbClr val="111827"/>
            </a:solidFill>
            <a:prstDash val="solid"/>
          </a:ln>
        </p:spPr>
      </p:cxnSp>
      <p:sp>
        <p:nvSpPr>
          <p:cNvPr id="7" name="time-dot-0">
            <a:extLst>
              <a:ext uri="{FF2B5EF4-FFF2-40B4-BE49-F238E27FC236}">
                <a16:creationId xmlns:a16="http://schemas.microsoft.com/office/drawing/2014/main" id="{24507A54-0F8C-45EF-9B5A-DFFFA518DE54}"/>
              </a:ext>
            </a:extLst>
          </p:cNvPr>
          <p:cNvSpPr>
            <a:spLocks noGrp="1"/>
          </p:cNvSpPr>
          <p:nvPr/>
        </p:nvSpPr>
        <p:spPr>
          <a:xfrm>
            <a:off x="1238250" y="3162300"/>
            <a:ext cx="228600" cy="228600"/>
          </a:xfrm>
          <a:prstGeom prst="ellipse">
            <a:avLst/>
          </a:prstGeom>
          <a:solidFill>
            <a:srgbClr val="2563EB"/>
          </a:solidFill>
          <a:ln w="28575">
            <a:solidFill>
              <a:srgbClr val="FFFFFF"/>
            </a:solidFill>
            <a:prstDash val="solid"/>
          </a:ln>
        </p:spPr>
        <p:txBody>
          <a:bodyPr/>
          <a:lstStyle/>
          <a:p>
            <a:endParaRPr lang="en-MY"/>
          </a:p>
        </p:txBody>
      </p:sp>
      <p:sp>
        <p:nvSpPr>
          <p:cNvPr id="8" name="time-no-0">
            <a:extLst>
              <a:ext uri="{FF2B5EF4-FFF2-40B4-BE49-F238E27FC236}">
                <a16:creationId xmlns:a16="http://schemas.microsoft.com/office/drawing/2014/main" id="{0BF2F0AF-1AEF-4539-B54D-6AAE6C949A39}"/>
              </a:ext>
            </a:extLst>
          </p:cNvPr>
          <p:cNvSpPr>
            <a:spLocks noGrp="1"/>
          </p:cNvSpPr>
          <p:nvPr/>
        </p:nvSpPr>
        <p:spPr>
          <a:xfrm>
            <a:off x="1190625" y="2667000"/>
            <a:ext cx="762000" cy="333375"/>
          </a:xfrm>
          <a:prstGeom prst="rect">
            <a:avLst/>
          </a:prstGeom>
          <a:noFill/>
          <a:ln w="0">
            <a:noFill/>
            <a:prstDash val="solid"/>
          </a:ln>
        </p:spPr>
        <p:txBody>
          <a:bodyPr anchor="t"/>
          <a:lstStyle/>
          <a:p>
            <a:pPr algn="l">
              <a:defRPr sz="1350" b="1">
                <a:solidFill>
                  <a:srgbClr val="2563EB"/>
                </a:solidFill>
                <a:latin typeface="Arial"/>
                <a:ea typeface="Arial"/>
                <a:cs typeface="Arial"/>
              </a:defRPr>
            </a:pPr>
            <a:r>
              <a:rPr sz="1350" b="1">
                <a:solidFill>
                  <a:srgbClr val="2563EB"/>
                </a:solidFill>
                <a:latin typeface="Arial"/>
                <a:ea typeface="Arial"/>
                <a:cs typeface="Arial"/>
              </a:rPr>
              <a:t>01</a:t>
            </a:r>
          </a:p>
        </p:txBody>
      </p:sp>
      <p:sp>
        <p:nvSpPr>
          <p:cNvPr id="9" name="time-h-0">
            <a:extLst>
              <a:ext uri="{FF2B5EF4-FFF2-40B4-BE49-F238E27FC236}">
                <a16:creationId xmlns:a16="http://schemas.microsoft.com/office/drawing/2014/main" id="{04FB6F14-FF9F-4CEF-96B6-A5F647440194}"/>
              </a:ext>
            </a:extLst>
          </p:cNvPr>
          <p:cNvSpPr>
            <a:spLocks noGrp="1"/>
          </p:cNvSpPr>
          <p:nvPr/>
        </p:nvSpPr>
        <p:spPr>
          <a:xfrm>
            <a:off x="1190625" y="3714750"/>
            <a:ext cx="2952750" cy="400050"/>
          </a:xfrm>
          <a:prstGeom prst="rect">
            <a:avLst/>
          </a:prstGeom>
          <a:noFill/>
          <a:ln w="0">
            <a:noFill/>
            <a:prstDash val="solid"/>
          </a:ln>
        </p:spPr>
        <p:txBody>
          <a:bodyPr anchor="t"/>
          <a:lstStyle/>
          <a:p>
            <a:pPr algn="l">
              <a:defRPr sz="1875" b="1">
                <a:solidFill>
                  <a:srgbClr val="111827"/>
                </a:solidFill>
                <a:latin typeface="Arial"/>
                <a:ea typeface="Arial"/>
                <a:cs typeface="Arial"/>
              </a:defRPr>
            </a:pPr>
            <a:r>
              <a:rPr sz="1875" b="1">
                <a:solidFill>
                  <a:srgbClr val="111827"/>
                </a:solidFill>
                <a:latin typeface="Arial"/>
                <a:ea typeface="Arial"/>
                <a:cs typeface="Arial"/>
              </a:rPr>
              <a:t>Train within fold</a:t>
            </a:r>
          </a:p>
        </p:txBody>
      </p:sp>
      <p:sp>
        <p:nvSpPr>
          <p:cNvPr id="10" name="time-b-0">
            <a:extLst>
              <a:ext uri="{FF2B5EF4-FFF2-40B4-BE49-F238E27FC236}">
                <a16:creationId xmlns:a16="http://schemas.microsoft.com/office/drawing/2014/main" id="{61F91421-5A95-4312-940B-0E4B2F973774}"/>
              </a:ext>
            </a:extLst>
          </p:cNvPr>
          <p:cNvSpPr>
            <a:spLocks noGrp="1"/>
          </p:cNvSpPr>
          <p:nvPr/>
        </p:nvSpPr>
        <p:spPr>
          <a:xfrm>
            <a:off x="1190625" y="4229100"/>
            <a:ext cx="2952750" cy="1143000"/>
          </a:xfrm>
          <a:prstGeom prst="rect">
            <a:avLst/>
          </a:prstGeom>
          <a:noFill/>
          <a:ln w="0">
            <a:noFill/>
            <a:prstDash val="solid"/>
          </a:ln>
        </p:spPr>
        <p:txBody>
          <a:bodyPr anchor="t"/>
          <a:lstStyle/>
          <a:p>
            <a:pPr algn="l">
              <a:defRPr sz="1575" b="0">
                <a:solidFill>
                  <a:srgbClr val="5B6472"/>
                </a:solidFill>
                <a:latin typeface="Arial"/>
                <a:ea typeface="Arial"/>
                <a:cs typeface="Arial"/>
              </a:defRPr>
            </a:pPr>
            <a:r>
              <a:rPr sz="1575" b="0">
                <a:solidFill>
                  <a:srgbClr val="5B6472"/>
                </a:solidFill>
                <a:latin typeface="Arial"/>
                <a:ea typeface="Arial"/>
                <a:cs typeface="Arial"/>
              </a:rPr>
              <a:t>Exclude test subjects from encoder, fusion and decoder optimisation.</a:t>
            </a:r>
          </a:p>
        </p:txBody>
      </p:sp>
      <p:sp>
        <p:nvSpPr>
          <p:cNvPr id="11" name="time-dot-1">
            <a:extLst>
              <a:ext uri="{FF2B5EF4-FFF2-40B4-BE49-F238E27FC236}">
                <a16:creationId xmlns:a16="http://schemas.microsoft.com/office/drawing/2014/main" id="{4570EE26-9FFD-4C5A-A288-69713482ADEE}"/>
              </a:ext>
            </a:extLst>
          </p:cNvPr>
          <p:cNvSpPr>
            <a:spLocks noGrp="1"/>
          </p:cNvSpPr>
          <p:nvPr/>
        </p:nvSpPr>
        <p:spPr>
          <a:xfrm>
            <a:off x="4953000" y="3162300"/>
            <a:ext cx="228600" cy="228600"/>
          </a:xfrm>
          <a:prstGeom prst="ellipse">
            <a:avLst/>
          </a:prstGeom>
          <a:solidFill>
            <a:srgbClr val="2563EB"/>
          </a:solidFill>
          <a:ln w="28575">
            <a:solidFill>
              <a:srgbClr val="FFFFFF"/>
            </a:solidFill>
            <a:prstDash val="solid"/>
          </a:ln>
        </p:spPr>
        <p:txBody>
          <a:bodyPr/>
          <a:lstStyle/>
          <a:p>
            <a:endParaRPr lang="en-MY"/>
          </a:p>
        </p:txBody>
      </p:sp>
      <p:sp>
        <p:nvSpPr>
          <p:cNvPr id="12" name="time-no-1">
            <a:extLst>
              <a:ext uri="{FF2B5EF4-FFF2-40B4-BE49-F238E27FC236}">
                <a16:creationId xmlns:a16="http://schemas.microsoft.com/office/drawing/2014/main" id="{DD4F1353-CA9D-4C4D-A476-3AEF056AA5F8}"/>
              </a:ext>
            </a:extLst>
          </p:cNvPr>
          <p:cNvSpPr>
            <a:spLocks noGrp="1"/>
          </p:cNvSpPr>
          <p:nvPr/>
        </p:nvSpPr>
        <p:spPr>
          <a:xfrm>
            <a:off x="4905375" y="2667000"/>
            <a:ext cx="762000" cy="333375"/>
          </a:xfrm>
          <a:prstGeom prst="rect">
            <a:avLst/>
          </a:prstGeom>
          <a:noFill/>
          <a:ln w="0">
            <a:noFill/>
            <a:prstDash val="solid"/>
          </a:ln>
        </p:spPr>
        <p:txBody>
          <a:bodyPr anchor="t"/>
          <a:lstStyle/>
          <a:p>
            <a:pPr algn="l">
              <a:defRPr sz="1350" b="1">
                <a:solidFill>
                  <a:srgbClr val="2563EB"/>
                </a:solidFill>
                <a:latin typeface="Arial"/>
                <a:ea typeface="Arial"/>
                <a:cs typeface="Arial"/>
              </a:defRPr>
            </a:pPr>
            <a:r>
              <a:rPr sz="1350" b="1">
                <a:solidFill>
                  <a:srgbClr val="2563EB"/>
                </a:solidFill>
                <a:latin typeface="Arial"/>
                <a:ea typeface="Arial"/>
                <a:cs typeface="Arial"/>
              </a:rPr>
              <a:t>02</a:t>
            </a:r>
          </a:p>
        </p:txBody>
      </p:sp>
      <p:sp>
        <p:nvSpPr>
          <p:cNvPr id="13" name="time-h-1">
            <a:extLst>
              <a:ext uri="{FF2B5EF4-FFF2-40B4-BE49-F238E27FC236}">
                <a16:creationId xmlns:a16="http://schemas.microsoft.com/office/drawing/2014/main" id="{B8DCF9C3-EBC5-4769-A7AD-C86173D62839}"/>
              </a:ext>
            </a:extLst>
          </p:cNvPr>
          <p:cNvSpPr>
            <a:spLocks noGrp="1"/>
          </p:cNvSpPr>
          <p:nvPr/>
        </p:nvSpPr>
        <p:spPr>
          <a:xfrm>
            <a:off x="4905375" y="3714750"/>
            <a:ext cx="2952750" cy="400050"/>
          </a:xfrm>
          <a:prstGeom prst="rect">
            <a:avLst/>
          </a:prstGeom>
          <a:noFill/>
          <a:ln w="0">
            <a:noFill/>
            <a:prstDash val="solid"/>
          </a:ln>
        </p:spPr>
        <p:txBody>
          <a:bodyPr anchor="t"/>
          <a:lstStyle/>
          <a:p>
            <a:pPr algn="l">
              <a:defRPr sz="1875" b="1">
                <a:solidFill>
                  <a:srgbClr val="111827"/>
                </a:solidFill>
                <a:latin typeface="Arial"/>
                <a:ea typeface="Arial"/>
                <a:cs typeface="Arial"/>
              </a:defRPr>
            </a:pPr>
            <a:r>
              <a:rPr sz="1875" b="1">
                <a:solidFill>
                  <a:srgbClr val="111827"/>
                </a:solidFill>
                <a:latin typeface="Arial"/>
                <a:ea typeface="Arial"/>
                <a:cs typeface="Arial"/>
              </a:rPr>
              <a:t>Freeze and match</a:t>
            </a:r>
          </a:p>
        </p:txBody>
      </p:sp>
      <p:sp>
        <p:nvSpPr>
          <p:cNvPr id="14" name="time-b-1">
            <a:extLst>
              <a:ext uri="{FF2B5EF4-FFF2-40B4-BE49-F238E27FC236}">
                <a16:creationId xmlns:a16="http://schemas.microsoft.com/office/drawing/2014/main" id="{D7A0AF0F-2FF7-41BA-AE08-0C59F01026CC}"/>
              </a:ext>
            </a:extLst>
          </p:cNvPr>
          <p:cNvSpPr>
            <a:spLocks noGrp="1"/>
          </p:cNvSpPr>
          <p:nvPr/>
        </p:nvSpPr>
        <p:spPr>
          <a:xfrm>
            <a:off x="4905375" y="4229100"/>
            <a:ext cx="2952750" cy="1143000"/>
          </a:xfrm>
          <a:prstGeom prst="rect">
            <a:avLst/>
          </a:prstGeom>
          <a:noFill/>
          <a:ln w="0">
            <a:noFill/>
            <a:prstDash val="solid"/>
          </a:ln>
        </p:spPr>
        <p:txBody>
          <a:bodyPr anchor="t"/>
          <a:lstStyle/>
          <a:p>
            <a:pPr algn="l">
              <a:defRPr sz="1575" b="0">
                <a:solidFill>
                  <a:srgbClr val="5B6472"/>
                </a:solidFill>
                <a:latin typeface="Arial"/>
                <a:ea typeface="Arial"/>
                <a:cs typeface="Arial"/>
              </a:defRPr>
            </a:pPr>
            <a:r>
              <a:rPr sz="1575" b="0">
                <a:solidFill>
                  <a:srgbClr val="5B6472"/>
                </a:solidFill>
                <a:latin typeface="Arial"/>
                <a:ea typeface="Arial"/>
                <a:cs typeface="Arial"/>
              </a:rPr>
              <a:t>Same front-end hash, initial state, loss, optimiser, seed and schedule.</a:t>
            </a:r>
          </a:p>
        </p:txBody>
      </p:sp>
      <p:sp>
        <p:nvSpPr>
          <p:cNvPr id="15" name="time-dot-2">
            <a:extLst>
              <a:ext uri="{FF2B5EF4-FFF2-40B4-BE49-F238E27FC236}">
                <a16:creationId xmlns:a16="http://schemas.microsoft.com/office/drawing/2014/main" id="{6EF23F7C-42F3-4448-B0B5-458825E3DA51}"/>
              </a:ext>
            </a:extLst>
          </p:cNvPr>
          <p:cNvSpPr>
            <a:spLocks noGrp="1"/>
          </p:cNvSpPr>
          <p:nvPr/>
        </p:nvSpPr>
        <p:spPr>
          <a:xfrm>
            <a:off x="8667750" y="3162300"/>
            <a:ext cx="228600" cy="228600"/>
          </a:xfrm>
          <a:prstGeom prst="ellipse">
            <a:avLst/>
          </a:prstGeom>
          <a:solidFill>
            <a:srgbClr val="0F766E"/>
          </a:solidFill>
          <a:ln w="28575">
            <a:solidFill>
              <a:srgbClr val="FFFFFF"/>
            </a:solidFill>
            <a:prstDash val="solid"/>
          </a:ln>
        </p:spPr>
        <p:txBody>
          <a:bodyPr/>
          <a:lstStyle/>
          <a:p>
            <a:endParaRPr lang="en-MY"/>
          </a:p>
        </p:txBody>
      </p:sp>
      <p:sp>
        <p:nvSpPr>
          <p:cNvPr id="16" name="time-no-2">
            <a:extLst>
              <a:ext uri="{FF2B5EF4-FFF2-40B4-BE49-F238E27FC236}">
                <a16:creationId xmlns:a16="http://schemas.microsoft.com/office/drawing/2014/main" id="{64763788-CFCA-4302-81ED-75CFD9358D2F}"/>
              </a:ext>
            </a:extLst>
          </p:cNvPr>
          <p:cNvSpPr>
            <a:spLocks noGrp="1"/>
          </p:cNvSpPr>
          <p:nvPr/>
        </p:nvSpPr>
        <p:spPr>
          <a:xfrm>
            <a:off x="8620125" y="2667000"/>
            <a:ext cx="762000" cy="333375"/>
          </a:xfrm>
          <a:prstGeom prst="rect">
            <a:avLst/>
          </a:prstGeom>
          <a:noFill/>
          <a:ln w="0">
            <a:noFill/>
            <a:prstDash val="solid"/>
          </a:ln>
        </p:spPr>
        <p:txBody>
          <a:bodyPr anchor="t"/>
          <a:lstStyle/>
          <a:p>
            <a:pPr algn="l">
              <a:defRPr sz="1350" b="1">
                <a:solidFill>
                  <a:srgbClr val="2563EB"/>
                </a:solidFill>
                <a:latin typeface="Arial"/>
                <a:ea typeface="Arial"/>
                <a:cs typeface="Arial"/>
              </a:defRPr>
            </a:pPr>
            <a:r>
              <a:rPr sz="1350" b="1">
                <a:solidFill>
                  <a:srgbClr val="2563EB"/>
                </a:solidFill>
                <a:latin typeface="Arial"/>
                <a:ea typeface="Arial"/>
                <a:cs typeface="Arial"/>
              </a:rPr>
              <a:t>03</a:t>
            </a:r>
          </a:p>
        </p:txBody>
      </p:sp>
      <p:sp>
        <p:nvSpPr>
          <p:cNvPr id="17" name="time-h-2">
            <a:extLst>
              <a:ext uri="{FF2B5EF4-FFF2-40B4-BE49-F238E27FC236}">
                <a16:creationId xmlns:a16="http://schemas.microsoft.com/office/drawing/2014/main" id="{E31DCD70-25A1-432F-9AE8-9108C4A16FB6}"/>
              </a:ext>
            </a:extLst>
          </p:cNvPr>
          <p:cNvSpPr>
            <a:spLocks noGrp="1"/>
          </p:cNvSpPr>
          <p:nvPr/>
        </p:nvSpPr>
        <p:spPr>
          <a:xfrm>
            <a:off x="8620125" y="3714750"/>
            <a:ext cx="2952750" cy="400050"/>
          </a:xfrm>
          <a:prstGeom prst="rect">
            <a:avLst/>
          </a:prstGeom>
          <a:noFill/>
          <a:ln w="0">
            <a:noFill/>
            <a:prstDash val="solid"/>
          </a:ln>
        </p:spPr>
        <p:txBody>
          <a:bodyPr anchor="t"/>
          <a:lstStyle/>
          <a:p>
            <a:pPr algn="l">
              <a:defRPr sz="1875" b="1">
                <a:solidFill>
                  <a:srgbClr val="111827"/>
                </a:solidFill>
                <a:latin typeface="Arial"/>
                <a:ea typeface="Arial"/>
                <a:cs typeface="Arial"/>
              </a:defRPr>
            </a:pPr>
            <a:r>
              <a:rPr sz="1875" b="1">
                <a:solidFill>
                  <a:srgbClr val="111827"/>
                </a:solidFill>
                <a:latin typeface="Arial"/>
                <a:ea typeface="Arial"/>
                <a:cs typeface="Arial"/>
              </a:rPr>
              <a:t>Evaluate out of fold</a:t>
            </a:r>
          </a:p>
        </p:txBody>
      </p:sp>
      <p:sp>
        <p:nvSpPr>
          <p:cNvPr id="18" name="time-b-2">
            <a:extLst>
              <a:ext uri="{FF2B5EF4-FFF2-40B4-BE49-F238E27FC236}">
                <a16:creationId xmlns:a16="http://schemas.microsoft.com/office/drawing/2014/main" id="{9F47213C-9481-47EF-80C2-DD380AD26A13}"/>
              </a:ext>
            </a:extLst>
          </p:cNvPr>
          <p:cNvSpPr>
            <a:spLocks noGrp="1"/>
          </p:cNvSpPr>
          <p:nvPr/>
        </p:nvSpPr>
        <p:spPr>
          <a:xfrm>
            <a:off x="8620125" y="4229100"/>
            <a:ext cx="2952750" cy="1143000"/>
          </a:xfrm>
          <a:prstGeom prst="rect">
            <a:avLst/>
          </a:prstGeom>
          <a:noFill/>
          <a:ln w="0">
            <a:noFill/>
            <a:prstDash val="solid"/>
          </a:ln>
        </p:spPr>
        <p:txBody>
          <a:bodyPr anchor="t"/>
          <a:lstStyle/>
          <a:p>
            <a:pPr algn="l">
              <a:defRPr sz="1575" b="0">
                <a:solidFill>
                  <a:srgbClr val="5B6472"/>
                </a:solidFill>
                <a:latin typeface="Arial"/>
                <a:ea typeface="Arial"/>
                <a:cs typeface="Arial"/>
              </a:defRPr>
            </a:pPr>
            <a:r>
              <a:rPr sz="1575" b="0">
                <a:solidFill>
                  <a:srgbClr val="5B6472"/>
                </a:solidFill>
                <a:latin typeface="Arial"/>
                <a:ea typeface="Arial"/>
                <a:cs typeface="Arial"/>
              </a:rPr>
              <a:t>20 runs → 71 knees per arm → 43 subject-level comparisons.</a:t>
            </a:r>
          </a:p>
        </p:txBody>
      </p:sp>
      <p:sp>
        <p:nvSpPr>
          <p:cNvPr id="19" name="metrics-line">
            <a:extLst>
              <a:ext uri="{FF2B5EF4-FFF2-40B4-BE49-F238E27FC236}">
                <a16:creationId xmlns:a16="http://schemas.microsoft.com/office/drawing/2014/main" id="{224D30B6-8E20-446F-92EA-6E841821674D}"/>
              </a:ext>
            </a:extLst>
          </p:cNvPr>
          <p:cNvSpPr>
            <a:spLocks noGrp="1"/>
          </p:cNvSpPr>
          <p:nvPr/>
        </p:nvSpPr>
        <p:spPr>
          <a:xfrm>
            <a:off x="733425" y="5600700"/>
            <a:ext cx="10725150" cy="495300"/>
          </a:xfrm>
          <a:prstGeom prst="rect">
            <a:avLst/>
          </a:prstGeom>
          <a:noFill/>
          <a:ln w="0">
            <a:noFill/>
            <a:prstDash val="solid"/>
          </a:ln>
        </p:spPr>
        <p:txBody>
          <a:bodyPr anchor="t"/>
          <a:lstStyle/>
          <a:p>
            <a:pPr algn="ctr">
              <a:defRPr sz="1575" b="1">
                <a:solidFill>
                  <a:srgbClr val="0F766E"/>
                </a:solidFill>
                <a:latin typeface="Arial"/>
                <a:ea typeface="Arial"/>
                <a:cs typeface="Arial"/>
              </a:defRPr>
            </a:pPr>
            <a:r>
              <a:rPr sz="1575" b="1">
                <a:solidFill>
                  <a:srgbClr val="0F766E"/>
                </a:solidFill>
                <a:latin typeface="Arial"/>
                <a:ea typeface="Arial"/>
                <a:cs typeface="Arial"/>
              </a:rPr>
              <a:t>Primary evidence: Dice (overlap) + ASSD in mm (surface) + bone/cohort breakdown + explicit empty-prediction penalties</a:t>
            </a:r>
          </a:p>
        </p:txBody>
      </p:sp>
    </p:spTree>
    <p:extLst>
      <p:ext uri="{BB962C8B-B14F-4D97-AF65-F5344CB8AC3E}">
        <p14:creationId xmlns:p14="http://schemas.microsoft.com/office/powerpoint/2010/main" val="1603746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ection-10">
            <a:extLst>
              <a:ext uri="{FF2B5EF4-FFF2-40B4-BE49-F238E27FC236}">
                <a16:creationId xmlns:a16="http://schemas.microsoft.com/office/drawing/2014/main" id="{60EEC296-5FD5-4B9E-BD33-87386B4252B3}"/>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TECHNICAL APPROACH</a:t>
            </a:r>
          </a:p>
        </p:txBody>
      </p:sp>
      <p:sp>
        <p:nvSpPr>
          <p:cNvPr id="2" name="title-10">
            <a:extLst>
              <a:ext uri="{FF2B5EF4-FFF2-40B4-BE49-F238E27FC236}">
                <a16:creationId xmlns:a16="http://schemas.microsoft.com/office/drawing/2014/main" id="{36617BDD-9064-43ED-B681-A9898992E5FF}"/>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P1 learns structure; P2 links both views</a:t>
            </a:r>
          </a:p>
        </p:txBody>
      </p:sp>
      <p:cxnSp>
        <p:nvCxnSpPr>
          <p:cNvPr id="21" name="rule-10"/>
          <p:cNvCxnSpPr/>
          <p:nvPr/>
        </p:nvCxnSpPr>
        <p:spPr>
          <a:xfrm>
            <a:off x="400050" y="1285875"/>
            <a:ext cx="11391900" cy="0"/>
          </a:xfrm>
          <a:prstGeom prst="straightConnector1">
            <a:avLst/>
          </a:prstGeom>
          <a:ln w="9525">
            <a:solidFill>
              <a:srgbClr val="D9DEE7"/>
            </a:solidFill>
            <a:prstDash val="solid"/>
          </a:ln>
        </p:spPr>
      </p:cxnSp>
      <p:sp>
        <p:nvSpPr>
          <p:cNvPr id="4" name="source-10">
            <a:extLst>
              <a:ext uri="{FF2B5EF4-FFF2-40B4-BE49-F238E27FC236}">
                <a16:creationId xmlns:a16="http://schemas.microsoft.com/office/drawing/2014/main" id="{9A52F224-B765-4CE7-8B60-E1C9397DDC37}"/>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91-92, 114-118</a:t>
            </a:r>
          </a:p>
        </p:txBody>
      </p:sp>
      <p:sp>
        <p:nvSpPr>
          <p:cNvPr id="5" name="page-10">
            <a:extLst>
              <a:ext uri="{FF2B5EF4-FFF2-40B4-BE49-F238E27FC236}">
                <a16:creationId xmlns:a16="http://schemas.microsoft.com/office/drawing/2014/main" id="{83568587-C5EB-4A5B-844A-8B8DD672BDF5}"/>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10</a:t>
            </a:r>
          </a:p>
        </p:txBody>
      </p:sp>
      <p:sp>
        <p:nvSpPr>
          <p:cNvPr id="6" name="encoder-control">
            <a:extLst>
              <a:ext uri="{FF2B5EF4-FFF2-40B4-BE49-F238E27FC236}">
                <a16:creationId xmlns:a16="http://schemas.microsoft.com/office/drawing/2014/main" id="{B51AC87B-F996-42E8-89E5-4641719202B4}"/>
              </a:ext>
            </a:extLst>
          </p:cNvPr>
          <p:cNvSpPr>
            <a:spLocks noGrp="1"/>
          </p:cNvSpPr>
          <p:nvPr/>
        </p:nvSpPr>
        <p:spPr>
          <a:xfrm>
            <a:off x="400050" y="1428750"/>
            <a:ext cx="11391900" cy="342900"/>
          </a:xfrm>
          <a:prstGeom prst="rect">
            <a:avLst/>
          </a:prstGeom>
          <a:noFill/>
          <a:ln w="0">
            <a:noFill/>
            <a:prstDash val="solid"/>
          </a:ln>
        </p:spPr>
        <p:txBody>
          <a:bodyPr anchor="t"/>
          <a:lstStyle/>
          <a:p>
            <a:pPr algn="ctr">
              <a:defRPr sz="1575" b="1">
                <a:solidFill>
                  <a:srgbClr val="0F766E"/>
                </a:solidFill>
                <a:latin typeface="Arial"/>
                <a:ea typeface="Arial"/>
                <a:cs typeface="Arial"/>
              </a:defRPr>
            </a:pPr>
            <a:r>
              <a:rPr sz="1575" b="1">
                <a:solidFill>
                  <a:srgbClr val="0F766E"/>
                </a:solidFill>
                <a:latin typeface="Arial"/>
                <a:ea typeface="Arial"/>
                <a:cs typeface="Arial"/>
              </a:rPr>
              <a:t>Five fold-specific ConvNeXtV2 encoders  |  test-fold subjects excluded from both phases</a:t>
            </a:r>
          </a:p>
        </p:txBody>
      </p:sp>
      <p:sp>
        <p:nvSpPr>
          <p:cNvPr id="7" name="p1-panel">
            <a:extLst>
              <a:ext uri="{FF2B5EF4-FFF2-40B4-BE49-F238E27FC236}">
                <a16:creationId xmlns:a16="http://schemas.microsoft.com/office/drawing/2014/main" id="{16B504F3-CD01-411D-8B8E-8AE546789A50}"/>
              </a:ext>
            </a:extLst>
          </p:cNvPr>
          <p:cNvSpPr>
            <a:spLocks noGrp="1"/>
          </p:cNvSpPr>
          <p:nvPr/>
        </p:nvSpPr>
        <p:spPr>
          <a:xfrm>
            <a:off x="400050" y="1952625"/>
            <a:ext cx="5095875" cy="3381375"/>
          </a:xfrm>
          <a:prstGeom prst="roundRect">
            <a:avLst>
              <a:gd name="adj" fmla="val 3380"/>
            </a:avLst>
          </a:prstGeom>
          <a:solidFill>
            <a:srgbClr val="EAF2FF"/>
          </a:solidFill>
          <a:ln w="0">
            <a:noFill/>
            <a:prstDash val="solid"/>
          </a:ln>
        </p:spPr>
        <p:txBody>
          <a:bodyPr/>
          <a:lstStyle/>
          <a:p>
            <a:endParaRPr lang="en-MY"/>
          </a:p>
        </p:txBody>
      </p:sp>
      <p:sp>
        <p:nvSpPr>
          <p:cNvPr id="8" name="p1-title">
            <a:extLst>
              <a:ext uri="{FF2B5EF4-FFF2-40B4-BE49-F238E27FC236}">
                <a16:creationId xmlns:a16="http://schemas.microsoft.com/office/drawing/2014/main" id="{1D1DB96B-4D69-4D79-A6AD-575CEEE6C215}"/>
              </a:ext>
            </a:extLst>
          </p:cNvPr>
          <p:cNvSpPr>
            <a:spLocks noGrp="1"/>
          </p:cNvSpPr>
          <p:nvPr/>
        </p:nvSpPr>
        <p:spPr>
          <a:xfrm>
            <a:off x="714375" y="2209800"/>
            <a:ext cx="4476750" cy="428625"/>
          </a:xfrm>
          <a:prstGeom prst="rect">
            <a:avLst/>
          </a:prstGeom>
          <a:noFill/>
          <a:ln w="0">
            <a:noFill/>
            <a:prstDash val="solid"/>
          </a:ln>
        </p:spPr>
        <p:txBody>
          <a:bodyPr anchor="t"/>
          <a:lstStyle/>
          <a:p>
            <a:pPr algn="l">
              <a:defRPr sz="2100" b="1">
                <a:solidFill>
                  <a:srgbClr val="2563EB"/>
                </a:solidFill>
                <a:latin typeface="Arial"/>
                <a:ea typeface="Arial"/>
                <a:cs typeface="Arial"/>
              </a:defRPr>
            </a:pPr>
            <a:r>
              <a:rPr sz="2100" b="1">
                <a:solidFill>
                  <a:srgbClr val="2563EB"/>
                </a:solidFill>
                <a:latin typeface="Arial"/>
                <a:ea typeface="Arial"/>
                <a:cs typeface="Arial"/>
              </a:rPr>
              <a:t>P1  |  Single-view FCMAE</a:t>
            </a:r>
          </a:p>
        </p:txBody>
      </p:sp>
      <p:sp>
        <p:nvSpPr>
          <p:cNvPr id="9" name="p1-body">
            <a:extLst>
              <a:ext uri="{FF2B5EF4-FFF2-40B4-BE49-F238E27FC236}">
                <a16:creationId xmlns:a16="http://schemas.microsoft.com/office/drawing/2014/main" id="{367806FC-C3CF-409D-982C-F6641C5EF711}"/>
              </a:ext>
            </a:extLst>
          </p:cNvPr>
          <p:cNvSpPr>
            <a:spLocks noGrp="1"/>
          </p:cNvSpPr>
          <p:nvPr/>
        </p:nvSpPr>
        <p:spPr>
          <a:xfrm>
            <a:off x="714375" y="2781300"/>
            <a:ext cx="4286250" cy="1104900"/>
          </a:xfrm>
          <a:prstGeom prst="rect">
            <a:avLst/>
          </a:prstGeom>
          <a:noFill/>
          <a:ln w="0">
            <a:noFill/>
            <a:prstDash val="solid"/>
          </a:ln>
        </p:spPr>
        <p:txBody>
          <a:bodyPr anchor="t"/>
          <a:lstStyle/>
          <a:p>
            <a:pPr algn="l">
              <a:defRPr sz="1650" b="0">
                <a:solidFill>
                  <a:srgbClr val="111827"/>
                </a:solidFill>
                <a:latin typeface="Arial"/>
                <a:ea typeface="Arial"/>
                <a:cs typeface="Arial"/>
              </a:defRPr>
            </a:pPr>
            <a:r>
              <a:rPr sz="1650" b="0">
                <a:solidFill>
                  <a:srgbClr val="111827"/>
                </a:solidFill>
                <a:latin typeface="Arial"/>
                <a:ea typeface="Arial"/>
                <a:cs typeface="Arial"/>
              </a:rPr>
              <a:t>Mask 60% of patches</a:t>
            </a:r>
          </a:p>
          <a:p>
            <a:pPr algn="l">
              <a:defRPr sz="1650" b="0">
                <a:solidFill>
                  <a:srgbClr val="111827"/>
                </a:solidFill>
                <a:latin typeface="Arial"/>
                <a:ea typeface="Arial"/>
                <a:cs typeface="Arial"/>
              </a:defRPr>
            </a:pPr>
            <a:r>
              <a:rPr sz="1650" b="0">
                <a:solidFill>
                  <a:srgbClr val="111827"/>
                </a:solidFill>
                <a:latin typeface="Arial"/>
                <a:ea typeface="Arial"/>
                <a:cs typeface="Arial"/>
              </a:rPr>
              <a:t>Reconstruct one AP or LAT DRR</a:t>
            </a:r>
          </a:p>
          <a:p>
            <a:pPr algn="l">
              <a:defRPr sz="1650" b="0">
                <a:solidFill>
                  <a:srgbClr val="111827"/>
                </a:solidFill>
                <a:latin typeface="Arial"/>
                <a:ea typeface="Arial"/>
                <a:cs typeface="Arial"/>
              </a:defRPr>
            </a:pPr>
            <a:r>
              <a:rPr sz="1650" b="0">
                <a:solidFill>
                  <a:srgbClr val="111827"/>
                </a:solidFill>
                <a:latin typeface="Arial"/>
                <a:ea typeface="Arial"/>
                <a:cs typeface="Arial"/>
              </a:rPr>
              <a:t>No bone, fracture or 3D labels</a:t>
            </a:r>
          </a:p>
        </p:txBody>
      </p:sp>
      <p:sp>
        <p:nvSpPr>
          <p:cNvPr id="10" name="p1-metric">
            <a:extLst>
              <a:ext uri="{FF2B5EF4-FFF2-40B4-BE49-F238E27FC236}">
                <a16:creationId xmlns:a16="http://schemas.microsoft.com/office/drawing/2014/main" id="{A2F43BA8-FFDC-472E-AB42-5F780AA6F637}"/>
              </a:ext>
            </a:extLst>
          </p:cNvPr>
          <p:cNvSpPr>
            <a:spLocks noGrp="1"/>
          </p:cNvSpPr>
          <p:nvPr/>
        </p:nvSpPr>
        <p:spPr>
          <a:xfrm>
            <a:off x="714375" y="4105275"/>
            <a:ext cx="4286250" cy="762000"/>
          </a:xfrm>
          <a:prstGeom prst="rect">
            <a:avLst/>
          </a:prstGeom>
          <a:noFill/>
          <a:ln w="0">
            <a:noFill/>
            <a:prstDash val="solid"/>
          </a:ln>
        </p:spPr>
        <p:txBody>
          <a:bodyPr anchor="t"/>
          <a:lstStyle/>
          <a:p>
            <a:pPr algn="ctr">
              <a:defRPr sz="2325" b="1">
                <a:solidFill>
                  <a:srgbClr val="2563EB"/>
                </a:solidFill>
                <a:latin typeface="Arial"/>
                <a:ea typeface="Arial"/>
                <a:cs typeface="Arial"/>
              </a:defRPr>
            </a:pPr>
            <a:r>
              <a:rPr sz="2325" b="1">
                <a:solidFill>
                  <a:srgbClr val="2563EB"/>
                </a:solidFill>
                <a:latin typeface="Arial"/>
                <a:ea typeface="Arial"/>
                <a:cs typeface="Arial"/>
              </a:rPr>
              <a:t>Validation loss</a:t>
            </a:r>
          </a:p>
          <a:p>
            <a:pPr algn="ctr">
              <a:defRPr sz="2325" b="1">
                <a:solidFill>
                  <a:srgbClr val="2563EB"/>
                </a:solidFill>
                <a:latin typeface="Arial"/>
                <a:ea typeface="Arial"/>
                <a:cs typeface="Arial"/>
              </a:defRPr>
            </a:pPr>
            <a:r>
              <a:rPr sz="2325" b="1">
                <a:solidFill>
                  <a:srgbClr val="2563EB"/>
                </a:solidFill>
                <a:latin typeface="Arial"/>
                <a:ea typeface="Arial"/>
                <a:cs typeface="Arial"/>
              </a:rPr>
              <a:t>0.3788 → 0.1032</a:t>
            </a:r>
          </a:p>
        </p:txBody>
      </p:sp>
      <p:sp>
        <p:nvSpPr>
          <p:cNvPr id="11" name="p1-check">
            <a:extLst>
              <a:ext uri="{FF2B5EF4-FFF2-40B4-BE49-F238E27FC236}">
                <a16:creationId xmlns:a16="http://schemas.microsoft.com/office/drawing/2014/main" id="{B8F10100-90EA-45F7-9082-8E1A663EB7CC}"/>
              </a:ext>
            </a:extLst>
          </p:cNvPr>
          <p:cNvSpPr>
            <a:spLocks noGrp="1"/>
          </p:cNvSpPr>
          <p:nvPr/>
        </p:nvSpPr>
        <p:spPr>
          <a:xfrm>
            <a:off x="714375" y="4953000"/>
            <a:ext cx="4286250" cy="323850"/>
          </a:xfrm>
          <a:prstGeom prst="rect">
            <a:avLst/>
          </a:prstGeom>
          <a:noFill/>
          <a:ln w="0">
            <a:noFill/>
            <a:prstDash val="solid"/>
          </a:ln>
        </p:spPr>
        <p:txBody>
          <a:bodyPr anchor="t"/>
          <a:lstStyle/>
          <a:p>
            <a:pPr algn="ctr">
              <a:defRPr sz="1275" b="0">
                <a:solidFill>
                  <a:srgbClr val="5B6472"/>
                </a:solidFill>
                <a:latin typeface="Arial"/>
                <a:ea typeface="Arial"/>
                <a:cs typeface="Arial"/>
              </a:defRPr>
            </a:pPr>
            <a:r>
              <a:rPr sz="1275" b="0">
                <a:solidFill>
                  <a:srgbClr val="5B6472"/>
                </a:solidFill>
                <a:latin typeface="Arial"/>
                <a:ea typeface="Arial"/>
                <a:cs typeface="Arial"/>
              </a:rPr>
              <a:t>Feature SD 0.448-0.463: activations did not collapse.</a:t>
            </a:r>
          </a:p>
        </p:txBody>
      </p:sp>
      <p:sp>
        <p:nvSpPr>
          <p:cNvPr id="12" name="p1-p2-arrow">
            <a:extLst>
              <a:ext uri="{FF2B5EF4-FFF2-40B4-BE49-F238E27FC236}">
                <a16:creationId xmlns:a16="http://schemas.microsoft.com/office/drawing/2014/main" id="{46C99FE5-DAD6-4FBE-8167-0D1E72812D5F}"/>
              </a:ext>
            </a:extLst>
          </p:cNvPr>
          <p:cNvSpPr>
            <a:spLocks noGrp="1"/>
          </p:cNvSpPr>
          <p:nvPr/>
        </p:nvSpPr>
        <p:spPr>
          <a:xfrm>
            <a:off x="5657850" y="3190875"/>
            <a:ext cx="666750" cy="590550"/>
          </a:xfrm>
          <a:prstGeom prst="rightArrow">
            <a:avLst/>
          </a:prstGeom>
          <a:solidFill>
            <a:srgbClr val="0F766E"/>
          </a:solidFill>
          <a:ln w="0">
            <a:solidFill>
              <a:srgbClr val="0F766E"/>
            </a:solidFill>
            <a:prstDash val="solid"/>
          </a:ln>
        </p:spPr>
        <p:txBody>
          <a:bodyPr/>
          <a:lstStyle/>
          <a:p>
            <a:endParaRPr lang="en-MY"/>
          </a:p>
        </p:txBody>
      </p:sp>
      <p:sp>
        <p:nvSpPr>
          <p:cNvPr id="13" name="p2-panel">
            <a:extLst>
              <a:ext uri="{FF2B5EF4-FFF2-40B4-BE49-F238E27FC236}">
                <a16:creationId xmlns:a16="http://schemas.microsoft.com/office/drawing/2014/main" id="{72325893-6D5C-40CA-88A0-380003D45150}"/>
              </a:ext>
            </a:extLst>
          </p:cNvPr>
          <p:cNvSpPr>
            <a:spLocks noGrp="1"/>
          </p:cNvSpPr>
          <p:nvPr/>
        </p:nvSpPr>
        <p:spPr>
          <a:xfrm>
            <a:off x="6486525" y="1952625"/>
            <a:ext cx="5305425" cy="3381375"/>
          </a:xfrm>
          <a:prstGeom prst="roundRect">
            <a:avLst>
              <a:gd name="adj" fmla="val 3380"/>
            </a:avLst>
          </a:prstGeom>
          <a:solidFill>
            <a:srgbClr val="E7F7F3"/>
          </a:solidFill>
          <a:ln w="0">
            <a:noFill/>
            <a:prstDash val="solid"/>
          </a:ln>
        </p:spPr>
        <p:txBody>
          <a:bodyPr/>
          <a:lstStyle/>
          <a:p>
            <a:endParaRPr lang="en-MY"/>
          </a:p>
        </p:txBody>
      </p:sp>
      <p:sp>
        <p:nvSpPr>
          <p:cNvPr id="14" name="p2-title">
            <a:extLst>
              <a:ext uri="{FF2B5EF4-FFF2-40B4-BE49-F238E27FC236}">
                <a16:creationId xmlns:a16="http://schemas.microsoft.com/office/drawing/2014/main" id="{9A13E22D-7916-4BF3-969F-7FE4F74F9888}"/>
              </a:ext>
            </a:extLst>
          </p:cNvPr>
          <p:cNvSpPr>
            <a:spLocks noGrp="1"/>
          </p:cNvSpPr>
          <p:nvPr/>
        </p:nvSpPr>
        <p:spPr>
          <a:xfrm>
            <a:off x="6800850" y="2209800"/>
            <a:ext cx="4686300" cy="428625"/>
          </a:xfrm>
          <a:prstGeom prst="rect">
            <a:avLst/>
          </a:prstGeom>
          <a:noFill/>
          <a:ln w="0">
            <a:noFill/>
            <a:prstDash val="solid"/>
          </a:ln>
        </p:spPr>
        <p:txBody>
          <a:bodyPr anchor="t"/>
          <a:lstStyle/>
          <a:p>
            <a:pPr algn="l">
              <a:defRPr sz="2100" b="1">
                <a:solidFill>
                  <a:srgbClr val="0F766E"/>
                </a:solidFill>
                <a:latin typeface="Arial"/>
                <a:ea typeface="Arial"/>
                <a:cs typeface="Arial"/>
              </a:defRPr>
            </a:pPr>
            <a:r>
              <a:rPr sz="2100" b="1">
                <a:solidFill>
                  <a:srgbClr val="0F766E"/>
                </a:solidFill>
                <a:latin typeface="Arial"/>
                <a:ea typeface="Arial"/>
                <a:cs typeface="Arial"/>
              </a:rPr>
              <a:t>P2  |  Bidirectional completion</a:t>
            </a:r>
          </a:p>
        </p:txBody>
      </p:sp>
      <p:sp>
        <p:nvSpPr>
          <p:cNvPr id="15" name="p2-body">
            <a:extLst>
              <a:ext uri="{FF2B5EF4-FFF2-40B4-BE49-F238E27FC236}">
                <a16:creationId xmlns:a16="http://schemas.microsoft.com/office/drawing/2014/main" id="{52576604-ABE1-4940-A0E7-61720FE5D22A}"/>
              </a:ext>
            </a:extLst>
          </p:cNvPr>
          <p:cNvSpPr>
            <a:spLocks noGrp="1"/>
          </p:cNvSpPr>
          <p:nvPr/>
        </p:nvSpPr>
        <p:spPr>
          <a:xfrm>
            <a:off x="6800850" y="2781300"/>
            <a:ext cx="4476750" cy="1104900"/>
          </a:xfrm>
          <a:prstGeom prst="rect">
            <a:avLst/>
          </a:prstGeom>
          <a:noFill/>
          <a:ln w="0">
            <a:noFill/>
            <a:prstDash val="solid"/>
          </a:ln>
        </p:spPr>
        <p:txBody>
          <a:bodyPr anchor="t"/>
          <a:lstStyle/>
          <a:p>
            <a:pPr algn="l">
              <a:defRPr sz="1650" b="0">
                <a:solidFill>
                  <a:srgbClr val="111827"/>
                </a:solidFill>
                <a:latin typeface="Arial"/>
                <a:ea typeface="Arial"/>
                <a:cs typeface="Arial"/>
              </a:defRPr>
            </a:pPr>
            <a:r>
              <a:rPr sz="1650" b="0">
                <a:solidFill>
                  <a:srgbClr val="111827"/>
                </a:solidFill>
                <a:latin typeface="Arial"/>
                <a:ea typeface="Arial"/>
                <a:cs typeface="Arial"/>
              </a:rPr>
              <a:t>Keep the masked objective</a:t>
            </a:r>
          </a:p>
          <a:p>
            <a:pPr algn="l">
              <a:defRPr sz="1650" b="0">
                <a:solidFill>
                  <a:srgbClr val="111827"/>
                </a:solidFill>
                <a:latin typeface="Arial"/>
                <a:ea typeface="Arial"/>
                <a:cs typeface="Arial"/>
              </a:defRPr>
            </a:pPr>
            <a:r>
              <a:rPr sz="1650" b="0">
                <a:solidFill>
                  <a:srgbClr val="111827"/>
                </a:solidFill>
                <a:latin typeface="Arial"/>
                <a:ea typeface="Arial"/>
                <a:cs typeface="Arial"/>
              </a:rPr>
              <a:t>Add AP → LAT and LAT → AP</a:t>
            </a:r>
          </a:p>
          <a:p>
            <a:pPr algn="l">
              <a:defRPr sz="1650" b="0">
                <a:solidFill>
                  <a:srgbClr val="111827"/>
                </a:solidFill>
                <a:latin typeface="Arial"/>
                <a:ea typeface="Arial"/>
                <a:cs typeface="Arial"/>
              </a:defRPr>
            </a:pPr>
            <a:r>
              <a:rPr sz="1650" b="0">
                <a:solidFill>
                  <a:srgbClr val="111827"/>
                </a:solidFill>
                <a:latin typeface="Arial"/>
                <a:ea typeface="Arial"/>
                <a:cs typeface="Arial"/>
              </a:rPr>
              <a:t>Still no 3D reconstruction target</a:t>
            </a:r>
          </a:p>
        </p:txBody>
      </p:sp>
      <p:sp>
        <p:nvSpPr>
          <p:cNvPr id="16" name="p2-metric">
            <a:extLst>
              <a:ext uri="{FF2B5EF4-FFF2-40B4-BE49-F238E27FC236}">
                <a16:creationId xmlns:a16="http://schemas.microsoft.com/office/drawing/2014/main" id="{A7D50E99-D07F-4633-B0F1-6977616F3DF7}"/>
              </a:ext>
            </a:extLst>
          </p:cNvPr>
          <p:cNvSpPr>
            <a:spLocks noGrp="1"/>
          </p:cNvSpPr>
          <p:nvPr/>
        </p:nvSpPr>
        <p:spPr>
          <a:xfrm>
            <a:off x="6800850" y="4105275"/>
            <a:ext cx="4476750" cy="762000"/>
          </a:xfrm>
          <a:prstGeom prst="rect">
            <a:avLst/>
          </a:prstGeom>
          <a:noFill/>
          <a:ln w="0">
            <a:noFill/>
            <a:prstDash val="solid"/>
          </a:ln>
        </p:spPr>
        <p:txBody>
          <a:bodyPr anchor="t"/>
          <a:lstStyle/>
          <a:p>
            <a:pPr algn="ctr">
              <a:defRPr sz="2325" b="1">
                <a:solidFill>
                  <a:srgbClr val="0F766E"/>
                </a:solidFill>
                <a:latin typeface="Arial"/>
                <a:ea typeface="Arial"/>
                <a:cs typeface="Arial"/>
              </a:defRPr>
            </a:pPr>
            <a:r>
              <a:rPr sz="2325" b="1">
                <a:solidFill>
                  <a:srgbClr val="0F766E"/>
                </a:solidFill>
                <a:latin typeface="Arial"/>
                <a:ea typeface="Arial"/>
                <a:cs typeface="Arial"/>
              </a:rPr>
              <a:t>Validation loss</a:t>
            </a:r>
          </a:p>
          <a:p>
            <a:pPr algn="ctr">
              <a:defRPr sz="2325" b="1">
                <a:solidFill>
                  <a:srgbClr val="0F766E"/>
                </a:solidFill>
                <a:latin typeface="Arial"/>
                <a:ea typeface="Arial"/>
                <a:cs typeface="Arial"/>
              </a:defRPr>
            </a:pPr>
            <a:r>
              <a:rPr sz="2325" b="1">
                <a:solidFill>
                  <a:srgbClr val="0F766E"/>
                </a:solidFill>
                <a:latin typeface="Arial"/>
                <a:ea typeface="Arial"/>
                <a:cs typeface="Arial"/>
              </a:rPr>
              <a:t>0.4774 → 0.4298</a:t>
            </a:r>
          </a:p>
        </p:txBody>
      </p:sp>
      <p:sp>
        <p:nvSpPr>
          <p:cNvPr id="17" name="p2-check">
            <a:extLst>
              <a:ext uri="{FF2B5EF4-FFF2-40B4-BE49-F238E27FC236}">
                <a16:creationId xmlns:a16="http://schemas.microsoft.com/office/drawing/2014/main" id="{391A2977-829E-472B-9BEA-62E6B04CEA27}"/>
              </a:ext>
            </a:extLst>
          </p:cNvPr>
          <p:cNvSpPr>
            <a:spLocks noGrp="1"/>
          </p:cNvSpPr>
          <p:nvPr/>
        </p:nvSpPr>
        <p:spPr>
          <a:xfrm>
            <a:off x="6800850" y="4953000"/>
            <a:ext cx="4476750" cy="323850"/>
          </a:xfrm>
          <a:prstGeom prst="rect">
            <a:avLst/>
          </a:prstGeom>
          <a:noFill/>
          <a:ln w="0">
            <a:noFill/>
            <a:prstDash val="solid"/>
          </a:ln>
        </p:spPr>
        <p:txBody>
          <a:bodyPr anchor="t"/>
          <a:lstStyle/>
          <a:p>
            <a:pPr algn="ctr">
              <a:defRPr sz="1275" b="0">
                <a:solidFill>
                  <a:srgbClr val="5B6472"/>
                </a:solidFill>
                <a:latin typeface="Arial"/>
                <a:ea typeface="Arial"/>
                <a:cs typeface="Arial"/>
              </a:defRPr>
            </a:pPr>
            <a:r>
              <a:rPr sz="1275" b="0">
                <a:solidFill>
                  <a:srgbClr val="5B6472"/>
                </a:solidFill>
                <a:latin typeface="Arial"/>
                <a:ea typeface="Arial"/>
                <a:cs typeface="Arial"/>
              </a:rPr>
              <a:t>Correct-pair margins were positive in all folds, but Fold 4 was weak.</a:t>
            </a:r>
          </a:p>
        </p:txBody>
      </p:sp>
      <p:sp>
        <p:nvSpPr>
          <p:cNvPr id="18" name="encoder-caveat">
            <a:extLst>
              <a:ext uri="{FF2B5EF4-FFF2-40B4-BE49-F238E27FC236}">
                <a16:creationId xmlns:a16="http://schemas.microsoft.com/office/drawing/2014/main" id="{79F6104C-DE3E-4944-ACFE-395FF982A1B7}"/>
              </a:ext>
            </a:extLst>
          </p:cNvPr>
          <p:cNvSpPr>
            <a:spLocks noGrp="1"/>
          </p:cNvSpPr>
          <p:nvPr/>
        </p:nvSpPr>
        <p:spPr>
          <a:xfrm>
            <a:off x="1123950" y="5762625"/>
            <a:ext cx="9944100" cy="457200"/>
          </a:xfrm>
          <a:prstGeom prst="rect">
            <a:avLst/>
          </a:prstGeom>
          <a:noFill/>
          <a:ln w="0">
            <a:noFill/>
            <a:prstDash val="solid"/>
          </a:ln>
        </p:spPr>
        <p:txBody>
          <a:bodyPr anchor="t"/>
          <a:lstStyle/>
          <a:p>
            <a:pPr algn="ctr">
              <a:defRPr sz="1425" b="1">
                <a:solidFill>
                  <a:srgbClr val="B91C1C"/>
                </a:solidFill>
                <a:latin typeface="Arial"/>
                <a:ea typeface="Arial"/>
                <a:cs typeface="Arial"/>
              </a:defRPr>
            </a:pPr>
            <a:r>
              <a:rPr sz="1425" b="1">
                <a:solidFill>
                  <a:srgbClr val="B91C1C"/>
                </a:solidFill>
                <a:latin typeface="Arial"/>
                <a:ea typeface="Arial"/>
                <a:cs typeface="Arial"/>
              </a:rPr>
              <a:t>P1 and P2 losses measure different tasks and should not be compared directly; neither alone proves accurate 3D reconstruction.</a:t>
            </a:r>
          </a:p>
        </p:txBody>
      </p:sp>
    </p:spTree>
    <p:extLst>
      <p:ext uri="{BB962C8B-B14F-4D97-AF65-F5344CB8AC3E}">
        <p14:creationId xmlns:p14="http://schemas.microsoft.com/office/powerpoint/2010/main" val="1440575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3" name="section-11">
            <a:extLst>
              <a:ext uri="{FF2B5EF4-FFF2-40B4-BE49-F238E27FC236}">
                <a16:creationId xmlns:a16="http://schemas.microsoft.com/office/drawing/2014/main" id="{F570357E-E019-4726-9197-EA59F05C3D5C}"/>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1">
            <a:extLst>
              <a:ext uri="{FF2B5EF4-FFF2-40B4-BE49-F238E27FC236}">
                <a16:creationId xmlns:a16="http://schemas.microsoft.com/office/drawing/2014/main" id="{85A986E2-160D-4EB8-BC17-88477C32D55E}"/>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The shared front end was fair—but small bones set the ceiling</a:t>
            </a:r>
          </a:p>
        </p:txBody>
      </p:sp>
      <p:cxnSp>
        <p:nvCxnSpPr>
          <p:cNvPr id="15" name="rule-11"/>
          <p:cNvCxnSpPr/>
          <p:nvPr/>
        </p:nvCxnSpPr>
        <p:spPr>
          <a:xfrm>
            <a:off x="400050" y="1285875"/>
            <a:ext cx="11391900" cy="0"/>
          </a:xfrm>
          <a:prstGeom prst="straightConnector1">
            <a:avLst/>
          </a:prstGeom>
          <a:ln w="9525">
            <a:solidFill>
              <a:srgbClr val="D9DEE7"/>
            </a:solidFill>
            <a:prstDash val="solid"/>
          </a:ln>
        </p:spPr>
      </p:cxnSp>
      <p:sp>
        <p:nvSpPr>
          <p:cNvPr id="4" name="source-11">
            <a:extLst>
              <a:ext uri="{FF2B5EF4-FFF2-40B4-BE49-F238E27FC236}">
                <a16:creationId xmlns:a16="http://schemas.microsoft.com/office/drawing/2014/main" id="{64932D96-0167-422A-8AB7-D0D6424835B2}"/>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114–120</a:t>
            </a:r>
          </a:p>
        </p:txBody>
      </p:sp>
      <p:sp>
        <p:nvSpPr>
          <p:cNvPr id="5" name="page-11">
            <a:extLst>
              <a:ext uri="{FF2B5EF4-FFF2-40B4-BE49-F238E27FC236}">
                <a16:creationId xmlns:a16="http://schemas.microsoft.com/office/drawing/2014/main" id="{B9AF6BB1-F398-454D-85A9-7511285913E3}"/>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11</a:t>
            </a:r>
          </a:p>
        </p:txBody>
      </p:sp>
      <p:pic>
        <p:nvPicPr>
          <p:cNvPr id="18" name="Picture 17"/>
          <p:cNvPicPr>
            <a:picLocks noChangeAspect="1"/>
          </p:cNvPicPr>
          <p:nvPr/>
        </p:nvPicPr>
        <p:blipFill>
          <a:blip r:embed="rId3"/>
          <a:stretch/>
        </p:blipFill>
        <p:spPr>
          <a:xfrm>
            <a:off x="400050" y="1852565"/>
            <a:ext cx="7019925" cy="2543271"/>
          </a:xfrm>
          <a:prstGeom prst="roundRect">
            <a:avLst>
              <a:gd name="adj" fmla="val 4000"/>
            </a:avLst>
          </a:prstGeom>
        </p:spPr>
      </p:pic>
      <p:sp>
        <p:nvSpPr>
          <p:cNvPr id="7" name="bridge-panel">
            <a:extLst>
              <a:ext uri="{FF2B5EF4-FFF2-40B4-BE49-F238E27FC236}">
                <a16:creationId xmlns:a16="http://schemas.microsoft.com/office/drawing/2014/main" id="{224A0638-618F-4B9A-840E-2BA62AF3602F}"/>
              </a:ext>
            </a:extLst>
          </p:cNvPr>
          <p:cNvSpPr>
            <a:spLocks noGrp="1"/>
          </p:cNvSpPr>
          <p:nvPr/>
        </p:nvSpPr>
        <p:spPr>
          <a:xfrm>
            <a:off x="7848600" y="1695450"/>
            <a:ext cx="3943350" cy="1657350"/>
          </a:xfrm>
          <a:prstGeom prst="roundRect">
            <a:avLst>
              <a:gd name="adj" fmla="val 6897"/>
            </a:avLst>
          </a:prstGeom>
          <a:solidFill>
            <a:srgbClr val="F1F3F6"/>
          </a:solidFill>
          <a:ln w="0">
            <a:noFill/>
            <a:prstDash val="solid"/>
          </a:ln>
        </p:spPr>
        <p:txBody>
          <a:bodyPr/>
          <a:lstStyle/>
          <a:p>
            <a:endParaRPr lang="en-MY"/>
          </a:p>
        </p:txBody>
      </p:sp>
      <p:sp>
        <p:nvSpPr>
          <p:cNvPr id="8" name="bridge-value">
            <a:extLst>
              <a:ext uri="{FF2B5EF4-FFF2-40B4-BE49-F238E27FC236}">
                <a16:creationId xmlns:a16="http://schemas.microsoft.com/office/drawing/2014/main" id="{16052896-AC74-4943-A693-B24EE893C910}"/>
              </a:ext>
            </a:extLst>
          </p:cNvPr>
          <p:cNvSpPr>
            <a:spLocks noGrp="1"/>
          </p:cNvSpPr>
          <p:nvPr/>
        </p:nvSpPr>
        <p:spPr>
          <a:xfrm>
            <a:off x="8058150" y="1905000"/>
            <a:ext cx="3524250" cy="666750"/>
          </a:xfrm>
          <a:prstGeom prst="rect">
            <a:avLst/>
          </a:prstGeom>
          <a:noFill/>
          <a:ln w="0">
            <a:noFill/>
            <a:prstDash val="solid"/>
          </a:ln>
        </p:spPr>
        <p:txBody>
          <a:bodyPr anchor="t"/>
          <a:lstStyle/>
          <a:p>
            <a:pPr algn="l">
              <a:defRPr sz="3600" b="1">
                <a:solidFill>
                  <a:srgbClr val="2563EB"/>
                </a:solidFill>
                <a:latin typeface="Arial"/>
                <a:ea typeface="Arial"/>
                <a:cs typeface="Arial"/>
              </a:defRPr>
            </a:pPr>
            <a:r>
              <a:rPr sz="3600" b="1">
                <a:solidFill>
                  <a:srgbClr val="2563EB"/>
                </a:solidFill>
                <a:latin typeface="Arial"/>
                <a:ea typeface="Arial"/>
                <a:cs typeface="Arial"/>
              </a:rPr>
              <a:t>0.574</a:t>
            </a:r>
          </a:p>
        </p:txBody>
      </p:sp>
      <p:sp>
        <p:nvSpPr>
          <p:cNvPr id="9" name="bridge-label">
            <a:extLst>
              <a:ext uri="{FF2B5EF4-FFF2-40B4-BE49-F238E27FC236}">
                <a16:creationId xmlns:a16="http://schemas.microsoft.com/office/drawing/2014/main" id="{D69C72F5-4731-4B23-9C24-115CD582DBA9}"/>
              </a:ext>
            </a:extLst>
          </p:cNvPr>
          <p:cNvSpPr>
            <a:spLocks noGrp="1"/>
          </p:cNvSpPr>
          <p:nvPr/>
        </p:nvSpPr>
        <p:spPr>
          <a:xfrm>
            <a:off x="8058150" y="2657475"/>
            <a:ext cx="3524250"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best validation macro-Dice</a:t>
            </a:r>
          </a:p>
        </p:txBody>
      </p:sp>
      <p:sp>
        <p:nvSpPr>
          <p:cNvPr id="10" name="front-end-detail">
            <a:extLst>
              <a:ext uri="{FF2B5EF4-FFF2-40B4-BE49-F238E27FC236}">
                <a16:creationId xmlns:a16="http://schemas.microsoft.com/office/drawing/2014/main" id="{3328EEA4-10D5-4F80-876A-801D72E368B8}"/>
              </a:ext>
            </a:extLst>
          </p:cNvPr>
          <p:cNvSpPr>
            <a:spLocks noGrp="1"/>
          </p:cNvSpPr>
          <p:nvPr/>
        </p:nvSpPr>
        <p:spPr>
          <a:xfrm>
            <a:off x="7848600" y="3695700"/>
            <a:ext cx="3943350" cy="876300"/>
          </a:xfrm>
          <a:prstGeom prst="rect">
            <a:avLst/>
          </a:prstGeom>
          <a:noFill/>
          <a:ln w="0">
            <a:noFill/>
            <a:prstDash val="solid"/>
          </a:ln>
        </p:spPr>
        <p:txBody>
          <a:bodyPr anchor="t"/>
          <a:lstStyle/>
          <a:p>
            <a:pPr algn="ctr">
              <a:defRPr sz="1875" b="1">
                <a:solidFill>
                  <a:srgbClr val="111827"/>
                </a:solidFill>
                <a:latin typeface="Arial"/>
                <a:ea typeface="Arial"/>
                <a:cs typeface="Arial"/>
              </a:defRPr>
            </a:pPr>
            <a:r>
              <a:rPr sz="1875" b="1">
                <a:solidFill>
                  <a:srgbClr val="111827"/>
                </a:solidFill>
                <a:latin typeface="Arial"/>
                <a:ea typeface="Arial"/>
                <a:cs typeface="Arial"/>
              </a:rPr>
              <a:t>Femur 0.732  ·  Tibia 0.676</a:t>
            </a:r>
          </a:p>
          <a:p>
            <a:pPr algn="ctr">
              <a:defRPr sz="1875" b="1">
                <a:solidFill>
                  <a:srgbClr val="111827"/>
                </a:solidFill>
                <a:latin typeface="Arial"/>
                <a:ea typeface="Arial"/>
                <a:cs typeface="Arial"/>
              </a:defRPr>
            </a:pPr>
            <a:r>
              <a:rPr sz="1875" b="1">
                <a:solidFill>
                  <a:srgbClr val="111827"/>
                </a:solidFill>
                <a:latin typeface="Arial"/>
                <a:ea typeface="Arial"/>
                <a:cs typeface="Arial"/>
              </a:rPr>
              <a:t>Patella 0.529  ·  Fibula 0.359</a:t>
            </a:r>
          </a:p>
        </p:txBody>
      </p:sp>
      <p:sp>
        <p:nvSpPr>
          <p:cNvPr id="11" name="front-end-meaning">
            <a:extLst>
              <a:ext uri="{FF2B5EF4-FFF2-40B4-BE49-F238E27FC236}">
                <a16:creationId xmlns:a16="http://schemas.microsoft.com/office/drawing/2014/main" id="{43CA025A-8D47-40E3-8FEA-0000049A7387}"/>
              </a:ext>
            </a:extLst>
          </p:cNvPr>
          <p:cNvSpPr>
            <a:spLocks noGrp="1"/>
          </p:cNvSpPr>
          <p:nvPr/>
        </p:nvSpPr>
        <p:spPr>
          <a:xfrm>
            <a:off x="762000" y="5019675"/>
            <a:ext cx="10668000" cy="723900"/>
          </a:xfrm>
          <a:prstGeom prst="rect">
            <a:avLst/>
          </a:prstGeom>
          <a:noFill/>
          <a:ln w="0">
            <a:noFill/>
            <a:prstDash val="solid"/>
          </a:ln>
        </p:spPr>
        <p:txBody>
          <a:bodyPr anchor="t"/>
          <a:lstStyle/>
          <a:p>
            <a:pPr algn="ctr">
              <a:defRPr sz="1875" b="0">
                <a:solidFill>
                  <a:srgbClr val="5B6472"/>
                </a:solidFill>
                <a:latin typeface="Arial"/>
                <a:ea typeface="Arial"/>
                <a:cs typeface="Arial"/>
              </a:defRPr>
            </a:pPr>
            <a:r>
              <a:rPr sz="1875" b="0">
                <a:solidFill>
                  <a:srgbClr val="5B6472"/>
                </a:solidFill>
                <a:latin typeface="Arial"/>
                <a:ea typeface="Arial"/>
                <a:cs typeface="Arial"/>
              </a:rPr>
              <a:t>The same size-dependent hierarchy later appears in every decoder—evidence of a pipeline-level limit, not a decoder-only defect.</a:t>
            </a:r>
          </a:p>
        </p:txBody>
      </p:sp>
      <p:sp>
        <p:nvSpPr>
          <p:cNvPr id="12" name="front-end-caveat">
            <a:extLst>
              <a:ext uri="{FF2B5EF4-FFF2-40B4-BE49-F238E27FC236}">
                <a16:creationId xmlns:a16="http://schemas.microsoft.com/office/drawing/2014/main" id="{630B6A83-C390-477C-BEE4-A15CE6F21CC5}"/>
              </a:ext>
            </a:extLst>
          </p:cNvPr>
          <p:cNvSpPr>
            <a:spLocks noGrp="1"/>
          </p:cNvSpPr>
          <p:nvPr/>
        </p:nvSpPr>
        <p:spPr>
          <a:xfrm>
            <a:off x="3009900" y="5876925"/>
            <a:ext cx="6191250" cy="323850"/>
          </a:xfrm>
          <a:prstGeom prst="rect">
            <a:avLst/>
          </a:prstGeom>
          <a:noFill/>
          <a:ln w="0">
            <a:noFill/>
            <a:prstDash val="solid"/>
          </a:ln>
        </p:spPr>
        <p:txBody>
          <a:bodyPr anchor="t"/>
          <a:lstStyle/>
          <a:p>
            <a:pPr algn="ctr">
              <a:defRPr sz="1725" b="1">
                <a:solidFill>
                  <a:srgbClr val="B91C1C"/>
                </a:solidFill>
                <a:latin typeface="Arial"/>
                <a:ea typeface="Arial"/>
                <a:cs typeface="Arial"/>
              </a:defRPr>
            </a:pPr>
            <a:r>
              <a:rPr sz="1725" b="1">
                <a:solidFill>
                  <a:srgbClr val="B91C1C"/>
                </a:solidFill>
                <a:latin typeface="Arial"/>
                <a:ea typeface="Arial"/>
                <a:cs typeface="Arial"/>
              </a:rPr>
              <a:t>Fair representation ≠ high-quality representation</a:t>
            </a:r>
          </a:p>
        </p:txBody>
      </p:sp>
    </p:spTree>
    <p:extLst>
      <p:ext uri="{BB962C8B-B14F-4D97-AF65-F5344CB8AC3E}">
        <p14:creationId xmlns:p14="http://schemas.microsoft.com/office/powerpoint/2010/main" val="321907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4" name="section-12">
            <a:extLst>
              <a:ext uri="{FF2B5EF4-FFF2-40B4-BE49-F238E27FC236}">
                <a16:creationId xmlns:a16="http://schemas.microsoft.com/office/drawing/2014/main" id="{00968AE5-1023-4D80-9B6E-2A84E85E03D9}"/>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2">
            <a:extLst>
              <a:ext uri="{FF2B5EF4-FFF2-40B4-BE49-F238E27FC236}">
                <a16:creationId xmlns:a16="http://schemas.microsoft.com/office/drawing/2014/main" id="{994A9B39-01D7-40D8-B079-BAA5C39DBABA}"/>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Residual-ReLU leads the controlled decoder test</a:t>
            </a:r>
          </a:p>
        </p:txBody>
      </p:sp>
      <p:cxnSp>
        <p:nvCxnSpPr>
          <p:cNvPr id="16" name="rule-12"/>
          <p:cNvCxnSpPr/>
          <p:nvPr/>
        </p:nvCxnSpPr>
        <p:spPr>
          <a:xfrm>
            <a:off x="400050" y="1285875"/>
            <a:ext cx="11391900" cy="0"/>
          </a:xfrm>
          <a:prstGeom prst="straightConnector1">
            <a:avLst/>
          </a:prstGeom>
          <a:ln w="9525">
            <a:solidFill>
              <a:srgbClr val="D9DEE7"/>
            </a:solidFill>
            <a:prstDash val="solid"/>
          </a:ln>
        </p:spPr>
      </p:cxnSp>
      <p:sp>
        <p:nvSpPr>
          <p:cNvPr id="4" name="source-12">
            <a:extLst>
              <a:ext uri="{FF2B5EF4-FFF2-40B4-BE49-F238E27FC236}">
                <a16:creationId xmlns:a16="http://schemas.microsoft.com/office/drawing/2014/main" id="{7C9591E7-5E7C-4E78-8B51-083F376BAD01}"/>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123–126</a:t>
            </a:r>
          </a:p>
        </p:txBody>
      </p:sp>
      <p:sp>
        <p:nvSpPr>
          <p:cNvPr id="5" name="page-12">
            <a:extLst>
              <a:ext uri="{FF2B5EF4-FFF2-40B4-BE49-F238E27FC236}">
                <a16:creationId xmlns:a16="http://schemas.microsoft.com/office/drawing/2014/main" id="{8D8E47CE-CFBF-40BE-992E-64B9BA4DFBCC}"/>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12</a:t>
            </a:r>
          </a:p>
        </p:txBody>
      </p:sp>
      <p:graphicFrame>
        <p:nvGraphicFramePr>
          <p:cNvPr id="19" name="Chart"/>
          <p:cNvGraphicFramePr/>
          <p:nvPr/>
        </p:nvGraphicFramePr>
        <p:xfrm>
          <a:off x="400050" y="1866900"/>
          <a:ext cx="5619750" cy="4152900"/>
        </p:xfrm>
        <a:graphic>
          <a:graphicData uri="http://schemas.openxmlformats.org/drawingml/2006/chart">
            <c:chart xmlns:c="http://schemas.openxmlformats.org/drawingml/2006/chart" xmlns:r="http://schemas.openxmlformats.org/officeDocument/2006/relationships" r:id="rId3"/>
          </a:graphicData>
        </a:graphic>
      </p:graphicFrame>
      <p:sp>
        <p:nvSpPr>
          <p:cNvPr id="7" name="dice-gain-panel">
            <a:extLst>
              <a:ext uri="{FF2B5EF4-FFF2-40B4-BE49-F238E27FC236}">
                <a16:creationId xmlns:a16="http://schemas.microsoft.com/office/drawing/2014/main" id="{EF3364AB-F5CD-4995-97FE-7DF62F61CD67}"/>
              </a:ext>
            </a:extLst>
          </p:cNvPr>
          <p:cNvSpPr>
            <a:spLocks noGrp="1"/>
          </p:cNvSpPr>
          <p:nvPr/>
        </p:nvSpPr>
        <p:spPr>
          <a:xfrm>
            <a:off x="6429375" y="1695450"/>
            <a:ext cx="5362575" cy="1657350"/>
          </a:xfrm>
          <a:prstGeom prst="roundRect">
            <a:avLst>
              <a:gd name="adj" fmla="val 6897"/>
            </a:avLst>
          </a:prstGeom>
          <a:solidFill>
            <a:srgbClr val="F1F3F6"/>
          </a:solidFill>
          <a:ln w="0">
            <a:noFill/>
            <a:prstDash val="solid"/>
          </a:ln>
        </p:spPr>
        <p:txBody>
          <a:bodyPr/>
          <a:lstStyle/>
          <a:p>
            <a:endParaRPr lang="en-MY"/>
          </a:p>
        </p:txBody>
      </p:sp>
      <p:sp>
        <p:nvSpPr>
          <p:cNvPr id="8" name="dice-gain-value">
            <a:extLst>
              <a:ext uri="{FF2B5EF4-FFF2-40B4-BE49-F238E27FC236}">
                <a16:creationId xmlns:a16="http://schemas.microsoft.com/office/drawing/2014/main" id="{3CFA4F27-4D0B-4BA0-895A-4E7AF2573460}"/>
              </a:ext>
            </a:extLst>
          </p:cNvPr>
          <p:cNvSpPr>
            <a:spLocks noGrp="1"/>
          </p:cNvSpPr>
          <p:nvPr/>
        </p:nvSpPr>
        <p:spPr>
          <a:xfrm>
            <a:off x="6638925" y="1905000"/>
            <a:ext cx="4943475" cy="666750"/>
          </a:xfrm>
          <a:prstGeom prst="rect">
            <a:avLst/>
          </a:prstGeom>
          <a:noFill/>
          <a:ln w="0">
            <a:noFill/>
            <a:prstDash val="solid"/>
          </a:ln>
        </p:spPr>
        <p:txBody>
          <a:bodyPr anchor="t"/>
          <a:lstStyle/>
          <a:p>
            <a:pPr algn="l">
              <a:defRPr sz="3600" b="1">
                <a:solidFill>
                  <a:srgbClr val="0F766E"/>
                </a:solidFill>
                <a:latin typeface="Arial"/>
                <a:ea typeface="Arial"/>
                <a:cs typeface="Arial"/>
              </a:defRPr>
            </a:pPr>
            <a:r>
              <a:rPr sz="3600" b="1">
                <a:solidFill>
                  <a:srgbClr val="0F766E"/>
                </a:solidFill>
                <a:latin typeface="Arial"/>
                <a:ea typeface="Arial"/>
                <a:cs typeface="Arial"/>
              </a:rPr>
              <a:t>+0.049</a:t>
            </a:r>
          </a:p>
        </p:txBody>
      </p:sp>
      <p:sp>
        <p:nvSpPr>
          <p:cNvPr id="9" name="dice-gain-label">
            <a:extLst>
              <a:ext uri="{FF2B5EF4-FFF2-40B4-BE49-F238E27FC236}">
                <a16:creationId xmlns:a16="http://schemas.microsoft.com/office/drawing/2014/main" id="{638E1564-472E-4CEC-A0A0-3AEB30524490}"/>
              </a:ext>
            </a:extLst>
          </p:cNvPr>
          <p:cNvSpPr>
            <a:spLocks noGrp="1"/>
          </p:cNvSpPr>
          <p:nvPr/>
        </p:nvSpPr>
        <p:spPr>
          <a:xfrm>
            <a:off x="6638925" y="2657475"/>
            <a:ext cx="4943475"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Dice: residual added under ReLU</a:t>
            </a:r>
          </a:p>
        </p:txBody>
      </p:sp>
      <p:sp>
        <p:nvSpPr>
          <p:cNvPr id="10" name="assd-gain-panel">
            <a:extLst>
              <a:ext uri="{FF2B5EF4-FFF2-40B4-BE49-F238E27FC236}">
                <a16:creationId xmlns:a16="http://schemas.microsoft.com/office/drawing/2014/main" id="{1A21E189-04D1-4C52-9AB1-7AA228B8D3D3}"/>
              </a:ext>
            </a:extLst>
          </p:cNvPr>
          <p:cNvSpPr>
            <a:spLocks noGrp="1"/>
          </p:cNvSpPr>
          <p:nvPr/>
        </p:nvSpPr>
        <p:spPr>
          <a:xfrm>
            <a:off x="6429375" y="3524250"/>
            <a:ext cx="5362575" cy="1657350"/>
          </a:xfrm>
          <a:prstGeom prst="roundRect">
            <a:avLst>
              <a:gd name="adj" fmla="val 6897"/>
            </a:avLst>
          </a:prstGeom>
          <a:solidFill>
            <a:srgbClr val="F1F3F6"/>
          </a:solidFill>
          <a:ln w="0">
            <a:noFill/>
            <a:prstDash val="solid"/>
          </a:ln>
        </p:spPr>
        <p:txBody>
          <a:bodyPr/>
          <a:lstStyle/>
          <a:p>
            <a:endParaRPr lang="en-MY"/>
          </a:p>
        </p:txBody>
      </p:sp>
      <p:sp>
        <p:nvSpPr>
          <p:cNvPr id="11" name="assd-gain-value">
            <a:extLst>
              <a:ext uri="{FF2B5EF4-FFF2-40B4-BE49-F238E27FC236}">
                <a16:creationId xmlns:a16="http://schemas.microsoft.com/office/drawing/2014/main" id="{5E127BEC-F88D-4B0B-91EB-D8DD8B394A86}"/>
              </a:ext>
            </a:extLst>
          </p:cNvPr>
          <p:cNvSpPr>
            <a:spLocks noGrp="1"/>
          </p:cNvSpPr>
          <p:nvPr/>
        </p:nvSpPr>
        <p:spPr>
          <a:xfrm>
            <a:off x="6638925" y="3733800"/>
            <a:ext cx="4943475" cy="666750"/>
          </a:xfrm>
          <a:prstGeom prst="rect">
            <a:avLst/>
          </a:prstGeom>
          <a:noFill/>
          <a:ln w="0">
            <a:noFill/>
            <a:prstDash val="solid"/>
          </a:ln>
        </p:spPr>
        <p:txBody>
          <a:bodyPr anchor="t"/>
          <a:lstStyle/>
          <a:p>
            <a:pPr algn="l">
              <a:defRPr sz="3600" b="1">
                <a:solidFill>
                  <a:srgbClr val="0F766E"/>
                </a:solidFill>
                <a:latin typeface="Arial"/>
                <a:ea typeface="Arial"/>
                <a:cs typeface="Arial"/>
              </a:defRPr>
            </a:pPr>
            <a:r>
              <a:rPr sz="3600" b="1">
                <a:solidFill>
                  <a:srgbClr val="0F766E"/>
                </a:solidFill>
                <a:latin typeface="Arial"/>
                <a:ea typeface="Arial"/>
                <a:cs typeface="Arial"/>
              </a:rPr>
              <a:t>−2.44 mm</a:t>
            </a:r>
          </a:p>
        </p:txBody>
      </p:sp>
      <p:sp>
        <p:nvSpPr>
          <p:cNvPr id="12" name="assd-gain-label">
            <a:extLst>
              <a:ext uri="{FF2B5EF4-FFF2-40B4-BE49-F238E27FC236}">
                <a16:creationId xmlns:a16="http://schemas.microsoft.com/office/drawing/2014/main" id="{7FB92D2D-974B-481D-AD27-3B9C1216D9A9}"/>
              </a:ext>
            </a:extLst>
          </p:cNvPr>
          <p:cNvSpPr>
            <a:spLocks noGrp="1"/>
          </p:cNvSpPr>
          <p:nvPr/>
        </p:nvSpPr>
        <p:spPr>
          <a:xfrm>
            <a:off x="6638925" y="4486275"/>
            <a:ext cx="4943475"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ASSD: residual added under ReLU</a:t>
            </a:r>
          </a:p>
        </p:txBody>
      </p:sp>
      <p:sp>
        <p:nvSpPr>
          <p:cNvPr id="13" name="cost">
            <a:extLst>
              <a:ext uri="{FF2B5EF4-FFF2-40B4-BE49-F238E27FC236}">
                <a16:creationId xmlns:a16="http://schemas.microsoft.com/office/drawing/2014/main" id="{8466032F-88B3-4ADF-95B3-F03A0AFB1D38}"/>
              </a:ext>
            </a:extLst>
          </p:cNvPr>
          <p:cNvSpPr>
            <a:spLocks noGrp="1"/>
          </p:cNvSpPr>
          <p:nvPr/>
        </p:nvSpPr>
        <p:spPr>
          <a:xfrm>
            <a:off x="6429375" y="5438775"/>
            <a:ext cx="5362575" cy="638175"/>
          </a:xfrm>
          <a:prstGeom prst="rect">
            <a:avLst/>
          </a:prstGeom>
          <a:noFill/>
          <a:ln w="0">
            <a:noFill/>
            <a:prstDash val="solid"/>
          </a:ln>
        </p:spPr>
        <p:txBody>
          <a:bodyPr anchor="t"/>
          <a:lstStyle/>
          <a:p>
            <a:pPr algn="ctr">
              <a:defRPr sz="1575" b="0">
                <a:solidFill>
                  <a:srgbClr val="5B6472"/>
                </a:solidFill>
                <a:latin typeface="Arial"/>
                <a:ea typeface="Arial"/>
                <a:cs typeface="Arial"/>
              </a:defRPr>
            </a:pPr>
            <a:r>
              <a:rPr sz="1575" b="0">
                <a:solidFill>
                  <a:srgbClr val="5B6472"/>
                </a:solidFill>
                <a:latin typeface="Arial"/>
                <a:ea typeface="Arial"/>
                <a:cs typeface="Arial"/>
              </a:rPr>
              <a:t>≈2.1% more decoder parameters</a:t>
            </a:r>
          </a:p>
          <a:p>
            <a:pPr algn="ctr">
              <a:defRPr sz="1575" b="0">
                <a:solidFill>
                  <a:srgbClr val="5B6472"/>
                </a:solidFill>
                <a:latin typeface="Arial"/>
                <a:ea typeface="Arial"/>
                <a:cs typeface="Arial"/>
              </a:defRPr>
            </a:pPr>
            <a:r>
              <a:rPr sz="1575" b="0">
                <a:solidFill>
                  <a:srgbClr val="5B6472"/>
                </a:solidFill>
                <a:latin typeface="Arial"/>
                <a:ea typeface="Arial"/>
                <a:cs typeface="Arial"/>
              </a:rPr>
              <a:t>Training time remained ~37.5–38.3 minutes/run</a:t>
            </a:r>
          </a:p>
        </p:txBody>
      </p:sp>
    </p:spTree>
    <p:extLst>
      <p:ext uri="{BB962C8B-B14F-4D97-AF65-F5344CB8AC3E}">
        <p14:creationId xmlns:p14="http://schemas.microsoft.com/office/powerpoint/2010/main" val="2014169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ction-15">
            <a:extLst>
              <a:ext uri="{FF2B5EF4-FFF2-40B4-BE49-F238E27FC236}">
                <a16:creationId xmlns:a16="http://schemas.microsoft.com/office/drawing/2014/main" id="{0B98B6C6-1174-4B36-88D0-24F75E959D7D}"/>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5">
            <a:extLst>
              <a:ext uri="{FF2B5EF4-FFF2-40B4-BE49-F238E27FC236}">
                <a16:creationId xmlns:a16="http://schemas.microsoft.com/office/drawing/2014/main" id="{E4D77536-5254-4F0C-9EFF-0CBA7F80624E}"/>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Fold 4 lowered accuracy—not the conclusion</a:t>
            </a:r>
          </a:p>
        </p:txBody>
      </p:sp>
      <p:cxnSp>
        <p:nvCxnSpPr>
          <p:cNvPr id="15" name="rule-15"/>
          <p:cNvCxnSpPr/>
          <p:nvPr/>
        </p:nvCxnSpPr>
        <p:spPr>
          <a:xfrm>
            <a:off x="400050" y="1285875"/>
            <a:ext cx="11391900" cy="0"/>
          </a:xfrm>
          <a:prstGeom prst="straightConnector1">
            <a:avLst/>
          </a:prstGeom>
          <a:ln w="9525">
            <a:solidFill>
              <a:srgbClr val="D9DEE7"/>
            </a:solidFill>
            <a:prstDash val="solid"/>
          </a:ln>
        </p:spPr>
      </p:cxnSp>
      <p:sp>
        <p:nvSpPr>
          <p:cNvPr id="4" name="source-15">
            <a:extLst>
              <a:ext uri="{FF2B5EF4-FFF2-40B4-BE49-F238E27FC236}">
                <a16:creationId xmlns:a16="http://schemas.microsoft.com/office/drawing/2014/main" id="{AD88406D-66C7-451A-BAFA-F2971D87D72F}"/>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116-118, 127-128</a:t>
            </a:r>
          </a:p>
        </p:txBody>
      </p:sp>
      <p:sp>
        <p:nvSpPr>
          <p:cNvPr id="5" name="page-15">
            <a:extLst>
              <a:ext uri="{FF2B5EF4-FFF2-40B4-BE49-F238E27FC236}">
                <a16:creationId xmlns:a16="http://schemas.microsoft.com/office/drawing/2014/main" id="{257F5213-E876-4FDC-8649-9707A2CD9872}"/>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15</a:t>
            </a:r>
          </a:p>
        </p:txBody>
      </p:sp>
      <p:graphicFrame>
        <p:nvGraphicFramePr>
          <p:cNvPr id="18" name="Chart"/>
          <p:cNvGraphicFramePr/>
          <p:nvPr/>
        </p:nvGraphicFramePr>
        <p:xfrm>
          <a:off x="400050" y="1790700"/>
          <a:ext cx="657225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f4-h1">
            <a:extLst>
              <a:ext uri="{FF2B5EF4-FFF2-40B4-BE49-F238E27FC236}">
                <a16:creationId xmlns:a16="http://schemas.microsoft.com/office/drawing/2014/main" id="{3F2570E7-8909-4C33-BC28-F316ABC4250F}"/>
              </a:ext>
            </a:extLst>
          </p:cNvPr>
          <p:cNvSpPr>
            <a:spLocks noGrp="1"/>
          </p:cNvSpPr>
          <p:nvPr/>
        </p:nvSpPr>
        <p:spPr>
          <a:xfrm>
            <a:off x="7381875" y="1762125"/>
            <a:ext cx="4000500" cy="342900"/>
          </a:xfrm>
          <a:prstGeom prst="rect">
            <a:avLst/>
          </a:prstGeom>
          <a:noFill/>
          <a:ln w="0">
            <a:noFill/>
            <a:prstDash val="solid"/>
          </a:ln>
        </p:spPr>
        <p:txBody>
          <a:bodyPr anchor="t"/>
          <a:lstStyle/>
          <a:p>
            <a:pPr algn="l">
              <a:defRPr sz="1875" b="1">
                <a:solidFill>
                  <a:srgbClr val="B91C1C"/>
                </a:solidFill>
                <a:latin typeface="Arial"/>
                <a:ea typeface="Arial"/>
                <a:cs typeface="Arial"/>
              </a:defRPr>
            </a:pPr>
            <a:r>
              <a:rPr sz="1875" b="1">
                <a:solidFill>
                  <a:srgbClr val="B91C1C"/>
                </a:solidFill>
                <a:latin typeface="Arial"/>
                <a:ea typeface="Arial"/>
                <a:cs typeface="Arial"/>
              </a:rPr>
              <a:t>Why Fold 4 was weak</a:t>
            </a:r>
          </a:p>
        </p:txBody>
      </p:sp>
      <p:sp>
        <p:nvSpPr>
          <p:cNvPr id="8" name="f4-b1">
            <a:extLst>
              <a:ext uri="{FF2B5EF4-FFF2-40B4-BE49-F238E27FC236}">
                <a16:creationId xmlns:a16="http://schemas.microsoft.com/office/drawing/2014/main" id="{99FEF182-E09F-45B9-87F4-B8621DD2B601}"/>
              </a:ext>
            </a:extLst>
          </p:cNvPr>
          <p:cNvSpPr>
            <a:spLocks noGrp="1"/>
          </p:cNvSpPr>
          <p:nvPr/>
        </p:nvSpPr>
        <p:spPr>
          <a:xfrm>
            <a:off x="7381875" y="2181225"/>
            <a:ext cx="4095750" cy="11239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P2 pairing margin was 0.000079, only 5/9 subjects were positive, and feature retrieval/dimensionality were poorer. All decoders therefore reached their lowest Dice.</a:t>
            </a:r>
          </a:p>
        </p:txBody>
      </p:sp>
      <p:cxnSp>
        <p:nvCxnSpPr>
          <p:cNvPr id="21" name="f4-rule1"/>
          <p:cNvCxnSpPr/>
          <p:nvPr/>
        </p:nvCxnSpPr>
        <p:spPr>
          <a:xfrm>
            <a:off x="7381875" y="3476625"/>
            <a:ext cx="4095750" cy="0"/>
          </a:xfrm>
          <a:prstGeom prst="straightConnector1">
            <a:avLst/>
          </a:prstGeom>
          <a:ln w="9525">
            <a:solidFill>
              <a:srgbClr val="D9DEE7"/>
            </a:solidFill>
            <a:prstDash val="solid"/>
          </a:ln>
        </p:spPr>
      </p:cxnSp>
      <p:sp>
        <p:nvSpPr>
          <p:cNvPr id="10" name="f4-h2">
            <a:extLst>
              <a:ext uri="{FF2B5EF4-FFF2-40B4-BE49-F238E27FC236}">
                <a16:creationId xmlns:a16="http://schemas.microsoft.com/office/drawing/2014/main" id="{526AB031-52A2-4708-AAC9-831AFE2A2B1D}"/>
              </a:ext>
            </a:extLst>
          </p:cNvPr>
          <p:cNvSpPr>
            <a:spLocks noGrp="1"/>
          </p:cNvSpPr>
          <p:nvPr/>
        </p:nvSpPr>
        <p:spPr>
          <a:xfrm>
            <a:off x="7381875" y="3705225"/>
            <a:ext cx="4000500" cy="342900"/>
          </a:xfrm>
          <a:prstGeom prst="rect">
            <a:avLst/>
          </a:prstGeom>
          <a:noFill/>
          <a:ln w="0">
            <a:noFill/>
            <a:prstDash val="solid"/>
          </a:ln>
        </p:spPr>
        <p:txBody>
          <a:bodyPr anchor="t"/>
          <a:lstStyle/>
          <a:p>
            <a:pPr algn="l">
              <a:defRPr sz="1875" b="1">
                <a:solidFill>
                  <a:srgbClr val="0F766E"/>
                </a:solidFill>
                <a:latin typeface="Arial"/>
                <a:ea typeface="Arial"/>
                <a:cs typeface="Arial"/>
              </a:defRPr>
            </a:pPr>
            <a:r>
              <a:rPr sz="1875" b="1">
                <a:solidFill>
                  <a:srgbClr val="0F766E"/>
                </a:solidFill>
                <a:latin typeface="Arial"/>
                <a:ea typeface="Arial"/>
                <a:cs typeface="Arial"/>
              </a:rPr>
              <a:t>What was done</a:t>
            </a:r>
          </a:p>
        </p:txBody>
      </p:sp>
      <p:sp>
        <p:nvSpPr>
          <p:cNvPr id="11" name="f4-b2">
            <a:extLst>
              <a:ext uri="{FF2B5EF4-FFF2-40B4-BE49-F238E27FC236}">
                <a16:creationId xmlns:a16="http://schemas.microsoft.com/office/drawing/2014/main" id="{AB89EA49-0A4F-4BFF-AC85-4E860B77B0CA}"/>
              </a:ext>
            </a:extLst>
          </p:cNvPr>
          <p:cNvSpPr>
            <a:spLocks noGrp="1"/>
          </p:cNvSpPr>
          <p:nvPr/>
        </p:nvSpPr>
        <p:spPr>
          <a:xfrm>
            <a:off x="7381875" y="4124325"/>
            <a:ext cx="4095750" cy="99060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Fold 4 was retained and reported. Removing it changed the residual Dice gain only from about 0.044 to 0.043, so the decoder ordering remained robust.</a:t>
            </a:r>
          </a:p>
        </p:txBody>
      </p:sp>
      <p:sp>
        <p:nvSpPr>
          <p:cNvPr id="12" name="f4-surface">
            <a:extLst>
              <a:ext uri="{FF2B5EF4-FFF2-40B4-BE49-F238E27FC236}">
                <a16:creationId xmlns:a16="http://schemas.microsoft.com/office/drawing/2014/main" id="{32140EF9-4F90-4AF8-B5CE-9A10EA58251C}"/>
              </a:ext>
            </a:extLst>
          </p:cNvPr>
          <p:cNvSpPr>
            <a:spLocks noGrp="1"/>
          </p:cNvSpPr>
          <p:nvPr/>
        </p:nvSpPr>
        <p:spPr>
          <a:xfrm>
            <a:off x="7334250" y="5438775"/>
            <a:ext cx="4191000" cy="714375"/>
          </a:xfrm>
          <a:prstGeom prst="rect">
            <a:avLst/>
          </a:prstGeom>
          <a:noFill/>
          <a:ln w="0">
            <a:noFill/>
            <a:prstDash val="solid"/>
          </a:ln>
        </p:spPr>
        <p:txBody>
          <a:bodyPr anchor="t"/>
          <a:lstStyle/>
          <a:p>
            <a:pPr algn="ctr">
              <a:defRPr sz="1350" b="1">
                <a:solidFill>
                  <a:srgbClr val="D97706"/>
                </a:solidFill>
                <a:latin typeface="Arial"/>
                <a:ea typeface="Arial"/>
                <a:cs typeface="Arial"/>
              </a:defRPr>
            </a:pPr>
            <a:r>
              <a:rPr sz="1350" b="1">
                <a:solidFill>
                  <a:srgbClr val="D97706"/>
                </a:solidFill>
                <a:latin typeface="Arial"/>
                <a:ea typeface="Arial"/>
                <a:cs typeface="Arial"/>
              </a:rPr>
              <a:t>Surface caution: a separate Fold-2 empty-patella case produced ~177 mm subject ASSD and was retained to avoid optimistic results.</a:t>
            </a:r>
          </a:p>
        </p:txBody>
      </p:sp>
    </p:spTree>
    <p:extLst>
      <p:ext uri="{BB962C8B-B14F-4D97-AF65-F5344CB8AC3E}">
        <p14:creationId xmlns:p14="http://schemas.microsoft.com/office/powerpoint/2010/main" val="61725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2" name="section-13">
            <a:extLst>
              <a:ext uri="{FF2B5EF4-FFF2-40B4-BE49-F238E27FC236}">
                <a16:creationId xmlns:a16="http://schemas.microsoft.com/office/drawing/2014/main" id="{E2D474F9-564A-46FE-B1BD-FE66C7F0B9C6}"/>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3">
            <a:extLst>
              <a:ext uri="{FF2B5EF4-FFF2-40B4-BE49-F238E27FC236}">
                <a16:creationId xmlns:a16="http://schemas.microsoft.com/office/drawing/2014/main" id="{11196D3B-C198-4D1F-9E4A-7F8DD85FB136}"/>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Small bones remain the bottleneck</a:t>
            </a:r>
          </a:p>
        </p:txBody>
      </p:sp>
      <p:cxnSp>
        <p:nvCxnSpPr>
          <p:cNvPr id="14" name="rule-13"/>
          <p:cNvCxnSpPr/>
          <p:nvPr/>
        </p:nvCxnSpPr>
        <p:spPr>
          <a:xfrm>
            <a:off x="400050" y="1285875"/>
            <a:ext cx="11391900" cy="0"/>
          </a:xfrm>
          <a:prstGeom prst="straightConnector1">
            <a:avLst/>
          </a:prstGeom>
          <a:ln w="9525">
            <a:solidFill>
              <a:srgbClr val="D9DEE7"/>
            </a:solidFill>
            <a:prstDash val="solid"/>
          </a:ln>
        </p:spPr>
      </p:cxnSp>
      <p:sp>
        <p:nvSpPr>
          <p:cNvPr id="4" name="source-13">
            <a:extLst>
              <a:ext uri="{FF2B5EF4-FFF2-40B4-BE49-F238E27FC236}">
                <a16:creationId xmlns:a16="http://schemas.microsoft.com/office/drawing/2014/main" id="{A376717D-2219-41BB-90EC-20027C52ABAB}"/>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129–131</a:t>
            </a:r>
          </a:p>
        </p:txBody>
      </p:sp>
      <p:sp>
        <p:nvSpPr>
          <p:cNvPr id="5" name="page-13">
            <a:extLst>
              <a:ext uri="{FF2B5EF4-FFF2-40B4-BE49-F238E27FC236}">
                <a16:creationId xmlns:a16="http://schemas.microsoft.com/office/drawing/2014/main" id="{DFBDB95B-66D9-461E-B45C-9BDB91268AD8}"/>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13</a:t>
            </a:r>
          </a:p>
        </p:txBody>
      </p:sp>
      <p:graphicFrame>
        <p:nvGraphicFramePr>
          <p:cNvPr id="17" name="Chart"/>
          <p:cNvGraphicFramePr/>
          <p:nvPr/>
        </p:nvGraphicFramePr>
        <p:xfrm>
          <a:off x="400050" y="1695450"/>
          <a:ext cx="6496050" cy="4362450"/>
        </p:xfrm>
        <a:graphic>
          <a:graphicData uri="http://schemas.openxmlformats.org/drawingml/2006/chart">
            <c:chart xmlns:c="http://schemas.openxmlformats.org/drawingml/2006/chart" xmlns:r="http://schemas.openxmlformats.org/officeDocument/2006/relationships" r:id="rId3"/>
          </a:graphicData>
        </a:graphic>
      </p:graphicFrame>
      <p:sp>
        <p:nvSpPr>
          <p:cNvPr id="7" name="bone-callout-1">
            <a:extLst>
              <a:ext uri="{FF2B5EF4-FFF2-40B4-BE49-F238E27FC236}">
                <a16:creationId xmlns:a16="http://schemas.microsoft.com/office/drawing/2014/main" id="{08968504-2D1B-4137-8397-3CEB14904416}"/>
              </a:ext>
            </a:extLst>
          </p:cNvPr>
          <p:cNvSpPr>
            <a:spLocks noGrp="1"/>
          </p:cNvSpPr>
          <p:nvPr/>
        </p:nvSpPr>
        <p:spPr>
          <a:xfrm>
            <a:off x="7353300" y="2009775"/>
            <a:ext cx="3905250" cy="400050"/>
          </a:xfrm>
          <a:prstGeom prst="rect">
            <a:avLst/>
          </a:prstGeom>
          <a:noFill/>
          <a:ln w="0">
            <a:noFill/>
            <a:prstDash val="solid"/>
          </a:ln>
        </p:spPr>
        <p:txBody>
          <a:bodyPr anchor="t"/>
          <a:lstStyle/>
          <a:p>
            <a:pPr algn="l">
              <a:defRPr sz="1875" b="1">
                <a:solidFill>
                  <a:srgbClr val="0F766E"/>
                </a:solidFill>
                <a:latin typeface="Arial"/>
                <a:ea typeface="Arial"/>
                <a:cs typeface="Arial"/>
              </a:defRPr>
            </a:pPr>
            <a:r>
              <a:rPr sz="1875" b="1">
                <a:solidFill>
                  <a:srgbClr val="0F766E"/>
                </a:solidFill>
                <a:latin typeface="Arial"/>
                <a:ea typeface="Arial"/>
                <a:cs typeface="Arial"/>
              </a:rPr>
              <a:t>Fibula</a:t>
            </a:r>
          </a:p>
        </p:txBody>
      </p:sp>
      <p:sp>
        <p:nvSpPr>
          <p:cNvPr id="8" name="bone-callout-2">
            <a:extLst>
              <a:ext uri="{FF2B5EF4-FFF2-40B4-BE49-F238E27FC236}">
                <a16:creationId xmlns:a16="http://schemas.microsoft.com/office/drawing/2014/main" id="{0A77E8A4-577F-4B27-AAE5-AD3934242767}"/>
              </a:ext>
            </a:extLst>
          </p:cNvPr>
          <p:cNvSpPr>
            <a:spLocks noGrp="1"/>
          </p:cNvSpPr>
          <p:nvPr/>
        </p:nvSpPr>
        <p:spPr>
          <a:xfrm>
            <a:off x="7353300" y="2466975"/>
            <a:ext cx="3905250" cy="819150"/>
          </a:xfrm>
          <a:prstGeom prst="rect">
            <a:avLst/>
          </a:prstGeom>
          <a:noFill/>
          <a:ln w="0">
            <a:noFill/>
            <a:prstDash val="solid"/>
          </a:ln>
        </p:spPr>
        <p:txBody>
          <a:bodyPr anchor="t"/>
          <a:lstStyle/>
          <a:p>
            <a:pPr algn="l">
              <a:defRPr sz="1875" b="1">
                <a:solidFill>
                  <a:srgbClr val="111827"/>
                </a:solidFill>
                <a:latin typeface="Arial"/>
                <a:ea typeface="Arial"/>
                <a:cs typeface="Arial"/>
              </a:defRPr>
            </a:pPr>
            <a:r>
              <a:rPr sz="1875" b="1">
                <a:solidFill>
                  <a:srgbClr val="111827"/>
                </a:solidFill>
                <a:latin typeface="Arial"/>
                <a:ea typeface="Arial"/>
                <a:cs typeface="Arial"/>
              </a:rPr>
              <a:t>Dice improves 0.106 → 0.183</a:t>
            </a:r>
          </a:p>
          <a:p>
            <a:pPr algn="l">
              <a:defRPr sz="1875" b="1">
                <a:solidFill>
                  <a:srgbClr val="111827"/>
                </a:solidFill>
                <a:latin typeface="Arial"/>
                <a:ea typeface="Arial"/>
                <a:cs typeface="Arial"/>
              </a:defRPr>
            </a:pPr>
            <a:r>
              <a:rPr sz="1875" b="1">
                <a:solidFill>
                  <a:srgbClr val="111827"/>
                </a:solidFill>
                <a:latin typeface="Arial"/>
                <a:ea typeface="Arial"/>
                <a:cs typeface="Arial"/>
              </a:rPr>
              <a:t>ASSD falls 25.93 → 17.51 mm</a:t>
            </a:r>
          </a:p>
        </p:txBody>
      </p:sp>
      <p:cxnSp>
        <p:nvCxnSpPr>
          <p:cNvPr id="20" name="bone-rule"/>
          <p:cNvCxnSpPr/>
          <p:nvPr/>
        </p:nvCxnSpPr>
        <p:spPr>
          <a:xfrm>
            <a:off x="7353300" y="3514725"/>
            <a:ext cx="3905250" cy="0"/>
          </a:xfrm>
          <a:prstGeom prst="straightConnector1">
            <a:avLst/>
          </a:prstGeom>
          <a:ln w="9525">
            <a:solidFill>
              <a:srgbClr val="D9DEE7"/>
            </a:solidFill>
            <a:prstDash val="solid"/>
          </a:ln>
        </p:spPr>
      </p:cxnSp>
      <p:sp>
        <p:nvSpPr>
          <p:cNvPr id="10" name="bone-callout-3">
            <a:extLst>
              <a:ext uri="{FF2B5EF4-FFF2-40B4-BE49-F238E27FC236}">
                <a16:creationId xmlns:a16="http://schemas.microsoft.com/office/drawing/2014/main" id="{B5CA6811-E592-4686-A208-A6E8B1EA19BC}"/>
              </a:ext>
            </a:extLst>
          </p:cNvPr>
          <p:cNvSpPr>
            <a:spLocks noGrp="1"/>
          </p:cNvSpPr>
          <p:nvPr/>
        </p:nvSpPr>
        <p:spPr>
          <a:xfrm>
            <a:off x="7353300" y="3752850"/>
            <a:ext cx="3905250" cy="400050"/>
          </a:xfrm>
          <a:prstGeom prst="rect">
            <a:avLst/>
          </a:prstGeom>
          <a:noFill/>
          <a:ln w="0">
            <a:noFill/>
            <a:prstDash val="solid"/>
          </a:ln>
        </p:spPr>
        <p:txBody>
          <a:bodyPr anchor="t"/>
          <a:lstStyle/>
          <a:p>
            <a:pPr algn="l">
              <a:defRPr sz="1875" b="1">
                <a:solidFill>
                  <a:srgbClr val="D97706"/>
                </a:solidFill>
                <a:latin typeface="Arial"/>
                <a:ea typeface="Arial"/>
                <a:cs typeface="Arial"/>
              </a:defRPr>
            </a:pPr>
            <a:r>
              <a:rPr sz="1875" b="1">
                <a:solidFill>
                  <a:srgbClr val="D97706"/>
                </a:solidFill>
                <a:latin typeface="Arial"/>
                <a:ea typeface="Arial"/>
                <a:cs typeface="Arial"/>
              </a:rPr>
              <a:t>Meaning</a:t>
            </a:r>
          </a:p>
        </p:txBody>
      </p:sp>
      <p:sp>
        <p:nvSpPr>
          <p:cNvPr id="11" name="bone-callout-4">
            <a:extLst>
              <a:ext uri="{FF2B5EF4-FFF2-40B4-BE49-F238E27FC236}">
                <a16:creationId xmlns:a16="http://schemas.microsoft.com/office/drawing/2014/main" id="{8058E5D1-83EB-456D-8E84-50C197CE7047}"/>
              </a:ext>
            </a:extLst>
          </p:cNvPr>
          <p:cNvSpPr>
            <a:spLocks noGrp="1"/>
          </p:cNvSpPr>
          <p:nvPr/>
        </p:nvSpPr>
        <p:spPr>
          <a:xfrm>
            <a:off x="7353300" y="4229100"/>
            <a:ext cx="3905250" cy="1295400"/>
          </a:xfrm>
          <a:prstGeom prst="rect">
            <a:avLst/>
          </a:prstGeom>
          <a:noFill/>
          <a:ln w="0">
            <a:noFill/>
            <a:prstDash val="solid"/>
          </a:ln>
        </p:spPr>
        <p:txBody>
          <a:bodyPr anchor="t"/>
          <a:lstStyle/>
          <a:p>
            <a:pPr algn="l">
              <a:defRPr sz="1725" b="0">
                <a:solidFill>
                  <a:srgbClr val="5B6472"/>
                </a:solidFill>
                <a:latin typeface="Arial"/>
                <a:ea typeface="Arial"/>
                <a:cs typeface="Arial"/>
              </a:defRPr>
            </a:pPr>
            <a:r>
              <a:rPr sz="1725" b="0">
                <a:solidFill>
                  <a:srgbClr val="5B6472"/>
                </a:solidFill>
                <a:latin typeface="Arial"/>
                <a:ea typeface="Arial"/>
                <a:cs typeface="Arial"/>
              </a:rPr>
              <a:t>A substantial error reduction is not the same as accurate reconstruction. The small-bone ceiling persists.</a:t>
            </a:r>
          </a:p>
        </p:txBody>
      </p:sp>
    </p:spTree>
    <p:extLst>
      <p:ext uri="{BB962C8B-B14F-4D97-AF65-F5344CB8AC3E}">
        <p14:creationId xmlns:p14="http://schemas.microsoft.com/office/powerpoint/2010/main" val="968450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2" name="section-14">
            <a:extLst>
              <a:ext uri="{FF2B5EF4-FFF2-40B4-BE49-F238E27FC236}">
                <a16:creationId xmlns:a16="http://schemas.microsoft.com/office/drawing/2014/main" id="{A10BEC34-043B-4F6F-9FFF-8160F96B654B}"/>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4">
            <a:extLst>
              <a:ext uri="{FF2B5EF4-FFF2-40B4-BE49-F238E27FC236}">
                <a16:creationId xmlns:a16="http://schemas.microsoft.com/office/drawing/2014/main" id="{54132A5E-CDA3-4261-8353-AD8BDA82DDE2}"/>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Fractured anatomy remains harder across every decoder</a:t>
            </a:r>
          </a:p>
        </p:txBody>
      </p:sp>
      <p:cxnSp>
        <p:nvCxnSpPr>
          <p:cNvPr id="14" name="rule-14"/>
          <p:cNvCxnSpPr/>
          <p:nvPr/>
        </p:nvCxnSpPr>
        <p:spPr>
          <a:xfrm>
            <a:off x="400050" y="1285875"/>
            <a:ext cx="11391900" cy="0"/>
          </a:xfrm>
          <a:prstGeom prst="straightConnector1">
            <a:avLst/>
          </a:prstGeom>
          <a:ln w="9525">
            <a:solidFill>
              <a:srgbClr val="D9DEE7"/>
            </a:solidFill>
            <a:prstDash val="solid"/>
          </a:ln>
        </p:spPr>
      </p:cxnSp>
      <p:sp>
        <p:nvSpPr>
          <p:cNvPr id="4" name="source-14">
            <a:extLst>
              <a:ext uri="{FF2B5EF4-FFF2-40B4-BE49-F238E27FC236}">
                <a16:creationId xmlns:a16="http://schemas.microsoft.com/office/drawing/2014/main" id="{490598D4-490F-4D0E-B74D-30BB2C5AD414}"/>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132–134</a:t>
            </a:r>
          </a:p>
        </p:txBody>
      </p:sp>
      <p:sp>
        <p:nvSpPr>
          <p:cNvPr id="5" name="page-14">
            <a:extLst>
              <a:ext uri="{FF2B5EF4-FFF2-40B4-BE49-F238E27FC236}">
                <a16:creationId xmlns:a16="http://schemas.microsoft.com/office/drawing/2014/main" id="{F0CE9C12-C13E-43E8-AEEF-6019046D2003}"/>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14</a:t>
            </a:r>
          </a:p>
        </p:txBody>
      </p:sp>
      <p:graphicFrame>
        <p:nvGraphicFramePr>
          <p:cNvPr id="17" name="Chart"/>
          <p:cNvGraphicFramePr/>
          <p:nvPr/>
        </p:nvGraphicFramePr>
        <p:xfrm>
          <a:off x="400050" y="1695450"/>
          <a:ext cx="6381750" cy="4362450"/>
        </p:xfrm>
        <a:graphic>
          <a:graphicData uri="http://schemas.openxmlformats.org/drawingml/2006/chart">
            <c:chart xmlns:c="http://schemas.openxmlformats.org/drawingml/2006/chart" xmlns:r="http://schemas.openxmlformats.org/officeDocument/2006/relationships" r:id="rId3"/>
          </a:graphicData>
        </a:graphic>
      </p:graphicFrame>
      <p:sp>
        <p:nvSpPr>
          <p:cNvPr id="7" name="fract-best-panel">
            <a:extLst>
              <a:ext uri="{FF2B5EF4-FFF2-40B4-BE49-F238E27FC236}">
                <a16:creationId xmlns:a16="http://schemas.microsoft.com/office/drawing/2014/main" id="{F2A36426-A5EA-4BD2-9A48-F6D15A550784}"/>
              </a:ext>
            </a:extLst>
          </p:cNvPr>
          <p:cNvSpPr>
            <a:spLocks noGrp="1"/>
          </p:cNvSpPr>
          <p:nvPr/>
        </p:nvSpPr>
        <p:spPr>
          <a:xfrm>
            <a:off x="7239000" y="1714500"/>
            <a:ext cx="4552950" cy="1657350"/>
          </a:xfrm>
          <a:prstGeom prst="roundRect">
            <a:avLst>
              <a:gd name="adj" fmla="val 6897"/>
            </a:avLst>
          </a:prstGeom>
          <a:solidFill>
            <a:srgbClr val="F1F3F6"/>
          </a:solidFill>
          <a:ln w="0">
            <a:noFill/>
            <a:prstDash val="solid"/>
          </a:ln>
        </p:spPr>
        <p:txBody>
          <a:bodyPr/>
          <a:lstStyle/>
          <a:p>
            <a:endParaRPr lang="en-MY"/>
          </a:p>
        </p:txBody>
      </p:sp>
      <p:sp>
        <p:nvSpPr>
          <p:cNvPr id="8" name="fract-best-value">
            <a:extLst>
              <a:ext uri="{FF2B5EF4-FFF2-40B4-BE49-F238E27FC236}">
                <a16:creationId xmlns:a16="http://schemas.microsoft.com/office/drawing/2014/main" id="{C19274D0-1D1D-40AE-B5A2-65739F992728}"/>
              </a:ext>
            </a:extLst>
          </p:cNvPr>
          <p:cNvSpPr>
            <a:spLocks noGrp="1"/>
          </p:cNvSpPr>
          <p:nvPr/>
        </p:nvSpPr>
        <p:spPr>
          <a:xfrm>
            <a:off x="7448550" y="1924050"/>
            <a:ext cx="4133850" cy="666750"/>
          </a:xfrm>
          <a:prstGeom prst="rect">
            <a:avLst/>
          </a:prstGeom>
          <a:noFill/>
          <a:ln w="0">
            <a:noFill/>
            <a:prstDash val="solid"/>
          </a:ln>
        </p:spPr>
        <p:txBody>
          <a:bodyPr anchor="t"/>
          <a:lstStyle/>
          <a:p>
            <a:pPr algn="l">
              <a:defRPr sz="3600" b="1">
                <a:solidFill>
                  <a:srgbClr val="D97706"/>
                </a:solidFill>
                <a:latin typeface="Arial"/>
                <a:ea typeface="Arial"/>
                <a:cs typeface="Arial"/>
              </a:defRPr>
            </a:pPr>
            <a:r>
              <a:rPr sz="3600" b="1">
                <a:solidFill>
                  <a:srgbClr val="D97706"/>
                </a:solidFill>
                <a:latin typeface="Arial"/>
                <a:ea typeface="Arial"/>
                <a:cs typeface="Arial"/>
              </a:rPr>
              <a:t>0.377</a:t>
            </a:r>
          </a:p>
        </p:txBody>
      </p:sp>
      <p:sp>
        <p:nvSpPr>
          <p:cNvPr id="9" name="fract-best-label">
            <a:extLst>
              <a:ext uri="{FF2B5EF4-FFF2-40B4-BE49-F238E27FC236}">
                <a16:creationId xmlns:a16="http://schemas.microsoft.com/office/drawing/2014/main" id="{CF8FEEC9-25C4-4DCF-A7FD-575D4ECC365B}"/>
              </a:ext>
            </a:extLst>
          </p:cNvPr>
          <p:cNvSpPr>
            <a:spLocks noGrp="1"/>
          </p:cNvSpPr>
          <p:nvPr/>
        </p:nvSpPr>
        <p:spPr>
          <a:xfrm>
            <a:off x="7448550" y="2676525"/>
            <a:ext cx="4133850" cy="514350"/>
          </a:xfrm>
          <a:prstGeom prst="rect">
            <a:avLst/>
          </a:prstGeom>
          <a:noFill/>
          <a:ln w="0">
            <a:noFill/>
            <a:prstDash val="solid"/>
          </a:ln>
        </p:spPr>
        <p:txBody>
          <a:bodyPr anchor="t"/>
          <a:lstStyle/>
          <a:p>
            <a:pPr algn="l">
              <a:defRPr sz="1500" b="0">
                <a:solidFill>
                  <a:srgbClr val="5B6472"/>
                </a:solidFill>
                <a:latin typeface="Arial"/>
                <a:ea typeface="Arial"/>
                <a:cs typeface="Arial"/>
              </a:defRPr>
            </a:pPr>
            <a:r>
              <a:rPr sz="1500" b="0">
                <a:solidFill>
                  <a:srgbClr val="5B6472"/>
                </a:solidFill>
                <a:latin typeface="Arial"/>
                <a:ea typeface="Arial"/>
                <a:cs typeface="Arial"/>
              </a:rPr>
              <a:t>best fractured-cohort Dice</a:t>
            </a:r>
          </a:p>
        </p:txBody>
      </p:sp>
      <p:sp>
        <p:nvSpPr>
          <p:cNvPr id="10" name="fract-benefit">
            <a:extLst>
              <a:ext uri="{FF2B5EF4-FFF2-40B4-BE49-F238E27FC236}">
                <a16:creationId xmlns:a16="http://schemas.microsoft.com/office/drawing/2014/main" id="{A91821C1-0DD2-4A6B-BDC5-BDF920956341}"/>
              </a:ext>
            </a:extLst>
          </p:cNvPr>
          <p:cNvSpPr>
            <a:spLocks noGrp="1"/>
          </p:cNvSpPr>
          <p:nvPr/>
        </p:nvSpPr>
        <p:spPr>
          <a:xfrm>
            <a:off x="7429500" y="3667125"/>
            <a:ext cx="4171950" cy="723900"/>
          </a:xfrm>
          <a:prstGeom prst="rect">
            <a:avLst/>
          </a:prstGeom>
          <a:noFill/>
          <a:ln w="0">
            <a:noFill/>
            <a:prstDash val="solid"/>
          </a:ln>
        </p:spPr>
        <p:txBody>
          <a:bodyPr anchor="t"/>
          <a:lstStyle/>
          <a:p>
            <a:pPr algn="ctr">
              <a:defRPr sz="1875" b="1">
                <a:solidFill>
                  <a:srgbClr val="111827"/>
                </a:solidFill>
                <a:latin typeface="Arial"/>
                <a:ea typeface="Arial"/>
                <a:cs typeface="Arial"/>
              </a:defRPr>
            </a:pPr>
            <a:r>
              <a:rPr sz="1875" b="1">
                <a:solidFill>
                  <a:srgbClr val="111827"/>
                </a:solidFill>
                <a:latin typeface="Arial"/>
                <a:ea typeface="Arial"/>
                <a:cs typeface="Arial"/>
              </a:rPr>
              <a:t>Residual-ReLU vs U-style</a:t>
            </a:r>
          </a:p>
          <a:p>
            <a:pPr algn="ctr">
              <a:defRPr sz="1875" b="1">
                <a:solidFill>
                  <a:srgbClr val="111827"/>
                </a:solidFill>
                <a:latin typeface="Arial"/>
                <a:ea typeface="Arial"/>
                <a:cs typeface="Arial"/>
              </a:defRPr>
            </a:pPr>
            <a:r>
              <a:rPr sz="1875" b="1">
                <a:solidFill>
                  <a:srgbClr val="111827"/>
                </a:solidFill>
                <a:latin typeface="Arial"/>
                <a:ea typeface="Arial"/>
                <a:cs typeface="Arial"/>
              </a:rPr>
              <a:t>+0.041 Dice  ·  −3.28 mm ASSD</a:t>
            </a:r>
          </a:p>
        </p:txBody>
      </p:sp>
      <p:sp>
        <p:nvSpPr>
          <p:cNvPr id="11" name="fract-caveat">
            <a:extLst>
              <a:ext uri="{FF2B5EF4-FFF2-40B4-BE49-F238E27FC236}">
                <a16:creationId xmlns:a16="http://schemas.microsoft.com/office/drawing/2014/main" id="{DE8E93C0-7152-471C-96F8-8A0507DDB92E}"/>
              </a:ext>
            </a:extLst>
          </p:cNvPr>
          <p:cNvSpPr>
            <a:spLocks noGrp="1"/>
          </p:cNvSpPr>
          <p:nvPr/>
        </p:nvSpPr>
        <p:spPr>
          <a:xfrm>
            <a:off x="7286625" y="4791075"/>
            <a:ext cx="4457700" cy="1123950"/>
          </a:xfrm>
          <a:prstGeom prst="rect">
            <a:avLst/>
          </a:prstGeom>
          <a:noFill/>
          <a:ln w="0">
            <a:noFill/>
            <a:prstDash val="solid"/>
          </a:ln>
        </p:spPr>
        <p:txBody>
          <a:bodyPr anchor="t"/>
          <a:lstStyle/>
          <a:p>
            <a:pPr algn="ctr">
              <a:defRPr sz="1650" b="0">
                <a:solidFill>
                  <a:srgbClr val="B91C1C"/>
                </a:solidFill>
                <a:latin typeface="Arial"/>
                <a:ea typeface="Arial"/>
                <a:cs typeface="Arial"/>
              </a:defRPr>
            </a:pPr>
            <a:r>
              <a:rPr sz="1650" b="0">
                <a:solidFill>
                  <a:srgbClr val="B91C1C"/>
                </a:solidFill>
                <a:latin typeface="Arial"/>
                <a:ea typeface="Arial"/>
                <a:cs typeface="Arial"/>
              </a:rPr>
              <a:t>Caution: fracture status is confounded with dataset and scanner domain; this is a cohort difference, not a causal fracture effect.</a:t>
            </a:r>
          </a:p>
        </p:txBody>
      </p:sp>
    </p:spTree>
    <p:extLst>
      <p:ext uri="{BB962C8B-B14F-4D97-AF65-F5344CB8AC3E}">
        <p14:creationId xmlns:p14="http://schemas.microsoft.com/office/powerpoint/2010/main" val="1173031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3" name="section-15">
            <a:extLst>
              <a:ext uri="{FF2B5EF4-FFF2-40B4-BE49-F238E27FC236}">
                <a16:creationId xmlns:a16="http://schemas.microsoft.com/office/drawing/2014/main" id="{6DD589CE-A921-4EEF-8225-7667A3114259}"/>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5">
            <a:extLst>
              <a:ext uri="{FF2B5EF4-FFF2-40B4-BE49-F238E27FC236}">
                <a16:creationId xmlns:a16="http://schemas.microsoft.com/office/drawing/2014/main" id="{DEB27F3E-172E-4AEC-A9E8-E0EF56A13BF0}"/>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Aggregate gains do not eliminate catastrophic failures</a:t>
            </a:r>
          </a:p>
        </p:txBody>
      </p:sp>
      <p:cxnSp>
        <p:nvCxnSpPr>
          <p:cNvPr id="15" name="rule-15"/>
          <p:cNvCxnSpPr/>
          <p:nvPr/>
        </p:nvCxnSpPr>
        <p:spPr>
          <a:xfrm>
            <a:off x="400050" y="1285875"/>
            <a:ext cx="11391900" cy="0"/>
          </a:xfrm>
          <a:prstGeom prst="straightConnector1">
            <a:avLst/>
          </a:prstGeom>
          <a:ln w="9525">
            <a:solidFill>
              <a:srgbClr val="D9DEE7"/>
            </a:solidFill>
            <a:prstDash val="solid"/>
          </a:ln>
        </p:spPr>
      </p:cxnSp>
      <p:sp>
        <p:nvSpPr>
          <p:cNvPr id="4" name="source-15">
            <a:extLst>
              <a:ext uri="{FF2B5EF4-FFF2-40B4-BE49-F238E27FC236}">
                <a16:creationId xmlns:a16="http://schemas.microsoft.com/office/drawing/2014/main" id="{1D41BE68-81B4-4F45-B052-6C52A620CA11}"/>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127–128, 135–137</a:t>
            </a:r>
          </a:p>
        </p:txBody>
      </p:sp>
      <p:sp>
        <p:nvSpPr>
          <p:cNvPr id="5" name="page-15">
            <a:extLst>
              <a:ext uri="{FF2B5EF4-FFF2-40B4-BE49-F238E27FC236}">
                <a16:creationId xmlns:a16="http://schemas.microsoft.com/office/drawing/2014/main" id="{F1FA51B0-346B-419C-A2F2-612E1B6F9954}"/>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15</a:t>
            </a:r>
          </a:p>
        </p:txBody>
      </p:sp>
      <p:pic>
        <p:nvPicPr>
          <p:cNvPr id="18" name="Picture 17"/>
          <p:cNvPicPr>
            <a:picLocks noChangeAspect="1"/>
          </p:cNvPicPr>
          <p:nvPr/>
        </p:nvPicPr>
        <p:blipFill>
          <a:blip r:embed="rId3"/>
          <a:stretch/>
        </p:blipFill>
        <p:spPr>
          <a:xfrm>
            <a:off x="400050" y="1657620"/>
            <a:ext cx="5810250" cy="4266659"/>
          </a:xfrm>
          <a:prstGeom prst="roundRect">
            <a:avLst>
              <a:gd name="adj" fmla="val 2679"/>
            </a:avLst>
          </a:prstGeom>
        </p:spPr>
      </p:pic>
      <p:sp>
        <p:nvSpPr>
          <p:cNvPr id="7" name="fail-h1">
            <a:extLst>
              <a:ext uri="{FF2B5EF4-FFF2-40B4-BE49-F238E27FC236}">
                <a16:creationId xmlns:a16="http://schemas.microsoft.com/office/drawing/2014/main" id="{06655948-B858-4500-9470-D14B3A376B2F}"/>
              </a:ext>
            </a:extLst>
          </p:cNvPr>
          <p:cNvSpPr>
            <a:spLocks noGrp="1"/>
          </p:cNvSpPr>
          <p:nvPr/>
        </p:nvSpPr>
        <p:spPr>
          <a:xfrm>
            <a:off x="6667500" y="1752600"/>
            <a:ext cx="4762500" cy="400050"/>
          </a:xfrm>
          <a:prstGeom prst="rect">
            <a:avLst/>
          </a:prstGeom>
          <a:noFill/>
          <a:ln w="0">
            <a:noFill/>
            <a:prstDash val="solid"/>
          </a:ln>
        </p:spPr>
        <p:txBody>
          <a:bodyPr anchor="t"/>
          <a:lstStyle/>
          <a:p>
            <a:pPr algn="l">
              <a:defRPr sz="1950" b="1">
                <a:solidFill>
                  <a:srgbClr val="B91C1C"/>
                </a:solidFill>
                <a:latin typeface="Arial"/>
                <a:ea typeface="Arial"/>
                <a:cs typeface="Arial"/>
              </a:defRPr>
            </a:pPr>
            <a:r>
              <a:rPr sz="1950" b="1">
                <a:solidFill>
                  <a:srgbClr val="B91C1C"/>
                </a:solidFill>
                <a:latin typeface="Arial"/>
                <a:ea typeface="Arial"/>
                <a:cs typeface="Arial"/>
              </a:rPr>
              <a:t>Empty patella prediction</a:t>
            </a:r>
          </a:p>
        </p:txBody>
      </p:sp>
      <p:sp>
        <p:nvSpPr>
          <p:cNvPr id="8" name="fail-b1">
            <a:extLst>
              <a:ext uri="{FF2B5EF4-FFF2-40B4-BE49-F238E27FC236}">
                <a16:creationId xmlns:a16="http://schemas.microsoft.com/office/drawing/2014/main" id="{BB2EDE25-EEDA-44E7-A794-7D5D6E6BA24A}"/>
              </a:ext>
            </a:extLst>
          </p:cNvPr>
          <p:cNvSpPr>
            <a:spLocks noGrp="1"/>
          </p:cNvSpPr>
          <p:nvPr/>
        </p:nvSpPr>
        <p:spPr>
          <a:xfrm>
            <a:off x="6667500" y="2228850"/>
            <a:ext cx="4762500" cy="971550"/>
          </a:xfrm>
          <a:prstGeom prst="rect">
            <a:avLst/>
          </a:prstGeom>
          <a:noFill/>
          <a:ln w="0">
            <a:noFill/>
            <a:prstDash val="solid"/>
          </a:ln>
        </p:spPr>
        <p:txBody>
          <a:bodyPr anchor="t"/>
          <a:lstStyle/>
          <a:p>
            <a:pPr algn="l">
              <a:defRPr sz="1725" b="0">
                <a:solidFill>
                  <a:srgbClr val="5B6472"/>
                </a:solidFill>
                <a:latin typeface="Arial"/>
                <a:ea typeface="Arial"/>
                <a:cs typeface="Arial"/>
              </a:defRPr>
            </a:pPr>
            <a:r>
              <a:rPr sz="1725" b="0">
                <a:solidFill>
                  <a:srgbClr val="5B6472"/>
                </a:solidFill>
                <a:latin typeface="Arial"/>
                <a:ea typeface="Arial"/>
                <a:cs typeface="Arial"/>
              </a:rPr>
              <a:t>One residual-decoder case received ~177 mm subject-level patellar ASSD. The failure was retained—not averaged away.</a:t>
            </a:r>
          </a:p>
        </p:txBody>
      </p:sp>
      <p:cxnSp>
        <p:nvCxnSpPr>
          <p:cNvPr id="21" name="fail-r1"/>
          <p:cNvCxnSpPr/>
          <p:nvPr/>
        </p:nvCxnSpPr>
        <p:spPr>
          <a:xfrm>
            <a:off x="6667500" y="3371850"/>
            <a:ext cx="4762500" cy="0"/>
          </a:xfrm>
          <a:prstGeom prst="straightConnector1">
            <a:avLst/>
          </a:prstGeom>
          <a:ln w="9525">
            <a:solidFill>
              <a:srgbClr val="D9DEE7"/>
            </a:solidFill>
            <a:prstDash val="solid"/>
          </a:ln>
        </p:spPr>
      </p:cxnSp>
      <p:sp>
        <p:nvSpPr>
          <p:cNvPr id="10" name="fail-h2">
            <a:extLst>
              <a:ext uri="{FF2B5EF4-FFF2-40B4-BE49-F238E27FC236}">
                <a16:creationId xmlns:a16="http://schemas.microsoft.com/office/drawing/2014/main" id="{1653D8B8-0D5C-458D-BB5F-765E7C9D82DE}"/>
              </a:ext>
            </a:extLst>
          </p:cNvPr>
          <p:cNvSpPr>
            <a:spLocks noGrp="1"/>
          </p:cNvSpPr>
          <p:nvPr/>
        </p:nvSpPr>
        <p:spPr>
          <a:xfrm>
            <a:off x="6667500" y="3600450"/>
            <a:ext cx="4762500" cy="400050"/>
          </a:xfrm>
          <a:prstGeom prst="rect">
            <a:avLst/>
          </a:prstGeom>
          <a:noFill/>
          <a:ln w="0">
            <a:noFill/>
            <a:prstDash val="solid"/>
          </a:ln>
        </p:spPr>
        <p:txBody>
          <a:bodyPr anchor="t"/>
          <a:lstStyle/>
          <a:p>
            <a:pPr algn="l">
              <a:defRPr sz="1950" b="1">
                <a:solidFill>
                  <a:srgbClr val="D97706"/>
                </a:solidFill>
                <a:latin typeface="Arial"/>
                <a:ea typeface="Arial"/>
                <a:cs typeface="Arial"/>
              </a:defRPr>
            </a:pPr>
            <a:r>
              <a:rPr sz="1950" b="1">
                <a:solidFill>
                  <a:srgbClr val="D97706"/>
                </a:solidFill>
                <a:latin typeface="Arial"/>
                <a:ea typeface="Arial"/>
                <a:cs typeface="Arial"/>
              </a:rPr>
              <a:t>Sensitivity experiment</a:t>
            </a:r>
          </a:p>
        </p:txBody>
      </p:sp>
      <p:sp>
        <p:nvSpPr>
          <p:cNvPr id="11" name="fail-b2">
            <a:extLst>
              <a:ext uri="{FF2B5EF4-FFF2-40B4-BE49-F238E27FC236}">
                <a16:creationId xmlns:a16="http://schemas.microsoft.com/office/drawing/2014/main" id="{8AC05D5F-0F4D-4B72-8EA1-02B6FB56A1E8}"/>
              </a:ext>
            </a:extLst>
          </p:cNvPr>
          <p:cNvSpPr>
            <a:spLocks noGrp="1"/>
          </p:cNvSpPr>
          <p:nvPr/>
        </p:nvSpPr>
        <p:spPr>
          <a:xfrm>
            <a:off x="6667500" y="4076700"/>
            <a:ext cx="4762500" cy="1143000"/>
          </a:xfrm>
          <a:prstGeom prst="rect">
            <a:avLst/>
          </a:prstGeom>
          <a:noFill/>
          <a:ln w="0">
            <a:noFill/>
            <a:prstDash val="solid"/>
          </a:ln>
        </p:spPr>
        <p:txBody>
          <a:bodyPr anchor="t"/>
          <a:lstStyle/>
          <a:p>
            <a:pPr algn="l">
              <a:defRPr sz="1725" b="0">
                <a:solidFill>
                  <a:srgbClr val="5B6472"/>
                </a:solidFill>
                <a:latin typeface="Arial"/>
                <a:ea typeface="Arial"/>
                <a:cs typeface="Arial"/>
              </a:defRPr>
            </a:pPr>
            <a:r>
              <a:rPr sz="1725" b="0">
                <a:solidFill>
                  <a:srgbClr val="5B6472"/>
                </a:solidFill>
                <a:latin typeface="Arial"/>
                <a:ea typeface="Arial"/>
                <a:cs typeface="Arial"/>
              </a:rPr>
              <a:t>SimCLR + joint training improved aggregate Dice, but the healthy–fractured gap widened. Better averages did not mean safer pathology generalisation.</a:t>
            </a:r>
          </a:p>
        </p:txBody>
      </p:sp>
      <p:sp>
        <p:nvSpPr>
          <p:cNvPr id="12" name="fail-take">
            <a:extLst>
              <a:ext uri="{FF2B5EF4-FFF2-40B4-BE49-F238E27FC236}">
                <a16:creationId xmlns:a16="http://schemas.microsoft.com/office/drawing/2014/main" id="{D1089BE6-CB9D-4B10-AD29-E8F207D61730}"/>
              </a:ext>
            </a:extLst>
          </p:cNvPr>
          <p:cNvSpPr>
            <a:spLocks noGrp="1"/>
          </p:cNvSpPr>
          <p:nvPr/>
        </p:nvSpPr>
        <p:spPr>
          <a:xfrm>
            <a:off x="6667500" y="5476875"/>
            <a:ext cx="4762500" cy="647700"/>
          </a:xfrm>
          <a:prstGeom prst="rect">
            <a:avLst/>
          </a:prstGeom>
          <a:noFill/>
          <a:ln w="0">
            <a:noFill/>
            <a:prstDash val="solid"/>
          </a:ln>
        </p:spPr>
        <p:txBody>
          <a:bodyPr anchor="t"/>
          <a:lstStyle/>
          <a:p>
            <a:pPr algn="l">
              <a:defRPr sz="1725" b="1">
                <a:solidFill>
                  <a:srgbClr val="0F766E"/>
                </a:solidFill>
                <a:latin typeface="Arial"/>
                <a:ea typeface="Arial"/>
                <a:cs typeface="Arial"/>
              </a:defRPr>
            </a:pPr>
            <a:r>
              <a:rPr sz="1725" b="1">
                <a:solidFill>
                  <a:srgbClr val="0F766E"/>
                </a:solidFill>
                <a:latin typeface="Arial"/>
                <a:ea typeface="Arial"/>
                <a:cs typeface="Arial"/>
              </a:rPr>
              <a:t>Critical conclusion: read Dice, surface distance, subgroups and explicit failures together.</a:t>
            </a:r>
          </a:p>
        </p:txBody>
      </p:sp>
    </p:spTree>
    <p:extLst>
      <p:ext uri="{BB962C8B-B14F-4D97-AF65-F5344CB8AC3E}">
        <p14:creationId xmlns:p14="http://schemas.microsoft.com/office/powerpoint/2010/main" val="2102699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4" name="section-16">
            <a:extLst>
              <a:ext uri="{FF2B5EF4-FFF2-40B4-BE49-F238E27FC236}">
                <a16:creationId xmlns:a16="http://schemas.microsoft.com/office/drawing/2014/main" id="{BA5D56E3-91FD-459E-B6D7-DCB4B20CB7D1}"/>
              </a:ext>
            </a:extLst>
          </p:cNvPr>
          <p:cNvSpPr>
            <a:spLocks noGrp="1"/>
          </p:cNvSpPr>
          <p:nvPr/>
        </p:nvSpPr>
        <p:spPr>
          <a:xfrm>
            <a:off x="400050" y="238125"/>
            <a:ext cx="2857500" cy="266700"/>
          </a:xfrm>
          <a:prstGeom prst="rect">
            <a:avLst/>
          </a:prstGeom>
          <a:noFill/>
          <a:ln w="0">
            <a:noFill/>
            <a:prstDash val="solid"/>
          </a:ln>
        </p:spPr>
        <p:txBody>
          <a:bodyPr anchor="t"/>
          <a:lstStyle/>
          <a:p>
            <a:pPr algn="l">
              <a:defRPr sz="1125" b="1">
                <a:solidFill>
                  <a:srgbClr val="2563EB"/>
                </a:solidFill>
                <a:latin typeface="Arial"/>
                <a:ea typeface="Arial"/>
                <a:cs typeface="Arial"/>
              </a:defRPr>
            </a:pPr>
            <a:r>
              <a:rPr sz="1125" b="1">
                <a:solidFill>
                  <a:srgbClr val="2563EB"/>
                </a:solidFill>
                <a:latin typeface="Arial"/>
                <a:ea typeface="Arial"/>
                <a:cs typeface="Arial"/>
              </a:rPr>
              <a:t>CRITICAL THINKING</a:t>
            </a:r>
          </a:p>
        </p:txBody>
      </p:sp>
      <p:sp>
        <p:nvSpPr>
          <p:cNvPr id="2" name="title-16">
            <a:extLst>
              <a:ext uri="{FF2B5EF4-FFF2-40B4-BE49-F238E27FC236}">
                <a16:creationId xmlns:a16="http://schemas.microsoft.com/office/drawing/2014/main" id="{3246A12D-9B9F-47B3-BE34-C8F6F0CB27FD}"/>
              </a:ext>
            </a:extLst>
          </p:cNvPr>
          <p:cNvSpPr>
            <a:spLocks noGrp="1"/>
          </p:cNvSpPr>
          <p:nvPr/>
        </p:nvSpPr>
        <p:spPr>
          <a:xfrm>
            <a:off x="400050" y="552450"/>
            <a:ext cx="11049000" cy="685800"/>
          </a:xfrm>
          <a:prstGeom prst="rect">
            <a:avLst/>
          </a:prstGeom>
          <a:noFill/>
          <a:ln w="0">
            <a:noFill/>
            <a:prstDash val="solid"/>
          </a:ln>
        </p:spPr>
        <p:txBody>
          <a:bodyPr anchor="t"/>
          <a:lstStyle/>
          <a:p>
            <a:pPr algn="l">
              <a:defRPr sz="3525" b="1">
                <a:solidFill>
                  <a:srgbClr val="111827"/>
                </a:solidFill>
                <a:latin typeface="Arial"/>
                <a:ea typeface="Arial"/>
                <a:cs typeface="Arial"/>
              </a:defRPr>
            </a:pPr>
            <a:r>
              <a:rPr sz="3525" b="1">
                <a:solidFill>
                  <a:srgbClr val="111827"/>
                </a:solidFill>
                <a:latin typeface="Arial"/>
                <a:ea typeface="Arial"/>
                <a:cs typeface="Arial"/>
              </a:rPr>
              <a:t>Geometry-inconsistent lifting is the plausible system bottleneck</a:t>
            </a:r>
          </a:p>
        </p:txBody>
      </p:sp>
      <p:cxnSp>
        <p:nvCxnSpPr>
          <p:cNvPr id="16" name="rule-16"/>
          <p:cNvCxnSpPr/>
          <p:nvPr/>
        </p:nvCxnSpPr>
        <p:spPr>
          <a:xfrm>
            <a:off x="400050" y="1285875"/>
            <a:ext cx="11391900" cy="0"/>
          </a:xfrm>
          <a:prstGeom prst="straightConnector1">
            <a:avLst/>
          </a:prstGeom>
          <a:ln w="9525">
            <a:solidFill>
              <a:srgbClr val="D9DEE7"/>
            </a:solidFill>
            <a:prstDash val="solid"/>
          </a:ln>
        </p:spPr>
      </p:cxnSp>
      <p:sp>
        <p:nvSpPr>
          <p:cNvPr id="4" name="source-16">
            <a:extLst>
              <a:ext uri="{FF2B5EF4-FFF2-40B4-BE49-F238E27FC236}">
                <a16:creationId xmlns:a16="http://schemas.microsoft.com/office/drawing/2014/main" id="{03629306-AEAD-44EB-9E37-129527281915}"/>
              </a:ext>
            </a:extLst>
          </p:cNvPr>
          <p:cNvSpPr>
            <a:spLocks noGrp="1"/>
          </p:cNvSpPr>
          <p:nvPr/>
        </p:nvSpPr>
        <p:spPr>
          <a:xfrm>
            <a:off x="400050" y="6429375"/>
            <a:ext cx="3810000" cy="190500"/>
          </a:xfrm>
          <a:prstGeom prst="rect">
            <a:avLst/>
          </a:prstGeom>
          <a:noFill/>
          <a:ln w="0">
            <a:noFill/>
            <a:prstDash val="solid"/>
          </a:ln>
        </p:spPr>
        <p:txBody>
          <a:bodyPr anchor="t"/>
          <a:lstStyle/>
          <a:p>
            <a:pPr algn="l">
              <a:defRPr sz="900" b="0">
                <a:solidFill>
                  <a:srgbClr val="5B6472"/>
                </a:solidFill>
                <a:latin typeface="Arial"/>
                <a:ea typeface="Arial"/>
                <a:cs typeface="Arial"/>
              </a:defRPr>
            </a:pPr>
            <a:r>
              <a:rPr sz="900" b="0">
                <a:solidFill>
                  <a:srgbClr val="5B6472"/>
                </a:solidFill>
                <a:latin typeface="Arial"/>
                <a:ea typeface="Arial"/>
                <a:cs typeface="Arial"/>
              </a:rPr>
              <a:t>Report pp. 139–143</a:t>
            </a:r>
          </a:p>
        </p:txBody>
      </p:sp>
      <p:sp>
        <p:nvSpPr>
          <p:cNvPr id="5" name="page-16">
            <a:extLst>
              <a:ext uri="{FF2B5EF4-FFF2-40B4-BE49-F238E27FC236}">
                <a16:creationId xmlns:a16="http://schemas.microsoft.com/office/drawing/2014/main" id="{C0121E5D-6A52-46FE-A293-CB45AA1525A9}"/>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16</a:t>
            </a:r>
          </a:p>
        </p:txBody>
      </p:sp>
      <p:sp>
        <p:nvSpPr>
          <p:cNvPr id="6" name="current-panel">
            <a:extLst>
              <a:ext uri="{FF2B5EF4-FFF2-40B4-BE49-F238E27FC236}">
                <a16:creationId xmlns:a16="http://schemas.microsoft.com/office/drawing/2014/main" id="{45B8C98A-0182-4758-A950-B81933670C63}"/>
              </a:ext>
            </a:extLst>
          </p:cNvPr>
          <p:cNvSpPr>
            <a:spLocks noGrp="1"/>
          </p:cNvSpPr>
          <p:nvPr/>
        </p:nvSpPr>
        <p:spPr>
          <a:xfrm>
            <a:off x="400050" y="1800225"/>
            <a:ext cx="5067300" cy="3257550"/>
          </a:xfrm>
          <a:prstGeom prst="roundRect">
            <a:avLst>
              <a:gd name="adj" fmla="val 3509"/>
            </a:avLst>
          </a:prstGeom>
          <a:solidFill>
            <a:srgbClr val="FFF4E8"/>
          </a:solidFill>
          <a:ln w="0">
            <a:noFill/>
            <a:prstDash val="solid"/>
          </a:ln>
        </p:spPr>
        <p:txBody>
          <a:bodyPr/>
          <a:lstStyle/>
          <a:p>
            <a:endParaRPr lang="en-MY"/>
          </a:p>
        </p:txBody>
      </p:sp>
      <p:sp>
        <p:nvSpPr>
          <p:cNvPr id="7" name="current-h">
            <a:extLst>
              <a:ext uri="{FF2B5EF4-FFF2-40B4-BE49-F238E27FC236}">
                <a16:creationId xmlns:a16="http://schemas.microsoft.com/office/drawing/2014/main" id="{7559950B-CA11-4B7B-8E32-07B1F0CC991D}"/>
              </a:ext>
            </a:extLst>
          </p:cNvPr>
          <p:cNvSpPr>
            <a:spLocks noGrp="1"/>
          </p:cNvSpPr>
          <p:nvPr/>
        </p:nvSpPr>
        <p:spPr>
          <a:xfrm>
            <a:off x="714375" y="2095500"/>
            <a:ext cx="4438650" cy="428625"/>
          </a:xfrm>
          <a:prstGeom prst="rect">
            <a:avLst/>
          </a:prstGeom>
          <a:noFill/>
          <a:ln w="0">
            <a:noFill/>
            <a:prstDash val="solid"/>
          </a:ln>
        </p:spPr>
        <p:txBody>
          <a:bodyPr anchor="t"/>
          <a:lstStyle/>
          <a:p>
            <a:pPr algn="ctr">
              <a:defRPr sz="2100" b="1">
                <a:solidFill>
                  <a:srgbClr val="D97706"/>
                </a:solidFill>
                <a:latin typeface="Arial"/>
                <a:ea typeface="Arial"/>
                <a:cs typeface="Arial"/>
              </a:defRPr>
            </a:pPr>
            <a:r>
              <a:rPr sz="2100" b="1">
                <a:solidFill>
                  <a:srgbClr val="D97706"/>
                </a:solidFill>
                <a:latin typeface="Arial"/>
                <a:ea typeface="Arial"/>
                <a:cs typeface="Arial"/>
              </a:rPr>
              <a:t>Current lift</a:t>
            </a:r>
          </a:p>
        </p:txBody>
      </p:sp>
      <p:sp>
        <p:nvSpPr>
          <p:cNvPr id="8" name="current-b">
            <a:extLst>
              <a:ext uri="{FF2B5EF4-FFF2-40B4-BE49-F238E27FC236}">
                <a16:creationId xmlns:a16="http://schemas.microsoft.com/office/drawing/2014/main" id="{AEA9FC6F-27CE-4A64-8C7D-CE36C6C25909}"/>
              </a:ext>
            </a:extLst>
          </p:cNvPr>
          <p:cNvSpPr>
            <a:spLocks noGrp="1"/>
          </p:cNvSpPr>
          <p:nvPr/>
        </p:nvSpPr>
        <p:spPr>
          <a:xfrm>
            <a:off x="723900" y="2771775"/>
            <a:ext cx="4419600" cy="1809750"/>
          </a:xfrm>
          <a:prstGeom prst="rect">
            <a:avLst/>
          </a:prstGeom>
          <a:noFill/>
          <a:ln w="0">
            <a:noFill/>
            <a:prstDash val="solid"/>
          </a:ln>
        </p:spPr>
        <p:txBody>
          <a:bodyPr anchor="t"/>
          <a:lstStyle/>
          <a:p>
            <a:pPr algn="ctr">
              <a:defRPr sz="1800" b="0">
                <a:solidFill>
                  <a:srgbClr val="111827"/>
                </a:solidFill>
                <a:latin typeface="Arial"/>
                <a:ea typeface="Arial"/>
                <a:cs typeface="Arial"/>
              </a:defRPr>
            </a:pPr>
            <a:r>
              <a:rPr sz="1800" b="0">
                <a:solidFill>
                  <a:srgbClr val="111827"/>
                </a:solidFill>
                <a:latin typeface="Arial"/>
                <a:ea typeface="Arial"/>
                <a:cs typeface="Arial"/>
              </a:rPr>
              <a:t>Finite-source DRRs contain divergent rays</a:t>
            </a:r>
          </a:p>
          <a:p>
            <a:endParaRPr sz="1800" b="0">
              <a:solidFill>
                <a:srgbClr val="111827"/>
              </a:solidFill>
              <a:latin typeface="Arial"/>
              <a:ea typeface="Arial"/>
              <a:cs typeface="Arial"/>
            </a:endParaRPr>
          </a:p>
          <a:p>
            <a:pPr algn="ctr">
              <a:defRPr sz="1800" b="0">
                <a:solidFill>
                  <a:srgbClr val="111827"/>
                </a:solidFill>
                <a:latin typeface="Arial"/>
                <a:ea typeface="Arial"/>
                <a:cs typeface="Arial"/>
              </a:defRPr>
            </a:pPr>
            <a:r>
              <a:rPr sz="1800" b="0">
                <a:solidFill>
                  <a:srgbClr val="111827"/>
                </a:solidFill>
                <a:latin typeface="Arial"/>
                <a:ea typeface="Arial"/>
                <a:cs typeface="Arial"/>
              </a:rPr>
              <a:t>But AP/LAT features are copied along Cartesian axes</a:t>
            </a:r>
          </a:p>
          <a:p>
            <a:endParaRPr sz="1800" b="0">
              <a:solidFill>
                <a:srgbClr val="111827"/>
              </a:solidFill>
              <a:latin typeface="Arial"/>
              <a:ea typeface="Arial"/>
              <a:cs typeface="Arial"/>
            </a:endParaRPr>
          </a:p>
          <a:p>
            <a:pPr algn="ctr">
              <a:defRPr sz="1800" b="0">
                <a:solidFill>
                  <a:srgbClr val="111827"/>
                </a:solidFill>
                <a:latin typeface="Arial"/>
                <a:ea typeface="Arial"/>
                <a:cs typeface="Arial"/>
              </a:defRPr>
            </a:pPr>
            <a:r>
              <a:rPr sz="1800" b="0">
                <a:solidFill>
                  <a:srgbClr val="111827"/>
                </a:solidFill>
                <a:latin typeface="Arial"/>
                <a:ea typeface="Arial"/>
                <a:cs typeface="Arial"/>
              </a:rPr>
              <a:t>→ fused voxels may not represent the same physical point</a:t>
            </a:r>
          </a:p>
        </p:txBody>
      </p:sp>
      <p:sp>
        <p:nvSpPr>
          <p:cNvPr id="9" name="bottleneck-arrow">
            <a:extLst>
              <a:ext uri="{FF2B5EF4-FFF2-40B4-BE49-F238E27FC236}">
                <a16:creationId xmlns:a16="http://schemas.microsoft.com/office/drawing/2014/main" id="{DDA53C66-D50B-4C7E-850C-B6ADBF3B42E8}"/>
              </a:ext>
            </a:extLst>
          </p:cNvPr>
          <p:cNvSpPr>
            <a:spLocks noGrp="1"/>
          </p:cNvSpPr>
          <p:nvPr/>
        </p:nvSpPr>
        <p:spPr>
          <a:xfrm>
            <a:off x="5657850" y="2952750"/>
            <a:ext cx="876300" cy="762000"/>
          </a:xfrm>
          <a:prstGeom prst="rightArrow">
            <a:avLst/>
          </a:prstGeom>
          <a:solidFill>
            <a:srgbClr val="2563EB"/>
          </a:solidFill>
          <a:ln w="0">
            <a:solidFill>
              <a:srgbClr val="2563EB"/>
            </a:solidFill>
            <a:prstDash val="solid"/>
          </a:ln>
        </p:spPr>
        <p:txBody>
          <a:bodyPr/>
          <a:lstStyle/>
          <a:p>
            <a:endParaRPr lang="en-MY"/>
          </a:p>
        </p:txBody>
      </p:sp>
      <p:sp>
        <p:nvSpPr>
          <p:cNvPr id="10" name="future-panel">
            <a:extLst>
              <a:ext uri="{FF2B5EF4-FFF2-40B4-BE49-F238E27FC236}">
                <a16:creationId xmlns:a16="http://schemas.microsoft.com/office/drawing/2014/main" id="{64C6B23A-F652-4863-A647-BD3EA9968061}"/>
              </a:ext>
            </a:extLst>
          </p:cNvPr>
          <p:cNvSpPr>
            <a:spLocks noGrp="1"/>
          </p:cNvSpPr>
          <p:nvPr/>
        </p:nvSpPr>
        <p:spPr>
          <a:xfrm>
            <a:off x="6724650" y="1800225"/>
            <a:ext cx="5067300" cy="3257550"/>
          </a:xfrm>
          <a:prstGeom prst="roundRect">
            <a:avLst>
              <a:gd name="adj" fmla="val 3509"/>
            </a:avLst>
          </a:prstGeom>
          <a:solidFill>
            <a:srgbClr val="E7F7F3"/>
          </a:solidFill>
          <a:ln w="0">
            <a:noFill/>
            <a:prstDash val="solid"/>
          </a:ln>
        </p:spPr>
        <p:txBody>
          <a:bodyPr/>
          <a:lstStyle/>
          <a:p>
            <a:endParaRPr lang="en-MY"/>
          </a:p>
        </p:txBody>
      </p:sp>
      <p:sp>
        <p:nvSpPr>
          <p:cNvPr id="11" name="future-h">
            <a:extLst>
              <a:ext uri="{FF2B5EF4-FFF2-40B4-BE49-F238E27FC236}">
                <a16:creationId xmlns:a16="http://schemas.microsoft.com/office/drawing/2014/main" id="{C2C7D55D-E5C3-4D25-BB5A-6B74E0ACF7AC}"/>
              </a:ext>
            </a:extLst>
          </p:cNvPr>
          <p:cNvSpPr>
            <a:spLocks noGrp="1"/>
          </p:cNvSpPr>
          <p:nvPr/>
        </p:nvSpPr>
        <p:spPr>
          <a:xfrm>
            <a:off x="7038975" y="2095500"/>
            <a:ext cx="4438650" cy="428625"/>
          </a:xfrm>
          <a:prstGeom prst="rect">
            <a:avLst/>
          </a:prstGeom>
          <a:noFill/>
          <a:ln w="0">
            <a:noFill/>
            <a:prstDash val="solid"/>
          </a:ln>
        </p:spPr>
        <p:txBody>
          <a:bodyPr anchor="t"/>
          <a:lstStyle/>
          <a:p>
            <a:pPr algn="ctr">
              <a:defRPr sz="2100" b="1">
                <a:solidFill>
                  <a:srgbClr val="0F766E"/>
                </a:solidFill>
                <a:latin typeface="Arial"/>
                <a:ea typeface="Arial"/>
                <a:cs typeface="Arial"/>
              </a:defRPr>
            </a:pPr>
            <a:r>
              <a:rPr sz="2100" b="1">
                <a:solidFill>
                  <a:srgbClr val="0F766E"/>
                </a:solidFill>
                <a:latin typeface="Arial"/>
                <a:ea typeface="Arial"/>
                <a:cs typeface="Arial"/>
              </a:rPr>
              <a:t>Matched future test</a:t>
            </a:r>
          </a:p>
        </p:txBody>
      </p:sp>
      <p:sp>
        <p:nvSpPr>
          <p:cNvPr id="12" name="future-b">
            <a:extLst>
              <a:ext uri="{FF2B5EF4-FFF2-40B4-BE49-F238E27FC236}">
                <a16:creationId xmlns:a16="http://schemas.microsoft.com/office/drawing/2014/main" id="{248C846D-8ED8-470E-9C31-E84D1295B8B9}"/>
              </a:ext>
            </a:extLst>
          </p:cNvPr>
          <p:cNvSpPr>
            <a:spLocks noGrp="1"/>
          </p:cNvSpPr>
          <p:nvPr/>
        </p:nvSpPr>
        <p:spPr>
          <a:xfrm>
            <a:off x="7048500" y="2771775"/>
            <a:ext cx="4419600" cy="1809750"/>
          </a:xfrm>
          <a:prstGeom prst="rect">
            <a:avLst/>
          </a:prstGeom>
          <a:noFill/>
          <a:ln w="0">
            <a:noFill/>
            <a:prstDash val="solid"/>
          </a:ln>
        </p:spPr>
        <p:txBody>
          <a:bodyPr anchor="t"/>
          <a:lstStyle/>
          <a:p>
            <a:pPr algn="ctr">
              <a:defRPr sz="1800" b="0">
                <a:solidFill>
                  <a:srgbClr val="111827"/>
                </a:solidFill>
                <a:latin typeface="Arial"/>
                <a:ea typeface="Arial"/>
                <a:cs typeface="Arial"/>
              </a:defRPr>
            </a:pPr>
            <a:r>
              <a:rPr sz="1800" b="0">
                <a:solidFill>
                  <a:srgbClr val="111827"/>
                </a:solidFill>
                <a:latin typeface="Arial"/>
                <a:ea typeface="Arial"/>
                <a:cs typeface="Arial"/>
              </a:rPr>
              <a:t>Projection-matrix-aware ray lifting</a:t>
            </a:r>
          </a:p>
          <a:p>
            <a:endParaRPr sz="1800" b="0">
              <a:solidFill>
                <a:srgbClr val="111827"/>
              </a:solidFill>
              <a:latin typeface="Arial"/>
              <a:ea typeface="Arial"/>
              <a:cs typeface="Arial"/>
            </a:endParaRPr>
          </a:p>
          <a:p>
            <a:pPr algn="ctr">
              <a:defRPr sz="1800" b="0">
                <a:solidFill>
                  <a:srgbClr val="111827"/>
                </a:solidFill>
                <a:latin typeface="Arial"/>
                <a:ea typeface="Arial"/>
                <a:cs typeface="Arial"/>
              </a:defRPr>
            </a:pPr>
            <a:r>
              <a:rPr sz="1800" b="0">
                <a:solidFill>
                  <a:srgbClr val="111827"/>
                </a:solidFill>
                <a:latin typeface="Arial"/>
                <a:ea typeface="Arial"/>
                <a:cs typeface="Arial"/>
              </a:rPr>
              <a:t>or differentiable DRR reprojection loss</a:t>
            </a:r>
          </a:p>
          <a:p>
            <a:endParaRPr sz="1800" b="0">
              <a:solidFill>
                <a:srgbClr val="111827"/>
              </a:solidFill>
              <a:latin typeface="Arial"/>
              <a:ea typeface="Arial"/>
              <a:cs typeface="Arial"/>
            </a:endParaRPr>
          </a:p>
          <a:p>
            <a:pPr algn="ctr">
              <a:defRPr sz="1800" b="0">
                <a:solidFill>
                  <a:srgbClr val="111827"/>
                </a:solidFill>
                <a:latin typeface="Arial"/>
                <a:ea typeface="Arial"/>
                <a:cs typeface="Arial"/>
              </a:defRPr>
            </a:pPr>
            <a:r>
              <a:rPr sz="1800" b="0">
                <a:solidFill>
                  <a:srgbClr val="111827"/>
                </a:solidFill>
                <a:latin typeface="Arial"/>
                <a:ea typeface="Arial"/>
                <a:cs typeface="Arial"/>
              </a:rPr>
              <a:t>Keep encoder, decoder, cohort, folds and training fixed</a:t>
            </a:r>
          </a:p>
        </p:txBody>
      </p:sp>
      <p:sp>
        <p:nvSpPr>
          <p:cNvPr id="13" name="hypothesis">
            <a:extLst>
              <a:ext uri="{FF2B5EF4-FFF2-40B4-BE49-F238E27FC236}">
                <a16:creationId xmlns:a16="http://schemas.microsoft.com/office/drawing/2014/main" id="{B5CF4404-BB6E-4C37-8279-FD425CEC60B9}"/>
              </a:ext>
            </a:extLst>
          </p:cNvPr>
          <p:cNvSpPr>
            <a:spLocks noGrp="1"/>
          </p:cNvSpPr>
          <p:nvPr/>
        </p:nvSpPr>
        <p:spPr>
          <a:xfrm>
            <a:off x="1314450" y="5467350"/>
            <a:ext cx="9563100" cy="638175"/>
          </a:xfrm>
          <a:prstGeom prst="rect">
            <a:avLst/>
          </a:prstGeom>
          <a:noFill/>
          <a:ln w="0">
            <a:noFill/>
            <a:prstDash val="solid"/>
          </a:ln>
        </p:spPr>
        <p:txBody>
          <a:bodyPr anchor="t"/>
          <a:lstStyle/>
          <a:p>
            <a:pPr algn="ctr">
              <a:defRPr sz="1725" b="1">
                <a:solidFill>
                  <a:srgbClr val="B91C1C"/>
                </a:solidFill>
                <a:latin typeface="Arial"/>
                <a:ea typeface="Arial"/>
                <a:cs typeface="Arial"/>
              </a:defRPr>
            </a:pPr>
            <a:r>
              <a:rPr sz="1725" b="1">
                <a:solidFill>
                  <a:srgbClr val="B91C1C"/>
                </a:solidFill>
                <a:latin typeface="Arial"/>
                <a:ea typeface="Arial"/>
                <a:cs typeface="Arial"/>
              </a:rPr>
              <a:t>This is a supported hypothesis—not a demonstrated causal result—because no matched lift ablation was run.</a:t>
            </a:r>
          </a:p>
        </p:txBody>
      </p:sp>
    </p:spTree>
    <p:extLst>
      <p:ext uri="{BB962C8B-B14F-4D97-AF65-F5344CB8AC3E}">
        <p14:creationId xmlns:p14="http://schemas.microsoft.com/office/powerpoint/2010/main" val="1551019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8" name="close-kicker">
            <a:extLst>
              <a:ext uri="{FF2B5EF4-FFF2-40B4-BE49-F238E27FC236}">
                <a16:creationId xmlns:a16="http://schemas.microsoft.com/office/drawing/2014/main" id="{F663C092-3345-4887-BE48-1FF78B868871}"/>
              </a:ext>
            </a:extLst>
          </p:cNvPr>
          <p:cNvSpPr>
            <a:spLocks noGrp="1"/>
          </p:cNvSpPr>
          <p:nvPr/>
        </p:nvSpPr>
        <p:spPr>
          <a:xfrm>
            <a:off x="400050" y="333375"/>
            <a:ext cx="2286000" cy="285750"/>
          </a:xfrm>
          <a:prstGeom prst="rect">
            <a:avLst/>
          </a:prstGeom>
          <a:noFill/>
          <a:ln w="0">
            <a:noFill/>
            <a:prstDash val="solid"/>
          </a:ln>
        </p:spPr>
        <p:txBody>
          <a:bodyPr anchor="t"/>
          <a:lstStyle/>
          <a:p>
            <a:pPr algn="l">
              <a:defRPr sz="1275" b="1">
                <a:solidFill>
                  <a:srgbClr val="2563EB"/>
                </a:solidFill>
                <a:latin typeface="Arial"/>
                <a:ea typeface="Arial"/>
                <a:cs typeface="Arial"/>
              </a:defRPr>
            </a:pPr>
            <a:r>
              <a:rPr sz="1275" b="1">
                <a:solidFill>
                  <a:srgbClr val="2563EB"/>
                </a:solidFill>
                <a:latin typeface="Arial"/>
                <a:ea typeface="Arial"/>
                <a:cs typeface="Arial"/>
              </a:rPr>
              <a:t>CONCLUSION</a:t>
            </a:r>
          </a:p>
        </p:txBody>
      </p:sp>
      <p:sp>
        <p:nvSpPr>
          <p:cNvPr id="2" name="close-title">
            <a:extLst>
              <a:ext uri="{FF2B5EF4-FFF2-40B4-BE49-F238E27FC236}">
                <a16:creationId xmlns:a16="http://schemas.microsoft.com/office/drawing/2014/main" id="{F225DD32-BB65-4209-ABE8-FC69EC73B627}"/>
              </a:ext>
            </a:extLst>
          </p:cNvPr>
          <p:cNvSpPr>
            <a:spLocks noGrp="1"/>
          </p:cNvSpPr>
          <p:nvPr/>
        </p:nvSpPr>
        <p:spPr>
          <a:xfrm>
            <a:off x="400050" y="1219200"/>
            <a:ext cx="10668000" cy="1428750"/>
          </a:xfrm>
          <a:prstGeom prst="rect">
            <a:avLst/>
          </a:prstGeom>
          <a:noFill/>
          <a:ln w="0">
            <a:noFill/>
            <a:prstDash val="solid"/>
          </a:ln>
        </p:spPr>
        <p:txBody>
          <a:bodyPr anchor="t"/>
          <a:lstStyle/>
          <a:p>
            <a:pPr algn="l">
              <a:defRPr sz="4350" b="1">
                <a:solidFill>
                  <a:srgbClr val="111827"/>
                </a:solidFill>
                <a:latin typeface="Arial"/>
                <a:ea typeface="Arial"/>
                <a:cs typeface="Arial"/>
              </a:defRPr>
            </a:pPr>
            <a:r>
              <a:rPr sz="4350" b="1">
                <a:solidFill>
                  <a:srgbClr val="111827"/>
                </a:solidFill>
                <a:latin typeface="Arial"/>
                <a:ea typeface="Arial"/>
                <a:cs typeface="Arial"/>
              </a:rPr>
              <a:t>Residual topology matters more than activation choice</a:t>
            </a:r>
          </a:p>
        </p:txBody>
      </p:sp>
      <p:sp>
        <p:nvSpPr>
          <p:cNvPr id="3" name="close-sub">
            <a:extLst>
              <a:ext uri="{FF2B5EF4-FFF2-40B4-BE49-F238E27FC236}">
                <a16:creationId xmlns:a16="http://schemas.microsoft.com/office/drawing/2014/main" id="{F1FBCBA3-4FF4-4863-A49E-B621AE6B6009}"/>
              </a:ext>
            </a:extLst>
          </p:cNvPr>
          <p:cNvSpPr>
            <a:spLocks noGrp="1"/>
          </p:cNvSpPr>
          <p:nvPr/>
        </p:nvSpPr>
        <p:spPr>
          <a:xfrm>
            <a:off x="400050" y="2943225"/>
            <a:ext cx="10191750" cy="876300"/>
          </a:xfrm>
          <a:prstGeom prst="rect">
            <a:avLst/>
          </a:prstGeom>
          <a:noFill/>
          <a:ln w="0">
            <a:noFill/>
            <a:prstDash val="solid"/>
          </a:ln>
        </p:spPr>
        <p:txBody>
          <a:bodyPr anchor="t"/>
          <a:lstStyle/>
          <a:p>
            <a:pPr algn="l">
              <a:defRPr sz="2175" b="0">
                <a:solidFill>
                  <a:srgbClr val="5B6472"/>
                </a:solidFill>
                <a:latin typeface="Arial"/>
                <a:ea typeface="Arial"/>
                <a:cs typeface="Arial"/>
              </a:defRPr>
            </a:pPr>
            <a:r>
              <a:rPr sz="2175" b="0">
                <a:solidFill>
                  <a:srgbClr val="5B6472"/>
                </a:solidFill>
                <a:latin typeface="Arial"/>
                <a:ea typeface="Arial"/>
                <a:cs typeface="Arial"/>
              </a:rPr>
              <a:t>Residual-ReLU was the strongest tested condition—but the project establishes a controlled evaluation method, not clinical readiness.</a:t>
            </a:r>
          </a:p>
        </p:txBody>
      </p:sp>
      <p:cxnSp>
        <p:nvCxnSpPr>
          <p:cNvPr id="11" name="close-rule"/>
          <p:cNvCxnSpPr/>
          <p:nvPr/>
        </p:nvCxnSpPr>
        <p:spPr>
          <a:xfrm>
            <a:off x="400050" y="4238625"/>
            <a:ext cx="11391900" cy="0"/>
          </a:xfrm>
          <a:prstGeom prst="straightConnector1">
            <a:avLst/>
          </a:prstGeom>
          <a:ln w="9525">
            <a:solidFill>
              <a:srgbClr val="D9DEE7"/>
            </a:solidFill>
            <a:prstDash val="solid"/>
          </a:ln>
        </p:spPr>
      </p:cxnSp>
      <p:sp>
        <p:nvSpPr>
          <p:cNvPr id="5" name="close-next">
            <a:extLst>
              <a:ext uri="{FF2B5EF4-FFF2-40B4-BE49-F238E27FC236}">
                <a16:creationId xmlns:a16="http://schemas.microsoft.com/office/drawing/2014/main" id="{3ED81457-EE57-4896-B30D-A2EA941BE8C2}"/>
              </a:ext>
            </a:extLst>
          </p:cNvPr>
          <p:cNvSpPr>
            <a:spLocks noGrp="1"/>
          </p:cNvSpPr>
          <p:nvPr/>
        </p:nvSpPr>
        <p:spPr>
          <a:xfrm>
            <a:off x="400050" y="4676775"/>
            <a:ext cx="10906125" cy="723900"/>
          </a:xfrm>
          <a:prstGeom prst="rect">
            <a:avLst/>
          </a:prstGeom>
          <a:noFill/>
          <a:ln w="0">
            <a:noFill/>
            <a:prstDash val="solid"/>
          </a:ln>
        </p:spPr>
        <p:txBody>
          <a:bodyPr anchor="t"/>
          <a:lstStyle/>
          <a:p>
            <a:pPr algn="l">
              <a:defRPr sz="1800" b="1">
                <a:solidFill>
                  <a:srgbClr val="0F766E"/>
                </a:solidFill>
                <a:latin typeface="Arial"/>
                <a:ea typeface="Arial"/>
                <a:cs typeface="Arial"/>
              </a:defRPr>
            </a:pPr>
            <a:r>
              <a:rPr sz="1800" b="1">
                <a:solidFill>
                  <a:srgbClr val="0F766E"/>
                </a:solidFill>
                <a:latin typeface="Arial"/>
                <a:ea typeface="Arial"/>
                <a:cs typeface="Arial"/>
              </a:rPr>
              <a:t>Next: projection-aware lifting  ·  balanced fractured cohorts  ·  expert fracture evaluation  ·  real paired X-ray/CT validation</a:t>
            </a:r>
          </a:p>
        </p:txBody>
      </p:sp>
      <p:sp>
        <p:nvSpPr>
          <p:cNvPr id="6" name="close-boundary">
            <a:extLst>
              <a:ext uri="{FF2B5EF4-FFF2-40B4-BE49-F238E27FC236}">
                <a16:creationId xmlns:a16="http://schemas.microsoft.com/office/drawing/2014/main" id="{C5097AD5-8ACD-4837-8D08-F40157095E35}"/>
              </a:ext>
            </a:extLst>
          </p:cNvPr>
          <p:cNvSpPr>
            <a:spLocks noGrp="1"/>
          </p:cNvSpPr>
          <p:nvPr/>
        </p:nvSpPr>
        <p:spPr>
          <a:xfrm>
            <a:off x="400050" y="5657850"/>
            <a:ext cx="10906125" cy="647700"/>
          </a:xfrm>
          <a:prstGeom prst="rect">
            <a:avLst/>
          </a:prstGeom>
          <a:noFill/>
          <a:ln w="0">
            <a:noFill/>
            <a:prstDash val="solid"/>
          </a:ln>
        </p:spPr>
        <p:txBody>
          <a:bodyPr anchor="t"/>
          <a:lstStyle/>
          <a:p>
            <a:pPr algn="l">
              <a:defRPr sz="1650" b="0">
                <a:solidFill>
                  <a:srgbClr val="111827"/>
                </a:solidFill>
                <a:latin typeface="Arial"/>
                <a:ea typeface="Arial"/>
                <a:cs typeface="Arial"/>
              </a:defRPr>
            </a:pPr>
            <a:r>
              <a:rPr sz="1650" b="0">
                <a:solidFill>
                  <a:srgbClr val="111827"/>
                </a:solidFill>
                <a:latin typeface="Arial"/>
                <a:ea typeface="Arial"/>
                <a:cs typeface="Arial"/>
              </a:rPr>
              <a:t>Best defensible claim: residual decoding uses the available 3D features more effectively, while absolute and fracture-specific performance remain limited.</a:t>
            </a:r>
          </a:p>
        </p:txBody>
      </p:sp>
      <p:sp>
        <p:nvSpPr>
          <p:cNvPr id="7" name="page-17">
            <a:extLst>
              <a:ext uri="{FF2B5EF4-FFF2-40B4-BE49-F238E27FC236}">
                <a16:creationId xmlns:a16="http://schemas.microsoft.com/office/drawing/2014/main" id="{CAB1FF42-3067-4F10-809D-4EB7004E5786}"/>
              </a:ext>
            </a:extLst>
          </p:cNvPr>
          <p:cNvSpPr>
            <a:spLocks noGrp="1"/>
          </p:cNvSpPr>
          <p:nvPr/>
        </p:nvSpPr>
        <p:spPr>
          <a:xfrm>
            <a:off x="11239500" y="6400800"/>
            <a:ext cx="552450" cy="209550"/>
          </a:xfrm>
          <a:prstGeom prst="rect">
            <a:avLst/>
          </a:prstGeom>
          <a:noFill/>
          <a:ln w="0">
            <a:noFill/>
            <a:prstDash val="solid"/>
          </a:ln>
        </p:spPr>
        <p:txBody>
          <a:bodyPr anchor="t"/>
          <a:lstStyle/>
          <a:p>
            <a:pPr algn="r">
              <a:defRPr sz="1050" b="0">
                <a:solidFill>
                  <a:srgbClr val="5B6472"/>
                </a:solidFill>
                <a:latin typeface="Arial"/>
                <a:ea typeface="Arial"/>
                <a:cs typeface="Arial"/>
              </a:defRPr>
            </a:pPr>
            <a:r>
              <a:rPr sz="1050" b="0">
                <a:solidFill>
                  <a:srgbClr val="5B6472"/>
                </a:solidFill>
                <a:latin typeface="Arial"/>
                <a:ea typeface="Arial"/>
                <a:cs typeface="Arial"/>
              </a:rPr>
              <a:t>17</a:t>
            </a:r>
          </a:p>
        </p:txBody>
      </p:sp>
    </p:spTree>
    <p:extLst>
      <p:ext uri="{BB962C8B-B14F-4D97-AF65-F5344CB8AC3E}">
        <p14:creationId xmlns:p14="http://schemas.microsoft.com/office/powerpoint/2010/main" val="14531866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2759</Words>
  <Application>Microsoft Office PowerPoint</Application>
  <DocSecurity>0</DocSecurity>
  <PresentationFormat>Widescreen</PresentationFormat>
  <Paragraphs>367</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Chan Zheng Shao</cp:lastModifiedBy>
  <cp:revision>1</cp:revision>
  <dcterms:created xsi:type="dcterms:W3CDTF">2026-08-05T17:57:19Z</dcterms:created>
  <dcterms:modified xsi:type="dcterms:W3CDTF">2026-08-05T18:29:16Z</dcterms:modified>
</cp:coreProperties>
</file>